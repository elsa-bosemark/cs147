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Caveat"/>
      <p:regular r:id="rId71"/>
      <p:bold r:id="rId72"/>
    </p:embeddedFont>
    <p:embeddedFont>
      <p:font typeface="Lexend Mega"/>
      <p:regular r:id="rId73"/>
      <p:bold r:id="rId74"/>
    </p:embeddedFont>
    <p:embeddedFont>
      <p:font typeface="Bebas Neue"/>
      <p:regular r:id="rId75"/>
    </p:embeddedFont>
    <p:embeddedFont>
      <p:font typeface="Russo One"/>
      <p:regular r:id="rId76"/>
    </p:embeddedFont>
    <p:embeddedFont>
      <p:font typeface="Lexend Mega Light"/>
      <p:regular r:id="rId77"/>
      <p:bold r:id="rId78"/>
    </p:embeddedFont>
    <p:embeddedFont>
      <p:font typeface="Epilogue"/>
      <p:regular r:id="rId79"/>
      <p:bold r:id="rId80"/>
      <p:italic r:id="rId81"/>
      <p:boldItalic r:id="rId82"/>
    </p:embeddedFont>
    <p:embeddedFont>
      <p:font typeface="Lexend"/>
      <p:regular r:id="rId83"/>
      <p:bold r:id="rId84"/>
    </p:embeddedFont>
    <p:embeddedFont>
      <p:font typeface="PT Sans"/>
      <p:regular r:id="rId85"/>
      <p:bold r:id="rId86"/>
      <p:italic r:id="rId87"/>
      <p:boldItalic r:id="rId88"/>
    </p:embeddedFont>
    <p:embeddedFont>
      <p:font typeface="Lexend Mega Black"/>
      <p:bold r:id="rId89"/>
    </p:embeddedFont>
    <p:embeddedFont>
      <p:font typeface="Open Sans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Lexend-bold.fntdata"/><Relationship Id="rId83" Type="http://schemas.openxmlformats.org/officeDocument/2006/relationships/font" Target="fonts/Lexend-regular.fntdata"/><Relationship Id="rId42" Type="http://schemas.openxmlformats.org/officeDocument/2006/relationships/slide" Target="slides/slide37.xml"/><Relationship Id="rId86" Type="http://schemas.openxmlformats.org/officeDocument/2006/relationships/font" Target="fonts/PTSans-bold.fntdata"/><Relationship Id="rId41" Type="http://schemas.openxmlformats.org/officeDocument/2006/relationships/slide" Target="slides/slide36.xml"/><Relationship Id="rId85" Type="http://schemas.openxmlformats.org/officeDocument/2006/relationships/font" Target="fonts/PTSans-regular.fntdata"/><Relationship Id="rId44" Type="http://schemas.openxmlformats.org/officeDocument/2006/relationships/slide" Target="slides/slide39.xml"/><Relationship Id="rId88" Type="http://schemas.openxmlformats.org/officeDocument/2006/relationships/font" Target="fonts/PTSans-boldItalic.fntdata"/><Relationship Id="rId43" Type="http://schemas.openxmlformats.org/officeDocument/2006/relationships/slide" Target="slides/slide38.xml"/><Relationship Id="rId87" Type="http://schemas.openxmlformats.org/officeDocument/2006/relationships/font" Target="fonts/PTSans-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LexendMegaBlack-bold.fntdata"/><Relationship Id="rId80" Type="http://schemas.openxmlformats.org/officeDocument/2006/relationships/font" Target="fonts/Epilogue-bold.fntdata"/><Relationship Id="rId82" Type="http://schemas.openxmlformats.org/officeDocument/2006/relationships/font" Target="fonts/Epilogue-boldItalic.fntdata"/><Relationship Id="rId81" Type="http://schemas.openxmlformats.org/officeDocument/2006/relationships/font" Target="fonts/Epilogu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LexendMega-regular.fntdata"/><Relationship Id="rId72" Type="http://schemas.openxmlformats.org/officeDocument/2006/relationships/font" Target="fonts/Caveat-bold.fntdata"/><Relationship Id="rId31" Type="http://schemas.openxmlformats.org/officeDocument/2006/relationships/slide" Target="slides/slide26.xml"/><Relationship Id="rId75" Type="http://schemas.openxmlformats.org/officeDocument/2006/relationships/font" Target="fonts/BebasNeue-regular.fntdata"/><Relationship Id="rId30" Type="http://schemas.openxmlformats.org/officeDocument/2006/relationships/slide" Target="slides/slide25.xml"/><Relationship Id="rId74" Type="http://schemas.openxmlformats.org/officeDocument/2006/relationships/font" Target="fonts/LexendMega-bold.fntdata"/><Relationship Id="rId33" Type="http://schemas.openxmlformats.org/officeDocument/2006/relationships/slide" Target="slides/slide28.xml"/><Relationship Id="rId77" Type="http://schemas.openxmlformats.org/officeDocument/2006/relationships/font" Target="fonts/LexendMegaLight-regular.fntdata"/><Relationship Id="rId32" Type="http://schemas.openxmlformats.org/officeDocument/2006/relationships/slide" Target="slides/slide27.xml"/><Relationship Id="rId76" Type="http://schemas.openxmlformats.org/officeDocument/2006/relationships/font" Target="fonts/RussoOne-regular.fntdata"/><Relationship Id="rId35" Type="http://schemas.openxmlformats.org/officeDocument/2006/relationships/slide" Target="slides/slide30.xml"/><Relationship Id="rId79" Type="http://schemas.openxmlformats.org/officeDocument/2006/relationships/font" Target="fonts/Epilogue-regular.fntdata"/><Relationship Id="rId34" Type="http://schemas.openxmlformats.org/officeDocument/2006/relationships/slide" Target="slides/slide29.xml"/><Relationship Id="rId78" Type="http://schemas.openxmlformats.org/officeDocument/2006/relationships/font" Target="fonts/LexendMegaLight-bold.fntdata"/><Relationship Id="rId71" Type="http://schemas.openxmlformats.org/officeDocument/2006/relationships/font" Target="fonts/Caveat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OpenSans-bold.fntdata"/><Relationship Id="rId90" Type="http://schemas.openxmlformats.org/officeDocument/2006/relationships/font" Target="fonts/OpenSans-regular.fntdata"/><Relationship Id="rId93" Type="http://schemas.openxmlformats.org/officeDocument/2006/relationships/font" Target="fonts/OpenSans-boldItalic.fntdata"/><Relationship Id="rId92" Type="http://schemas.openxmlformats.org/officeDocument/2006/relationships/font" Target="fonts/OpenSans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37fff090f10e53e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h37fff090f10e53e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37fff090f10e53e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h37fff090f10e53e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6791bbe6c80235_19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6791bbe6c80235_19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curate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6791bbe6c80235_19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h6791bbe6c80235_19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curate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37fff090f10e53ef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h37fff090f10e53ef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37fff090f10e53ef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h37fff090f10e53ef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37fff090f10e53ef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h37fff090f10e53ef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37fff090f10e53ef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h37fff090f10e53ef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6791bbe6c80235_19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h6791bbe6c80235_19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1f8f28c010bb9a7a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h1f8f28c010bb9a7a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1f8f28c010bb9a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1f8f28c010bb9a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1f8f28c010bb9a7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h1f8f28c010bb9a7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h65fe1b55108e8fdf_1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h65fe1b55108e8fdf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h65fe1b55108e8fdf_1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h65fe1b55108e8fdf_1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codex_sketch_comparison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codex_sketch_compariso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6791bbe6c802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h6791bbe6c802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6791bbe6c8023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6791bbe6c8023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6791bbe6c80235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h6791bbe6c80235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6791bbe6c80235_6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h6791bbe6c80235_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6791bbe6c80235_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h6791bbe6c80235_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6791bbe6c80235_6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h6791bbe6c80235_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37fff090f10e53ef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h37fff090f10e53ef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6791bbe6c80235_19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h6791bbe6c80235_19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h37fff090f10e53ef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h37fff090f10e53ef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h37fff090f10e53ef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h37fff090f10e53ef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6791bbe6c8023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h6791bbe6c8023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37fff090f10e53ef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h37fff090f10e53ef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h37fff090f10e53ef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h37fff090f10e53ef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6791bbe6c8023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6791bbe6c8023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6791bbe6c8023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h6791bbe6c8023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h6791bbe6c8023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h6791bbe6c8023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6791bbe6c8023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h6791bbe6c8023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h65fe1b55108e8fdf_1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h65fe1b55108e8fdf_1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h6791bbe6c80235_19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h6791bbe6c80235_19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curate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h1f8f28c010bb9a7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h1f8f28c010bb9a7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curate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h65fe1b55108e8fdf_1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h65fe1b55108e8fdf_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</a:t>
            </a:r>
            <a:r>
              <a:rPr lang="en"/>
              <a:t>curate</a:t>
            </a:r>
            <a:r>
              <a:rPr lang="en"/>
              <a:t>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h1f8f28c010bb9a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h1f8f28c010bb9a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curate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h1f8f28c010bb9a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h1f8f28c010bb9a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curate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f8f28c010bb9a7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f8f28c010bb9a7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curate historical artworks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Create social group to do art groups together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h65fe1b55108e8fdf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h65fe1b55108e8fdf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h2b0832b5450b7f03_11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h2b0832b5450b7f03_11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h35d886b74f54f5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h35d886b74f54f5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h65fe1b55108e8fd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h65fe1b55108e8fd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h35d886b74f54f52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h35d886b74f54f5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h65fe1b55108e8fd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h65fe1b55108e8fd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h35d886b74f54f52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h35d886b74f54f52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h37fff090f10e53ef_0_1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h37fff090f10e53ef_0_1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35d886b74f54f5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35d886b74f54f5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h35d886b74f54f52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h35d886b74f54f52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h35d886b74f54f52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h35d886b74f54f52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h35d886b74f54f52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h35d886b74f54f52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h35d886b74f54f52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h35d886b74f54f52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35d886b74f54f52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35d886b74f54f52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h35d886b74f54f52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h35d886b74f54f52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h35d886b74f54f52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h35d886b74f54f52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h35d886b74f54f52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h35d886b74f54f52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h35d886b74f54f52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h35d886b74f54f52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h35d886b74f54f52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h35d886b74f54f52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h35d886b74f54f52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h35d886b74f54f52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h65fe1b55108e8fdf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h65fe1b55108e8fdf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6791bbe6c80235_1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h6791bbe6c80235_1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h6791bbe6c80235_19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h6791bbe6c80235_19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h65fe1b55108e8fd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h65fe1b55108e8fd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h6791bbe6c8023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h6791bbe6c8023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h6791bbe6c80235_19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h6791bbe6c80235_19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42416"/>
            <a:ext cx="70866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712464"/>
            <a:ext cx="2496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5376450" y="186925"/>
              <a:ext cx="3487225" cy="186900"/>
              <a:chOff x="5376450" y="186925"/>
              <a:chExt cx="3487225" cy="1869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209964" y="186925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576667" y="186925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7943369" y="18692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310072" y="186925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676775" y="18692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376450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743153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109856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6476558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843261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280375" y="4769500"/>
              <a:ext cx="3487225" cy="186900"/>
              <a:chOff x="280375" y="4769500"/>
              <a:chExt cx="3487225" cy="186900"/>
            </a:xfrm>
          </p:grpSpPr>
          <p:sp>
            <p:nvSpPr>
              <p:cNvPr id="24" name="Google Shape;24;p2"/>
              <p:cNvSpPr/>
              <p:nvPr/>
            </p:nvSpPr>
            <p:spPr>
              <a:xfrm flipH="1">
                <a:off x="1747186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flipH="1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flipH="1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flipH="1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flipH="1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flipH="1">
                <a:off x="2847294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flipH="1">
                <a:off x="2480592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flipH="1">
                <a:off x="2113889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>
            <p:ph type="title"/>
          </p:nvPr>
        </p:nvSpPr>
        <p:spPr>
          <a:xfrm>
            <a:off x="4176338" y="2301363"/>
            <a:ext cx="38781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3"/>
          <p:cNvSpPr txBox="1"/>
          <p:nvPr>
            <p:ph hasCustomPrompt="1" idx="2" type="title"/>
          </p:nvPr>
        </p:nvSpPr>
        <p:spPr>
          <a:xfrm>
            <a:off x="6524674" y="1325463"/>
            <a:ext cx="15297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3"/>
          <p:cNvSpPr/>
          <p:nvPr>
            <p:ph idx="3" type="pic"/>
          </p:nvPr>
        </p:nvSpPr>
        <p:spPr>
          <a:xfrm>
            <a:off x="1089550" y="539913"/>
            <a:ext cx="27606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8" name="Google Shape;38;p3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grpSp>
          <p:nvGrpSpPr>
            <p:cNvPr id="39" name="Google Shape;39;p3"/>
            <p:cNvGrpSpPr/>
            <p:nvPr/>
          </p:nvGrpSpPr>
          <p:grpSpPr>
            <a:xfrm flipH="1" rot="10800000">
              <a:off x="5376450" y="4769500"/>
              <a:ext cx="3487225" cy="186900"/>
              <a:chOff x="5376450" y="186925"/>
              <a:chExt cx="3487225" cy="186900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7209964" y="186925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7576667" y="186925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7943369" y="18692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8310072" y="186925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8676775" y="18692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5376450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5743153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6109856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6476558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6843261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 rot="10800000">
              <a:off x="280375" y="186925"/>
              <a:ext cx="3487225" cy="186900"/>
              <a:chOff x="280375" y="4769500"/>
              <a:chExt cx="3487225" cy="186900"/>
            </a:xfrm>
          </p:grpSpPr>
          <p:sp>
            <p:nvSpPr>
              <p:cNvPr id="51" name="Google Shape;51;p3"/>
              <p:cNvSpPr/>
              <p:nvPr/>
            </p:nvSpPr>
            <p:spPr>
              <a:xfrm flipH="1">
                <a:off x="1747186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 flipH="1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flipH="1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flipH="1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 flipH="1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flipH="1">
                <a:off x="2847294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 flipH="1">
                <a:off x="2480592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flipH="1">
                <a:off x="2113889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4" name="Google Shape;64;p4"/>
          <p:cNvGrpSpPr/>
          <p:nvPr/>
        </p:nvGrpSpPr>
        <p:grpSpPr>
          <a:xfrm rot="10800000"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 flipH="1">
              <a:off x="647400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83029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/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1" type="subTitle"/>
          </p:nvPr>
        </p:nvSpPr>
        <p:spPr>
          <a:xfrm>
            <a:off x="5075649" y="2650349"/>
            <a:ext cx="25056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5"/>
          <p:cNvSpPr txBox="1"/>
          <p:nvPr>
            <p:ph idx="2" type="subTitle"/>
          </p:nvPr>
        </p:nvSpPr>
        <p:spPr>
          <a:xfrm>
            <a:off x="1334375" y="2650349"/>
            <a:ext cx="25056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5"/>
          <p:cNvSpPr txBox="1"/>
          <p:nvPr>
            <p:ph idx="3" type="subTitle"/>
          </p:nvPr>
        </p:nvSpPr>
        <p:spPr>
          <a:xfrm>
            <a:off x="1334375" y="215289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4" type="subTitle"/>
          </p:nvPr>
        </p:nvSpPr>
        <p:spPr>
          <a:xfrm>
            <a:off x="5075650" y="2152890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grpSp>
        <p:nvGrpSpPr>
          <p:cNvPr id="77" name="Google Shape;77;p6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78" name="Google Shape;78;p6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>
            <p:ph type="title"/>
          </p:nvPr>
        </p:nvSpPr>
        <p:spPr>
          <a:xfrm>
            <a:off x="936638" y="1383750"/>
            <a:ext cx="3750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1" type="subTitle"/>
          </p:nvPr>
        </p:nvSpPr>
        <p:spPr>
          <a:xfrm>
            <a:off x="936638" y="1956450"/>
            <a:ext cx="3750300" cy="18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Epilogue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3" name="Google Shape;83;p7"/>
          <p:cNvSpPr/>
          <p:nvPr>
            <p:ph idx="2" type="pic"/>
          </p:nvPr>
        </p:nvSpPr>
        <p:spPr>
          <a:xfrm>
            <a:off x="5093776" y="540000"/>
            <a:ext cx="31137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4" name="Google Shape;84;p7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85" name="Google Shape;85;p7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 flipH="1">
              <a:off x="647400" y="186925"/>
              <a:ext cx="186900" cy="18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83029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1" name="Google Shape;91;p8"/>
          <p:cNvGrpSpPr/>
          <p:nvPr/>
        </p:nvGrpSpPr>
        <p:grpSpPr>
          <a:xfrm rot="10800000">
            <a:off x="280300" y="186475"/>
            <a:ext cx="8584028" cy="4769800"/>
            <a:chOff x="280300" y="186475"/>
            <a:chExt cx="8584028" cy="4769800"/>
          </a:xfrm>
        </p:grpSpPr>
        <p:grpSp>
          <p:nvGrpSpPr>
            <p:cNvPr id="92" name="Google Shape;92;p8"/>
            <p:cNvGrpSpPr/>
            <p:nvPr/>
          </p:nvGrpSpPr>
          <p:grpSpPr>
            <a:xfrm flipH="1">
              <a:off x="280300" y="186475"/>
              <a:ext cx="553603" cy="186900"/>
              <a:chOff x="3213997" y="4769500"/>
              <a:chExt cx="553603" cy="186900"/>
            </a:xfrm>
          </p:grpSpPr>
          <p:sp>
            <p:nvSpPr>
              <p:cNvPr id="93" name="Google Shape;93;p8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5" name="Google Shape;95;p8"/>
            <p:cNvGrpSpPr/>
            <p:nvPr/>
          </p:nvGrpSpPr>
          <p:grpSpPr>
            <a:xfrm>
              <a:off x="7556832" y="4769375"/>
              <a:ext cx="1307496" cy="186900"/>
              <a:chOff x="7556832" y="4769375"/>
              <a:chExt cx="1307496" cy="186900"/>
            </a:xfrm>
          </p:grpSpPr>
          <p:sp>
            <p:nvSpPr>
              <p:cNvPr id="96" name="Google Shape;96;p8"/>
              <p:cNvSpPr/>
              <p:nvPr/>
            </p:nvSpPr>
            <p:spPr>
              <a:xfrm>
                <a:off x="8310725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8677428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8" name="Google Shape;98;p8"/>
              <p:cNvSpPr/>
              <p:nvPr/>
            </p:nvSpPr>
            <p:spPr>
              <a:xfrm>
                <a:off x="7556832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7925697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03" name="Google Shape;103;p9"/>
          <p:cNvGrpSpPr/>
          <p:nvPr/>
        </p:nvGrpSpPr>
        <p:grpSpPr>
          <a:xfrm flipH="1" rot="10800000">
            <a:off x="280300" y="186475"/>
            <a:ext cx="8584028" cy="4769800"/>
            <a:chOff x="280300" y="186475"/>
            <a:chExt cx="8584028" cy="4769800"/>
          </a:xfrm>
        </p:grpSpPr>
        <p:grpSp>
          <p:nvGrpSpPr>
            <p:cNvPr id="104" name="Google Shape;104;p9"/>
            <p:cNvGrpSpPr/>
            <p:nvPr/>
          </p:nvGrpSpPr>
          <p:grpSpPr>
            <a:xfrm flipH="1">
              <a:off x="280300" y="186475"/>
              <a:ext cx="553603" cy="186900"/>
              <a:chOff x="3213997" y="4769500"/>
              <a:chExt cx="553603" cy="186900"/>
            </a:xfrm>
          </p:grpSpPr>
          <p:sp>
            <p:nvSpPr>
              <p:cNvPr id="105" name="Google Shape;105;p9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07" name="Google Shape;107;p9"/>
            <p:cNvGrpSpPr/>
            <p:nvPr/>
          </p:nvGrpSpPr>
          <p:grpSpPr>
            <a:xfrm>
              <a:off x="7556832" y="4769375"/>
              <a:ext cx="1307496" cy="186900"/>
              <a:chOff x="7556832" y="4769375"/>
              <a:chExt cx="1307496" cy="186900"/>
            </a:xfrm>
          </p:grpSpPr>
          <p:sp>
            <p:nvSpPr>
              <p:cNvPr id="108" name="Google Shape;108;p9"/>
              <p:cNvSpPr/>
              <p:nvPr/>
            </p:nvSpPr>
            <p:spPr>
              <a:xfrm>
                <a:off x="8310725" y="476937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9" name="Google Shape;109;p9"/>
              <p:cNvSpPr/>
              <p:nvPr/>
            </p:nvSpPr>
            <p:spPr>
              <a:xfrm>
                <a:off x="8677428" y="476937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0" name="Google Shape;110;p9"/>
              <p:cNvSpPr/>
              <p:nvPr/>
            </p:nvSpPr>
            <p:spPr>
              <a:xfrm>
                <a:off x="7556832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1" name="Google Shape;111;p9"/>
              <p:cNvSpPr/>
              <p:nvPr/>
            </p:nvSpPr>
            <p:spPr>
              <a:xfrm>
                <a:off x="7925697" y="4769375"/>
                <a:ext cx="186900" cy="186900"/>
              </a:xfrm>
              <a:prstGeom prst="ellipse">
                <a:avLst/>
              </a:pr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hasCustomPrompt="1" type="title"/>
          </p:nvPr>
        </p:nvSpPr>
        <p:spPr>
          <a:xfrm>
            <a:off x="713225" y="1795525"/>
            <a:ext cx="6693900" cy="10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6" name="Google Shape;116;p11"/>
          <p:cNvSpPr txBox="1"/>
          <p:nvPr>
            <p:ph idx="1" type="subTitle"/>
          </p:nvPr>
        </p:nvSpPr>
        <p:spPr>
          <a:xfrm>
            <a:off x="713225" y="2850875"/>
            <a:ext cx="6693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7" name="Google Shape;117;p11"/>
          <p:cNvGrpSpPr/>
          <p:nvPr/>
        </p:nvGrpSpPr>
        <p:grpSpPr>
          <a:xfrm flipH="1"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118" name="Google Shape;118;p11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647400" y="186925"/>
              <a:ext cx="186900" cy="18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8302975" y="4769500"/>
              <a:ext cx="186900" cy="18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hasCustomPrompt="1" idx="2" type="title"/>
          </p:nvPr>
        </p:nvSpPr>
        <p:spPr>
          <a:xfrm>
            <a:off x="713232" y="1557083"/>
            <a:ext cx="1079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hasCustomPrompt="1" idx="3" type="title"/>
          </p:nvPr>
        </p:nvSpPr>
        <p:spPr>
          <a:xfrm>
            <a:off x="713232" y="3142891"/>
            <a:ext cx="1079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hasCustomPrompt="1" idx="4" type="title"/>
          </p:nvPr>
        </p:nvSpPr>
        <p:spPr>
          <a:xfrm>
            <a:off x="3474720" y="1557083"/>
            <a:ext cx="1079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hasCustomPrompt="1" idx="5" type="title"/>
          </p:nvPr>
        </p:nvSpPr>
        <p:spPr>
          <a:xfrm>
            <a:off x="3474720" y="3142891"/>
            <a:ext cx="1079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/>
          <p:nvPr>
            <p:ph hasCustomPrompt="1" idx="6" type="title"/>
          </p:nvPr>
        </p:nvSpPr>
        <p:spPr>
          <a:xfrm>
            <a:off x="6227064" y="1557083"/>
            <a:ext cx="1079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/>
          <p:nvPr>
            <p:ph hasCustomPrompt="1" idx="7" type="title"/>
          </p:nvPr>
        </p:nvSpPr>
        <p:spPr>
          <a:xfrm>
            <a:off x="6227064" y="3142891"/>
            <a:ext cx="1079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/>
          <p:nvPr>
            <p:ph idx="1" type="subTitle"/>
          </p:nvPr>
        </p:nvSpPr>
        <p:spPr>
          <a:xfrm>
            <a:off x="713232" y="1928775"/>
            <a:ext cx="2194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8" type="subTitle"/>
          </p:nvPr>
        </p:nvSpPr>
        <p:spPr>
          <a:xfrm>
            <a:off x="3474720" y="1928775"/>
            <a:ext cx="2194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9" type="subTitle"/>
          </p:nvPr>
        </p:nvSpPr>
        <p:spPr>
          <a:xfrm>
            <a:off x="6227064" y="1928775"/>
            <a:ext cx="2194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3" type="subTitle"/>
          </p:nvPr>
        </p:nvSpPr>
        <p:spPr>
          <a:xfrm>
            <a:off x="713232" y="3514650"/>
            <a:ext cx="2194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4" type="subTitle"/>
          </p:nvPr>
        </p:nvSpPr>
        <p:spPr>
          <a:xfrm>
            <a:off x="3474720" y="3514650"/>
            <a:ext cx="2194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" name="Google Shape;136;p13"/>
          <p:cNvSpPr txBox="1"/>
          <p:nvPr>
            <p:ph idx="15" type="subTitle"/>
          </p:nvPr>
        </p:nvSpPr>
        <p:spPr>
          <a:xfrm>
            <a:off x="6227064" y="3514650"/>
            <a:ext cx="21945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37" name="Google Shape;137;p13"/>
          <p:cNvGrpSpPr/>
          <p:nvPr/>
        </p:nvGrpSpPr>
        <p:grpSpPr>
          <a:xfrm>
            <a:off x="280300" y="186475"/>
            <a:ext cx="8584028" cy="4769800"/>
            <a:chOff x="280300" y="186475"/>
            <a:chExt cx="8584028" cy="4769800"/>
          </a:xfrm>
        </p:grpSpPr>
        <p:grpSp>
          <p:nvGrpSpPr>
            <p:cNvPr id="138" name="Google Shape;138;p13"/>
            <p:cNvGrpSpPr/>
            <p:nvPr/>
          </p:nvGrpSpPr>
          <p:grpSpPr>
            <a:xfrm>
              <a:off x="280300" y="186475"/>
              <a:ext cx="1297219" cy="186900"/>
              <a:chOff x="280300" y="186475"/>
              <a:chExt cx="1297219" cy="186900"/>
            </a:xfrm>
          </p:grpSpPr>
          <p:grpSp>
            <p:nvGrpSpPr>
              <p:cNvPr id="139" name="Google Shape;139;p13"/>
              <p:cNvGrpSpPr/>
              <p:nvPr/>
            </p:nvGrpSpPr>
            <p:grpSpPr>
              <a:xfrm flipH="1">
                <a:off x="280300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140" name="Google Shape;140;p13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1" name="Google Shape;141;p13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42" name="Google Shape;142;p13"/>
              <p:cNvGrpSpPr/>
              <p:nvPr/>
            </p:nvGrpSpPr>
            <p:grpSpPr>
              <a:xfrm flipH="1">
                <a:off x="1023916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143" name="Google Shape;143;p13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44" name="Google Shape;144;p13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145" name="Google Shape;145;p13"/>
            <p:cNvGrpSpPr/>
            <p:nvPr/>
          </p:nvGrpSpPr>
          <p:grpSpPr>
            <a:xfrm>
              <a:off x="7556832" y="4769375"/>
              <a:ext cx="1307496" cy="186900"/>
              <a:chOff x="7556832" y="4769375"/>
              <a:chExt cx="1307496" cy="186900"/>
            </a:xfrm>
          </p:grpSpPr>
          <p:sp>
            <p:nvSpPr>
              <p:cNvPr id="146" name="Google Shape;146;p13"/>
              <p:cNvSpPr/>
              <p:nvPr/>
            </p:nvSpPr>
            <p:spPr>
              <a:xfrm>
                <a:off x="8310725" y="476937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8677428" y="476937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7556832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7925697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2273075" y="3134550"/>
            <a:ext cx="45978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2" name="Google Shape;152;p14"/>
          <p:cNvSpPr txBox="1"/>
          <p:nvPr>
            <p:ph idx="1" type="subTitle"/>
          </p:nvPr>
        </p:nvSpPr>
        <p:spPr>
          <a:xfrm>
            <a:off x="2273125" y="1477050"/>
            <a:ext cx="4597800" cy="16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53" name="Google Shape;153;p14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grpSp>
          <p:nvGrpSpPr>
            <p:cNvPr id="154" name="Google Shape;154;p14"/>
            <p:cNvGrpSpPr/>
            <p:nvPr/>
          </p:nvGrpSpPr>
          <p:grpSpPr>
            <a:xfrm>
              <a:off x="280375" y="4769500"/>
              <a:ext cx="1287008" cy="186900"/>
              <a:chOff x="280375" y="4769500"/>
              <a:chExt cx="1287008" cy="186900"/>
            </a:xfrm>
          </p:grpSpPr>
          <p:sp>
            <p:nvSpPr>
              <p:cNvPr id="155" name="Google Shape;155;p14"/>
              <p:cNvSpPr/>
              <p:nvPr/>
            </p:nvSpPr>
            <p:spPr>
              <a:xfrm rot="10800000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6" name="Google Shape;156;p14"/>
              <p:cNvSpPr/>
              <p:nvPr/>
            </p:nvSpPr>
            <p:spPr>
              <a:xfrm rot="10800000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 rot="10800000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 rot="10800000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59" name="Google Shape;159;p14"/>
            <p:cNvGrpSpPr/>
            <p:nvPr/>
          </p:nvGrpSpPr>
          <p:grpSpPr>
            <a:xfrm rot="10800000">
              <a:off x="5376450" y="186925"/>
              <a:ext cx="3487225" cy="186900"/>
              <a:chOff x="280375" y="4769500"/>
              <a:chExt cx="3487225" cy="186900"/>
            </a:xfrm>
          </p:grpSpPr>
          <p:sp>
            <p:nvSpPr>
              <p:cNvPr id="160" name="Google Shape;160;p14"/>
              <p:cNvSpPr/>
              <p:nvPr/>
            </p:nvSpPr>
            <p:spPr>
              <a:xfrm flipH="1">
                <a:off x="1747186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1" name="Google Shape;161;p14"/>
              <p:cNvSpPr/>
              <p:nvPr/>
            </p:nvSpPr>
            <p:spPr>
              <a:xfrm flipH="1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 flipH="1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 flipH="1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 flipH="1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" name="Google Shape;165;p14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" name="Google Shape;166;p14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7" name="Google Shape;167;p14"/>
              <p:cNvSpPr/>
              <p:nvPr/>
            </p:nvSpPr>
            <p:spPr>
              <a:xfrm flipH="1">
                <a:off x="2847294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8" name="Google Shape;168;p14"/>
              <p:cNvSpPr/>
              <p:nvPr/>
            </p:nvSpPr>
            <p:spPr>
              <a:xfrm flipH="1">
                <a:off x="2480592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 flipH="1">
                <a:off x="2113889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713225" y="539500"/>
            <a:ext cx="3915900" cy="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1" type="subTitle"/>
          </p:nvPr>
        </p:nvSpPr>
        <p:spPr>
          <a:xfrm>
            <a:off x="713225" y="995200"/>
            <a:ext cx="3915900" cy="6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15"/>
          <p:cNvSpPr/>
          <p:nvPr>
            <p:ph idx="2" type="pic"/>
          </p:nvPr>
        </p:nvSpPr>
        <p:spPr>
          <a:xfrm>
            <a:off x="5629675" y="547051"/>
            <a:ext cx="2801100" cy="40494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15"/>
          <p:cNvSpPr/>
          <p:nvPr>
            <p:ph idx="3" type="pic"/>
          </p:nvPr>
        </p:nvSpPr>
        <p:spPr>
          <a:xfrm>
            <a:off x="2352039" y="1943850"/>
            <a:ext cx="1505700" cy="26526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5"/>
          <p:cNvSpPr/>
          <p:nvPr>
            <p:ph idx="4" type="pic"/>
          </p:nvPr>
        </p:nvSpPr>
        <p:spPr>
          <a:xfrm>
            <a:off x="3990853" y="1943850"/>
            <a:ext cx="1505700" cy="26526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15"/>
          <p:cNvSpPr/>
          <p:nvPr>
            <p:ph idx="5" type="pic"/>
          </p:nvPr>
        </p:nvSpPr>
        <p:spPr>
          <a:xfrm>
            <a:off x="713225" y="1943850"/>
            <a:ext cx="1505700" cy="2652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77" name="Google Shape;177;p15"/>
          <p:cNvGrpSpPr/>
          <p:nvPr/>
        </p:nvGrpSpPr>
        <p:grpSpPr>
          <a:xfrm>
            <a:off x="280375" y="4766080"/>
            <a:ext cx="8583125" cy="186900"/>
            <a:chOff x="280375" y="186925"/>
            <a:chExt cx="8583125" cy="186900"/>
          </a:xfrm>
        </p:grpSpPr>
        <p:sp>
          <p:nvSpPr>
            <p:cNvPr id="178" name="Google Shape;178;p15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 flipH="1">
              <a:off x="8676600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722376" y="448056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722375" y="1151950"/>
            <a:ext cx="77085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83" name="Google Shape;183;p16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184" name="Google Shape;184;p16"/>
            <p:cNvSpPr/>
            <p:nvPr/>
          </p:nvSpPr>
          <p:spPr>
            <a:xfrm>
              <a:off x="86767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 flipH="1">
              <a:off x="2803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722376" y="448056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" type="subTitle"/>
          </p:nvPr>
        </p:nvSpPr>
        <p:spPr>
          <a:xfrm>
            <a:off x="722375" y="1152148"/>
            <a:ext cx="7708500" cy="3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89" name="Google Shape;189;p17"/>
          <p:cNvGrpSpPr/>
          <p:nvPr/>
        </p:nvGrpSpPr>
        <p:grpSpPr>
          <a:xfrm rot="10800000"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190" name="Google Shape;190;p17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8302975" y="4769500"/>
              <a:ext cx="186900" cy="186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720000" y="2651765"/>
            <a:ext cx="2268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18"/>
          <p:cNvSpPr txBox="1"/>
          <p:nvPr>
            <p:ph idx="2" type="subTitle"/>
          </p:nvPr>
        </p:nvSpPr>
        <p:spPr>
          <a:xfrm>
            <a:off x="3437848" y="2651765"/>
            <a:ext cx="2268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6155700" y="2651765"/>
            <a:ext cx="2268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18"/>
          <p:cNvSpPr txBox="1"/>
          <p:nvPr>
            <p:ph idx="4" type="subTitle"/>
          </p:nvPr>
        </p:nvSpPr>
        <p:spPr>
          <a:xfrm>
            <a:off x="720000" y="2148850"/>
            <a:ext cx="2268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437852" y="2148850"/>
            <a:ext cx="2268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subTitle"/>
          </p:nvPr>
        </p:nvSpPr>
        <p:spPr>
          <a:xfrm>
            <a:off x="6155700" y="2148850"/>
            <a:ext cx="2268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1" name="Google Shape;201;p18"/>
          <p:cNvGrpSpPr/>
          <p:nvPr/>
        </p:nvGrpSpPr>
        <p:grpSpPr>
          <a:xfrm>
            <a:off x="280375" y="186925"/>
            <a:ext cx="8583125" cy="186900"/>
            <a:chOff x="280375" y="186925"/>
            <a:chExt cx="8583125" cy="186900"/>
          </a:xfrm>
        </p:grpSpPr>
        <p:sp>
          <p:nvSpPr>
            <p:cNvPr id="202" name="Google Shape;202;p18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 flipH="1">
              <a:off x="8676600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06" name="Google Shape;206;p19"/>
          <p:cNvSpPr txBox="1"/>
          <p:nvPr>
            <p:ph idx="1" type="subTitle"/>
          </p:nvPr>
        </p:nvSpPr>
        <p:spPr>
          <a:xfrm>
            <a:off x="1481825" y="1672700"/>
            <a:ext cx="29754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9"/>
          <p:cNvSpPr txBox="1"/>
          <p:nvPr>
            <p:ph idx="2" type="subTitle"/>
          </p:nvPr>
        </p:nvSpPr>
        <p:spPr>
          <a:xfrm>
            <a:off x="5460778" y="1672700"/>
            <a:ext cx="29754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19"/>
          <p:cNvSpPr txBox="1"/>
          <p:nvPr>
            <p:ph idx="3" type="subTitle"/>
          </p:nvPr>
        </p:nvSpPr>
        <p:spPr>
          <a:xfrm>
            <a:off x="1481825" y="3561875"/>
            <a:ext cx="29754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19"/>
          <p:cNvSpPr txBox="1"/>
          <p:nvPr>
            <p:ph idx="4" type="subTitle"/>
          </p:nvPr>
        </p:nvSpPr>
        <p:spPr>
          <a:xfrm>
            <a:off x="5460778" y="3561875"/>
            <a:ext cx="29754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5" type="subTitle"/>
          </p:nvPr>
        </p:nvSpPr>
        <p:spPr>
          <a:xfrm>
            <a:off x="1481825" y="1379350"/>
            <a:ext cx="2975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1" name="Google Shape;211;p19"/>
          <p:cNvSpPr txBox="1"/>
          <p:nvPr>
            <p:ph idx="6" type="subTitle"/>
          </p:nvPr>
        </p:nvSpPr>
        <p:spPr>
          <a:xfrm>
            <a:off x="1481825" y="3268600"/>
            <a:ext cx="2975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2" name="Google Shape;212;p19"/>
          <p:cNvSpPr txBox="1"/>
          <p:nvPr>
            <p:ph idx="7" type="subTitle"/>
          </p:nvPr>
        </p:nvSpPr>
        <p:spPr>
          <a:xfrm>
            <a:off x="5460750" y="1379350"/>
            <a:ext cx="2975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" name="Google Shape;213;p19"/>
          <p:cNvSpPr txBox="1"/>
          <p:nvPr>
            <p:ph idx="8" type="subTitle"/>
          </p:nvPr>
        </p:nvSpPr>
        <p:spPr>
          <a:xfrm>
            <a:off x="5460750" y="3268600"/>
            <a:ext cx="2975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14" name="Google Shape;214;p19"/>
          <p:cNvGrpSpPr/>
          <p:nvPr/>
        </p:nvGrpSpPr>
        <p:grpSpPr>
          <a:xfrm flipH="1">
            <a:off x="280300" y="186475"/>
            <a:ext cx="8584028" cy="4769800"/>
            <a:chOff x="280300" y="186475"/>
            <a:chExt cx="8584028" cy="4769800"/>
          </a:xfrm>
        </p:grpSpPr>
        <p:grpSp>
          <p:nvGrpSpPr>
            <p:cNvPr id="215" name="Google Shape;215;p19"/>
            <p:cNvGrpSpPr/>
            <p:nvPr/>
          </p:nvGrpSpPr>
          <p:grpSpPr>
            <a:xfrm>
              <a:off x="280300" y="186475"/>
              <a:ext cx="1297219" cy="186900"/>
              <a:chOff x="280300" y="186475"/>
              <a:chExt cx="1297219" cy="186900"/>
            </a:xfrm>
          </p:grpSpPr>
          <p:grpSp>
            <p:nvGrpSpPr>
              <p:cNvPr id="216" name="Google Shape;216;p19"/>
              <p:cNvGrpSpPr/>
              <p:nvPr/>
            </p:nvGrpSpPr>
            <p:grpSpPr>
              <a:xfrm flipH="1">
                <a:off x="280300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217" name="Google Shape;217;p19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18" name="Google Shape;218;p19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19" name="Google Shape;219;p19"/>
              <p:cNvGrpSpPr/>
              <p:nvPr/>
            </p:nvGrpSpPr>
            <p:grpSpPr>
              <a:xfrm flipH="1">
                <a:off x="1023916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220" name="Google Shape;220;p19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21" name="Google Shape;221;p19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222" name="Google Shape;222;p19"/>
            <p:cNvGrpSpPr/>
            <p:nvPr/>
          </p:nvGrpSpPr>
          <p:grpSpPr>
            <a:xfrm>
              <a:off x="7556832" y="4769375"/>
              <a:ext cx="1307496" cy="186900"/>
              <a:chOff x="7556832" y="4769375"/>
              <a:chExt cx="1307496" cy="186900"/>
            </a:xfrm>
          </p:grpSpPr>
          <p:sp>
            <p:nvSpPr>
              <p:cNvPr id="223" name="Google Shape;223;p19"/>
              <p:cNvSpPr/>
              <p:nvPr/>
            </p:nvSpPr>
            <p:spPr>
              <a:xfrm>
                <a:off x="8310725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>
                <a:off x="8677428" y="476937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>
                <a:off x="7556832" y="476937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7925697" y="4769375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29" name="Google Shape;229;p20"/>
          <p:cNvSpPr txBox="1"/>
          <p:nvPr>
            <p:ph idx="1" type="subTitle"/>
          </p:nvPr>
        </p:nvSpPr>
        <p:spPr>
          <a:xfrm>
            <a:off x="720000" y="1633972"/>
            <a:ext cx="2059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0"/>
          <p:cNvSpPr txBox="1"/>
          <p:nvPr>
            <p:ph idx="2" type="subTitle"/>
          </p:nvPr>
        </p:nvSpPr>
        <p:spPr>
          <a:xfrm>
            <a:off x="3579000" y="1633972"/>
            <a:ext cx="2059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20"/>
          <p:cNvSpPr txBox="1"/>
          <p:nvPr>
            <p:ph idx="3" type="subTitle"/>
          </p:nvPr>
        </p:nvSpPr>
        <p:spPr>
          <a:xfrm>
            <a:off x="720000" y="3516654"/>
            <a:ext cx="2059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20"/>
          <p:cNvSpPr txBox="1"/>
          <p:nvPr>
            <p:ph idx="4" type="subTitle"/>
          </p:nvPr>
        </p:nvSpPr>
        <p:spPr>
          <a:xfrm>
            <a:off x="3579000" y="3516654"/>
            <a:ext cx="2059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20"/>
          <p:cNvSpPr txBox="1"/>
          <p:nvPr>
            <p:ph idx="5" type="subTitle"/>
          </p:nvPr>
        </p:nvSpPr>
        <p:spPr>
          <a:xfrm>
            <a:off x="6364800" y="1633972"/>
            <a:ext cx="2059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20"/>
          <p:cNvSpPr txBox="1"/>
          <p:nvPr>
            <p:ph idx="6" type="subTitle"/>
          </p:nvPr>
        </p:nvSpPr>
        <p:spPr>
          <a:xfrm>
            <a:off x="6364800" y="3516654"/>
            <a:ext cx="2059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20"/>
          <p:cNvSpPr txBox="1"/>
          <p:nvPr>
            <p:ph idx="7" type="subTitle"/>
          </p:nvPr>
        </p:nvSpPr>
        <p:spPr>
          <a:xfrm>
            <a:off x="720000" y="1336275"/>
            <a:ext cx="205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8" type="subTitle"/>
          </p:nvPr>
        </p:nvSpPr>
        <p:spPr>
          <a:xfrm>
            <a:off x="3579000" y="1336275"/>
            <a:ext cx="2057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9" type="subTitle"/>
          </p:nvPr>
        </p:nvSpPr>
        <p:spPr>
          <a:xfrm>
            <a:off x="6366666" y="1336275"/>
            <a:ext cx="205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13" type="subTitle"/>
          </p:nvPr>
        </p:nvSpPr>
        <p:spPr>
          <a:xfrm>
            <a:off x="720000" y="3215756"/>
            <a:ext cx="205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14" type="subTitle"/>
          </p:nvPr>
        </p:nvSpPr>
        <p:spPr>
          <a:xfrm>
            <a:off x="3579000" y="3215756"/>
            <a:ext cx="2057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15" type="subTitle"/>
          </p:nvPr>
        </p:nvSpPr>
        <p:spPr>
          <a:xfrm>
            <a:off x="6366666" y="3215756"/>
            <a:ext cx="205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41" name="Google Shape;241;p20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242" name="Google Shape;242;p20"/>
            <p:cNvSpPr/>
            <p:nvPr/>
          </p:nvSpPr>
          <p:spPr>
            <a:xfrm flipH="1">
              <a:off x="2803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86767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hasCustomPrompt="1" type="title"/>
          </p:nvPr>
        </p:nvSpPr>
        <p:spPr>
          <a:xfrm>
            <a:off x="2231252" y="2074357"/>
            <a:ext cx="4681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2231252" y="2843255"/>
            <a:ext cx="4681500" cy="4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7" name="Google Shape;247;p21"/>
          <p:cNvSpPr txBox="1"/>
          <p:nvPr>
            <p:ph hasCustomPrompt="1" idx="2" type="title"/>
          </p:nvPr>
        </p:nvSpPr>
        <p:spPr>
          <a:xfrm>
            <a:off x="2231237" y="727550"/>
            <a:ext cx="4681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8" name="Google Shape;248;p21"/>
          <p:cNvSpPr txBox="1"/>
          <p:nvPr>
            <p:ph idx="3" type="subTitle"/>
          </p:nvPr>
        </p:nvSpPr>
        <p:spPr>
          <a:xfrm>
            <a:off x="2231237" y="1496459"/>
            <a:ext cx="4681500" cy="4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hasCustomPrompt="1" idx="4" type="title"/>
          </p:nvPr>
        </p:nvSpPr>
        <p:spPr>
          <a:xfrm>
            <a:off x="2231237" y="3422333"/>
            <a:ext cx="4681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6"/>
                </a:solidFill>
                <a:latin typeface="Lexend Mega Light"/>
                <a:ea typeface="Lexend Mega Light"/>
                <a:cs typeface="Lexend Mega Light"/>
                <a:sym typeface="Lexend Mega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0" name="Google Shape;250;p21"/>
          <p:cNvSpPr txBox="1"/>
          <p:nvPr>
            <p:ph idx="5" type="subTitle"/>
          </p:nvPr>
        </p:nvSpPr>
        <p:spPr>
          <a:xfrm>
            <a:off x="2231237" y="4191230"/>
            <a:ext cx="4681500" cy="4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grpSp>
        <p:nvGrpSpPr>
          <p:cNvPr id="255" name="Google Shape;255;p23"/>
          <p:cNvGrpSpPr/>
          <p:nvPr/>
        </p:nvGrpSpPr>
        <p:grpSpPr>
          <a:xfrm>
            <a:off x="280375" y="186925"/>
            <a:ext cx="8583300" cy="4769475"/>
            <a:chOff x="280375" y="186925"/>
            <a:chExt cx="8583300" cy="4769475"/>
          </a:xfrm>
        </p:grpSpPr>
        <p:sp>
          <p:nvSpPr>
            <p:cNvPr id="256" name="Google Shape;256;p23"/>
            <p:cNvSpPr/>
            <p:nvPr/>
          </p:nvSpPr>
          <p:spPr>
            <a:xfrm>
              <a:off x="8676775" y="186925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7" name="Google Shape;257;p23"/>
            <p:cNvSpPr/>
            <p:nvPr/>
          </p:nvSpPr>
          <p:spPr>
            <a:xfrm flipH="1">
              <a:off x="280375" y="4769500"/>
              <a:ext cx="186900" cy="186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/>
          <p:nvPr>
            <p:ph type="title"/>
          </p:nvPr>
        </p:nvSpPr>
        <p:spPr>
          <a:xfrm>
            <a:off x="621850" y="623850"/>
            <a:ext cx="48984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60" name="Google Shape;260;p24"/>
          <p:cNvSpPr txBox="1"/>
          <p:nvPr>
            <p:ph idx="1" type="subTitle"/>
          </p:nvPr>
        </p:nvSpPr>
        <p:spPr>
          <a:xfrm>
            <a:off x="847000" y="1714199"/>
            <a:ext cx="44481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24"/>
          <p:cNvSpPr txBox="1"/>
          <p:nvPr/>
        </p:nvSpPr>
        <p:spPr>
          <a:xfrm>
            <a:off x="847000" y="3514950"/>
            <a:ext cx="5320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</a:t>
            </a:r>
            <a:r>
              <a:rPr lang="en"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Epilogue"/>
                <a:ea typeface="Epilogue"/>
                <a:cs typeface="Epilogue"/>
                <a:sym typeface="Epilogue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b="1" sz="12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262" name="Google Shape;262;p24"/>
          <p:cNvGrpSpPr/>
          <p:nvPr/>
        </p:nvGrpSpPr>
        <p:grpSpPr>
          <a:xfrm flipH="1" rot="10800000">
            <a:off x="280375" y="186925"/>
            <a:ext cx="8583300" cy="4769475"/>
            <a:chOff x="280375" y="186925"/>
            <a:chExt cx="8583300" cy="4769475"/>
          </a:xfrm>
        </p:grpSpPr>
        <p:grpSp>
          <p:nvGrpSpPr>
            <p:cNvPr id="263" name="Google Shape;263;p24"/>
            <p:cNvGrpSpPr/>
            <p:nvPr/>
          </p:nvGrpSpPr>
          <p:grpSpPr>
            <a:xfrm>
              <a:off x="280375" y="4769500"/>
              <a:ext cx="1287008" cy="186900"/>
              <a:chOff x="280375" y="4769500"/>
              <a:chExt cx="1287008" cy="186900"/>
            </a:xfrm>
          </p:grpSpPr>
          <p:sp>
            <p:nvSpPr>
              <p:cNvPr id="264" name="Google Shape;264;p24"/>
              <p:cNvSpPr/>
              <p:nvPr/>
            </p:nvSpPr>
            <p:spPr>
              <a:xfrm rot="10800000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 rot="10800000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 rot="10800000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7" name="Google Shape;267;p24"/>
              <p:cNvSpPr/>
              <p:nvPr/>
            </p:nvSpPr>
            <p:spPr>
              <a:xfrm rot="10800000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68" name="Google Shape;268;p24"/>
            <p:cNvGrpSpPr/>
            <p:nvPr/>
          </p:nvGrpSpPr>
          <p:grpSpPr>
            <a:xfrm rot="10800000">
              <a:off x="5376450" y="186925"/>
              <a:ext cx="3487225" cy="186900"/>
              <a:chOff x="280375" y="4769500"/>
              <a:chExt cx="3487225" cy="186900"/>
            </a:xfrm>
          </p:grpSpPr>
          <p:sp>
            <p:nvSpPr>
              <p:cNvPr id="269" name="Google Shape;269;p24"/>
              <p:cNvSpPr/>
              <p:nvPr/>
            </p:nvSpPr>
            <p:spPr>
              <a:xfrm flipH="1">
                <a:off x="1747186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0" name="Google Shape;270;p24"/>
              <p:cNvSpPr/>
              <p:nvPr/>
            </p:nvSpPr>
            <p:spPr>
              <a:xfrm flipH="1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 flipH="1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2" name="Google Shape;272;p24"/>
              <p:cNvSpPr/>
              <p:nvPr/>
            </p:nvSpPr>
            <p:spPr>
              <a:xfrm flipH="1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3" name="Google Shape;273;p24"/>
              <p:cNvSpPr/>
              <p:nvPr/>
            </p:nvSpPr>
            <p:spPr>
              <a:xfrm flipH="1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5" name="Google Shape;275;p24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 flipH="1">
                <a:off x="2847294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7" name="Google Shape;277;p24"/>
              <p:cNvSpPr/>
              <p:nvPr/>
            </p:nvSpPr>
            <p:spPr>
              <a:xfrm flipH="1">
                <a:off x="2480592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8" name="Google Shape;278;p24"/>
              <p:cNvSpPr/>
              <p:nvPr/>
            </p:nvSpPr>
            <p:spPr>
              <a:xfrm flipH="1">
                <a:off x="2113889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5"/>
          <p:cNvGrpSpPr/>
          <p:nvPr/>
        </p:nvGrpSpPr>
        <p:grpSpPr>
          <a:xfrm>
            <a:off x="2828413" y="186925"/>
            <a:ext cx="3487225" cy="4769475"/>
            <a:chOff x="2828413" y="186925"/>
            <a:chExt cx="3487225" cy="4769475"/>
          </a:xfrm>
        </p:grpSpPr>
        <p:grpSp>
          <p:nvGrpSpPr>
            <p:cNvPr id="281" name="Google Shape;281;p25"/>
            <p:cNvGrpSpPr/>
            <p:nvPr/>
          </p:nvGrpSpPr>
          <p:grpSpPr>
            <a:xfrm>
              <a:off x="2828413" y="186925"/>
              <a:ext cx="3487225" cy="186900"/>
              <a:chOff x="5376450" y="186925"/>
              <a:chExt cx="3487225" cy="186900"/>
            </a:xfrm>
          </p:grpSpPr>
          <p:sp>
            <p:nvSpPr>
              <p:cNvPr id="282" name="Google Shape;282;p25"/>
              <p:cNvSpPr/>
              <p:nvPr/>
            </p:nvSpPr>
            <p:spPr>
              <a:xfrm>
                <a:off x="7209964" y="186925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3" name="Google Shape;283;p25"/>
              <p:cNvSpPr/>
              <p:nvPr/>
            </p:nvSpPr>
            <p:spPr>
              <a:xfrm>
                <a:off x="7576667" y="186925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4" name="Google Shape;284;p25"/>
              <p:cNvSpPr/>
              <p:nvPr/>
            </p:nvSpPr>
            <p:spPr>
              <a:xfrm>
                <a:off x="7943369" y="186925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5" name="Google Shape;285;p25"/>
              <p:cNvSpPr/>
              <p:nvPr/>
            </p:nvSpPr>
            <p:spPr>
              <a:xfrm>
                <a:off x="8310072" y="186925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6" name="Google Shape;286;p25"/>
              <p:cNvSpPr/>
              <p:nvPr/>
            </p:nvSpPr>
            <p:spPr>
              <a:xfrm>
                <a:off x="8676775" y="186925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7" name="Google Shape;287;p25"/>
              <p:cNvSpPr/>
              <p:nvPr/>
            </p:nvSpPr>
            <p:spPr>
              <a:xfrm>
                <a:off x="5376450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5743153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9" name="Google Shape;289;p25"/>
              <p:cNvSpPr/>
              <p:nvPr/>
            </p:nvSpPr>
            <p:spPr>
              <a:xfrm>
                <a:off x="6109856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0" name="Google Shape;290;p25"/>
              <p:cNvSpPr/>
              <p:nvPr/>
            </p:nvSpPr>
            <p:spPr>
              <a:xfrm>
                <a:off x="6476558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1" name="Google Shape;291;p25"/>
              <p:cNvSpPr/>
              <p:nvPr/>
            </p:nvSpPr>
            <p:spPr>
              <a:xfrm>
                <a:off x="6843261" y="186925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92" name="Google Shape;292;p25"/>
            <p:cNvGrpSpPr/>
            <p:nvPr/>
          </p:nvGrpSpPr>
          <p:grpSpPr>
            <a:xfrm>
              <a:off x="2828413" y="4769500"/>
              <a:ext cx="3487225" cy="186900"/>
              <a:chOff x="280375" y="4769500"/>
              <a:chExt cx="3487225" cy="186900"/>
            </a:xfrm>
          </p:grpSpPr>
          <p:sp>
            <p:nvSpPr>
              <p:cNvPr id="293" name="Google Shape;293;p25"/>
              <p:cNvSpPr/>
              <p:nvPr/>
            </p:nvSpPr>
            <p:spPr>
              <a:xfrm flipH="1">
                <a:off x="1747186" y="4769500"/>
                <a:ext cx="186900" cy="186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 flipH="1">
                <a:off x="1380483" y="4769500"/>
                <a:ext cx="186900" cy="186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5" name="Google Shape;295;p25"/>
              <p:cNvSpPr/>
              <p:nvPr/>
            </p:nvSpPr>
            <p:spPr>
              <a:xfrm flipH="1">
                <a:off x="1013781" y="4769500"/>
                <a:ext cx="186900" cy="18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6" name="Google Shape;296;p25"/>
              <p:cNvSpPr/>
              <p:nvPr/>
            </p:nvSpPr>
            <p:spPr>
              <a:xfrm flipH="1">
                <a:off x="647078" y="4769500"/>
                <a:ext cx="186900" cy="18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7" name="Google Shape;297;p25"/>
              <p:cNvSpPr/>
              <p:nvPr/>
            </p:nvSpPr>
            <p:spPr>
              <a:xfrm flipH="1">
                <a:off x="280375" y="4769500"/>
                <a:ext cx="186900" cy="186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8" name="Google Shape;298;p25"/>
              <p:cNvSpPr/>
              <p:nvPr/>
            </p:nvSpPr>
            <p:spPr>
              <a:xfrm flipH="1">
                <a:off x="3580700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9" name="Google Shape;299;p25"/>
              <p:cNvSpPr/>
              <p:nvPr/>
            </p:nvSpPr>
            <p:spPr>
              <a:xfrm flipH="1">
                <a:off x="3213997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0" name="Google Shape;300;p25"/>
              <p:cNvSpPr/>
              <p:nvPr/>
            </p:nvSpPr>
            <p:spPr>
              <a:xfrm flipH="1">
                <a:off x="2847294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1" name="Google Shape;301;p25"/>
              <p:cNvSpPr/>
              <p:nvPr/>
            </p:nvSpPr>
            <p:spPr>
              <a:xfrm flipH="1">
                <a:off x="2480592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2" name="Google Shape;302;p25"/>
              <p:cNvSpPr/>
              <p:nvPr/>
            </p:nvSpPr>
            <p:spPr>
              <a:xfrm flipH="1">
                <a:off x="2113889" y="4769500"/>
                <a:ext cx="186900" cy="186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6"/>
          <p:cNvGrpSpPr/>
          <p:nvPr/>
        </p:nvGrpSpPr>
        <p:grpSpPr>
          <a:xfrm>
            <a:off x="280300" y="186472"/>
            <a:ext cx="8584025" cy="4769794"/>
            <a:chOff x="280300" y="186472"/>
            <a:chExt cx="8584025" cy="4769794"/>
          </a:xfrm>
        </p:grpSpPr>
        <p:grpSp>
          <p:nvGrpSpPr>
            <p:cNvPr id="305" name="Google Shape;305;p26"/>
            <p:cNvGrpSpPr/>
            <p:nvPr/>
          </p:nvGrpSpPr>
          <p:grpSpPr>
            <a:xfrm rot="-5400000">
              <a:off x="8122265" y="741631"/>
              <a:ext cx="1297219" cy="186900"/>
              <a:chOff x="280300" y="186475"/>
              <a:chExt cx="1297219" cy="186900"/>
            </a:xfrm>
          </p:grpSpPr>
          <p:grpSp>
            <p:nvGrpSpPr>
              <p:cNvPr id="306" name="Google Shape;306;p26"/>
              <p:cNvGrpSpPr/>
              <p:nvPr/>
            </p:nvGrpSpPr>
            <p:grpSpPr>
              <a:xfrm flipH="1">
                <a:off x="280300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07" name="Google Shape;307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8" name="Google Shape;308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09" name="Google Shape;309;p26"/>
              <p:cNvGrpSpPr/>
              <p:nvPr/>
            </p:nvGrpSpPr>
            <p:grpSpPr>
              <a:xfrm flipH="1">
                <a:off x="1023916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10" name="Google Shape;310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1" name="Google Shape;311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312" name="Google Shape;312;p26"/>
            <p:cNvGrpSpPr/>
            <p:nvPr/>
          </p:nvGrpSpPr>
          <p:grpSpPr>
            <a:xfrm flipH="1" rot="-5400000">
              <a:off x="-274860" y="4214206"/>
              <a:ext cx="1297219" cy="186900"/>
              <a:chOff x="280300" y="186475"/>
              <a:chExt cx="1297219" cy="186900"/>
            </a:xfrm>
          </p:grpSpPr>
          <p:grpSp>
            <p:nvGrpSpPr>
              <p:cNvPr id="313" name="Google Shape;313;p26"/>
              <p:cNvGrpSpPr/>
              <p:nvPr/>
            </p:nvGrpSpPr>
            <p:grpSpPr>
              <a:xfrm flipH="1">
                <a:off x="280300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14" name="Google Shape;314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5" name="Google Shape;315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16" name="Google Shape;316;p26"/>
              <p:cNvGrpSpPr/>
              <p:nvPr/>
            </p:nvGrpSpPr>
            <p:grpSpPr>
              <a:xfrm flipH="1">
                <a:off x="1023916" y="186475"/>
                <a:ext cx="553603" cy="186900"/>
                <a:chOff x="3213997" y="4769500"/>
                <a:chExt cx="553603" cy="186900"/>
              </a:xfrm>
            </p:grpSpPr>
            <p:sp>
              <p:nvSpPr>
                <p:cNvPr id="317" name="Google Shape;317;p26"/>
                <p:cNvSpPr/>
                <p:nvPr/>
              </p:nvSpPr>
              <p:spPr>
                <a:xfrm flipH="1">
                  <a:off x="3580700" y="4769500"/>
                  <a:ext cx="186900" cy="1869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18" name="Google Shape;318;p26"/>
                <p:cNvSpPr/>
                <p:nvPr/>
              </p:nvSpPr>
              <p:spPr>
                <a:xfrm flipH="1">
                  <a:off x="3213997" y="4769500"/>
                  <a:ext cx="186900" cy="1869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Mega Black"/>
              <a:buNone/>
              <a:defRPr sz="2300">
                <a:solidFill>
                  <a:schemeClr val="dk1"/>
                </a:solidFill>
                <a:latin typeface="Lexend Mega Black"/>
                <a:ea typeface="Lexend Mega Black"/>
                <a:cs typeface="Lexend Mega Black"/>
                <a:sym typeface="Lexend Mega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jpg"/><Relationship Id="rId4" Type="http://schemas.openxmlformats.org/officeDocument/2006/relationships/image" Target="../media/image1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jp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jpg"/><Relationship Id="rId4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www.youtube.com/watch?v=fZAmPD2v1Gg" TargetMode="External"/><Relationship Id="rId4" Type="http://schemas.openxmlformats.org/officeDocument/2006/relationships/image" Target="../media/image2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youtube.com/watch?v=fZAmPD2v1Gg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15.png"/><Relationship Id="rId6" Type="http://schemas.openxmlformats.org/officeDocument/2006/relationships/image" Target="../media/image2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1.jpg"/><Relationship Id="rId4" Type="http://schemas.openxmlformats.org/officeDocument/2006/relationships/image" Target="../media/image33.jpg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0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.jpg"/><Relationship Id="rId4" Type="http://schemas.openxmlformats.org/officeDocument/2006/relationships/image" Target="../media/image30.jpg"/><Relationship Id="rId5" Type="http://schemas.openxmlformats.org/officeDocument/2006/relationships/image" Target="../media/image26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8.jpg"/><Relationship Id="rId4" Type="http://schemas.openxmlformats.org/officeDocument/2006/relationships/image" Target="../media/image37.jpg"/><Relationship Id="rId5" Type="http://schemas.openxmlformats.org/officeDocument/2006/relationships/image" Target="../media/image39.jp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 txBox="1"/>
          <p:nvPr>
            <p:ph type="ctrTitle"/>
          </p:nvPr>
        </p:nvSpPr>
        <p:spPr>
          <a:xfrm>
            <a:off x="1028700" y="1135656"/>
            <a:ext cx="7086600" cy="28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Meaning from </a:t>
            </a:r>
            <a:r>
              <a:rPr b="1" lang="en" sz="10000">
                <a:latin typeface="Caveat"/>
                <a:ea typeface="Caveat"/>
                <a:cs typeface="Caveat"/>
                <a:sym typeface="Caveat"/>
              </a:rPr>
              <a:t>Craft</a:t>
            </a:r>
            <a:endParaRPr sz="100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2400700" y="3331375"/>
            <a:ext cx="17169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20">
                <a:solidFill>
                  <a:srgbClr val="000000"/>
                </a:solidFill>
              </a:rPr>
              <a:t>Elsa</a:t>
            </a:r>
            <a:endParaRPr b="1" i="1" sz="172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64">
                <a:solidFill>
                  <a:srgbClr val="000000"/>
                </a:solidFill>
              </a:rPr>
              <a:t>BS Design</a:t>
            </a:r>
            <a:endParaRPr i="1" sz="1164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64">
                <a:solidFill>
                  <a:srgbClr val="000000"/>
                </a:solidFill>
              </a:rPr>
              <a:t>MS HCI</a:t>
            </a:r>
            <a:endParaRPr i="1" sz="1164">
              <a:solidFill>
                <a:srgbClr val="000000"/>
              </a:solidFill>
            </a:endParaRPr>
          </a:p>
        </p:txBody>
      </p:sp>
      <p:pic>
        <p:nvPicPr>
          <p:cNvPr id="330" name="Google Shape;3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275" y="1360475"/>
            <a:ext cx="1691942" cy="19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288" y="1371829"/>
            <a:ext cx="1716900" cy="202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50" y="1381178"/>
            <a:ext cx="1691950" cy="198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4250" y="1371825"/>
            <a:ext cx="1752296" cy="202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/>
        </p:nvSpPr>
        <p:spPr>
          <a:xfrm>
            <a:off x="4560288" y="3371325"/>
            <a:ext cx="15789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i="1" lang="en" sz="1720">
                <a:solidFill>
                  <a:srgbClr val="000000"/>
                </a:solidFill>
              </a:rPr>
              <a:t>Jia</a:t>
            </a:r>
            <a:endParaRPr b="1" i="1" sz="172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i="1" lang="en" sz="1164">
                <a:solidFill>
                  <a:srgbClr val="000000"/>
                </a:solidFill>
              </a:rPr>
              <a:t>BS Design</a:t>
            </a:r>
            <a:endParaRPr i="1" sz="1164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64">
                <a:solidFill>
                  <a:srgbClr val="000000"/>
                </a:solidFill>
              </a:rPr>
              <a:t>MS HCI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450300" y="3331375"/>
            <a:ext cx="17169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20">
                <a:solidFill>
                  <a:srgbClr val="000000"/>
                </a:solidFill>
              </a:rPr>
              <a:t>Ahyan</a:t>
            </a:r>
            <a:endParaRPr b="1" i="1" sz="172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64">
                <a:solidFill>
                  <a:srgbClr val="000000"/>
                </a:solidFill>
              </a:rPr>
              <a:t>BS </a:t>
            </a:r>
            <a:r>
              <a:rPr i="1" lang="en" sz="1164"/>
              <a:t>CS</a:t>
            </a:r>
            <a:endParaRPr i="1" sz="1164">
              <a:solidFill>
                <a:srgbClr val="000000"/>
              </a:solidFill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6541950" y="3401550"/>
            <a:ext cx="17169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20">
                <a:solidFill>
                  <a:srgbClr val="000000"/>
                </a:solidFill>
              </a:rPr>
              <a:t>Kelly</a:t>
            </a:r>
            <a:endParaRPr b="1" i="1" sz="172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64">
                <a:solidFill>
                  <a:srgbClr val="000000"/>
                </a:solidFill>
              </a:rPr>
              <a:t>BS HCI</a:t>
            </a:r>
            <a:endParaRPr i="1" sz="1164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64">
                <a:solidFill>
                  <a:srgbClr val="000000"/>
                </a:solidFill>
              </a:rPr>
              <a:t>MS AI</a:t>
            </a:r>
            <a:endParaRPr i="1" sz="1164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/>
          <p:nvPr>
            <p:ph idx="4294967295" type="title"/>
          </p:nvPr>
        </p:nvSpPr>
        <p:spPr>
          <a:xfrm>
            <a:off x="480875" y="6648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Brainstorm</a:t>
            </a:r>
            <a:endParaRPr/>
          </a:p>
        </p:txBody>
      </p:sp>
      <p:pic>
        <p:nvPicPr>
          <p:cNvPr id="342" name="Google Shape;3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87" y="1435195"/>
            <a:ext cx="9013524" cy="3168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"/>
          <p:cNvSpPr txBox="1"/>
          <p:nvPr>
            <p:ph idx="4294967295" type="title"/>
          </p:nvPr>
        </p:nvSpPr>
        <p:spPr>
          <a:xfrm>
            <a:off x="480875" y="6648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Brainstorm</a:t>
            </a:r>
            <a:endParaRPr/>
          </a:p>
        </p:txBody>
      </p:sp>
      <p:pic>
        <p:nvPicPr>
          <p:cNvPr id="348" name="Google Shape;348;p30"/>
          <p:cNvPicPr preferRelativeResize="0"/>
          <p:nvPr/>
        </p:nvPicPr>
        <p:blipFill rotWithShape="1">
          <a:blip r:embed="rId3">
            <a:alphaModFix/>
          </a:blip>
          <a:srcRect b="0" l="13652" r="-11797" t="0"/>
          <a:stretch/>
        </p:blipFill>
        <p:spPr>
          <a:xfrm>
            <a:off x="0" y="1237575"/>
            <a:ext cx="8974377" cy="333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>
            <p:ph idx="1" type="subTitle"/>
          </p:nvPr>
        </p:nvSpPr>
        <p:spPr>
          <a:xfrm>
            <a:off x="549450" y="2394900"/>
            <a:ext cx="8045100" cy="16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chose our project name to showcase intentionality in the process of creating</a:t>
            </a:r>
            <a:endParaRPr/>
          </a:p>
        </p:txBody>
      </p:sp>
      <p:sp>
        <p:nvSpPr>
          <p:cNvPr id="354" name="Google Shape;354;p31"/>
          <p:cNvSpPr txBox="1"/>
          <p:nvPr>
            <p:ph type="title"/>
          </p:nvPr>
        </p:nvSpPr>
        <p:spPr>
          <a:xfrm>
            <a:off x="503825" y="652200"/>
            <a:ext cx="77040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etch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"/>
                <a:ea typeface="Lexend Mega"/>
                <a:cs typeface="Lexend Mega"/>
                <a:sym typeface="Lexend Mega"/>
              </a:rPr>
              <a:t>Sketch Without The Stress</a:t>
            </a:r>
            <a:endParaRPr>
              <a:latin typeface="Lexend Mega"/>
              <a:ea typeface="Lexend Mega"/>
              <a:cs typeface="Lexend Mega"/>
              <a:sym typeface="Lexend Meg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/>
          <p:nvPr>
            <p:ph idx="1" type="subTitle"/>
          </p:nvPr>
        </p:nvSpPr>
        <p:spPr>
          <a:xfrm>
            <a:off x="655200" y="1856675"/>
            <a:ext cx="73857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creativity an adventure again with a low-pressure way to experiment and play, without expectations of polished work or a finished result</a:t>
            </a:r>
            <a:endParaRPr/>
          </a:p>
        </p:txBody>
      </p:sp>
      <p:sp>
        <p:nvSpPr>
          <p:cNvPr id="360" name="Google Shape;360;p32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PROPOSITION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ctrTitle"/>
          </p:nvPr>
        </p:nvSpPr>
        <p:spPr>
          <a:xfrm>
            <a:off x="713225" y="1042425"/>
            <a:ext cx="7545300" cy="23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The Problem </a:t>
            </a:r>
            <a:endParaRPr>
              <a:latin typeface="Lexend Mega Black"/>
              <a:ea typeface="Lexend Mega Black"/>
              <a:cs typeface="Lexend Mega Black"/>
              <a:sym typeface="Lexend Mega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&amp; Our Solution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 txBox="1"/>
          <p:nvPr>
            <p:ph idx="1" type="subTitle"/>
          </p:nvPr>
        </p:nvSpPr>
        <p:spPr>
          <a:xfrm>
            <a:off x="617925" y="1413675"/>
            <a:ext cx="8214900" cy="27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people whose craft has become tied to work or expectations often struggle to make room for experimentation and play. Our phone case with built-in sketch tools and a companion app makes outdoor creative breaks easy: seeing others’ art nearby encourages users to pause, create without pressure, and revisit their discoveries for inspiration in their main craft</a:t>
            </a:r>
            <a:endParaRPr/>
          </a:p>
        </p:txBody>
      </p:sp>
      <p:sp>
        <p:nvSpPr>
          <p:cNvPr id="371" name="Google Shape;371;p34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Problem/Solution/Primary User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idx="1" type="subTitle"/>
          </p:nvPr>
        </p:nvSpPr>
        <p:spPr>
          <a:xfrm>
            <a:off x="617925" y="1413675"/>
            <a:ext cx="8214900" cy="27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BEFFEF"/>
                </a:highlight>
              </a:rPr>
              <a:t>Creative people whose craft has become tied to work or expectations</a:t>
            </a:r>
            <a:r>
              <a:rPr lang="en"/>
              <a:t> often</a:t>
            </a:r>
            <a:r>
              <a:rPr lang="en">
                <a:highlight>
                  <a:srgbClr val="FFE09E"/>
                </a:highlight>
              </a:rPr>
              <a:t> struggle to make room for experimentation and play</a:t>
            </a:r>
            <a:r>
              <a:rPr lang="en"/>
              <a:t>. Our phone case with built-in sketch tools and a companion app </a:t>
            </a:r>
            <a:r>
              <a:rPr lang="en">
                <a:highlight>
                  <a:srgbClr val="D2FF8B"/>
                </a:highlight>
              </a:rPr>
              <a:t>makes outdoor creative breaks easy: seeing others’ art nearby encourages users to pause, create without pressure, and revisit their discoveries for inspiration in their main craft</a:t>
            </a:r>
            <a:endParaRPr>
              <a:highlight>
                <a:srgbClr val="D2FF8B"/>
              </a:highlight>
            </a:endParaRPr>
          </a:p>
        </p:txBody>
      </p:sp>
      <p:sp>
        <p:nvSpPr>
          <p:cNvPr id="377" name="Google Shape;377;p35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E09E"/>
                </a:highlight>
              </a:rPr>
              <a:t>Problem</a:t>
            </a:r>
            <a:r>
              <a:rPr lang="en"/>
              <a:t>/</a:t>
            </a:r>
            <a:r>
              <a:rPr lang="en">
                <a:highlight>
                  <a:srgbClr val="D2FF8B"/>
                </a:highlight>
              </a:rPr>
              <a:t>Solution</a:t>
            </a:r>
            <a:r>
              <a:rPr lang="en"/>
              <a:t>/</a:t>
            </a:r>
            <a:r>
              <a:rPr lang="en">
                <a:highlight>
                  <a:srgbClr val="BEFFEF"/>
                </a:highlight>
              </a:rPr>
              <a:t>Primary User</a:t>
            </a:r>
            <a:endParaRPr>
              <a:highlight>
                <a:srgbClr val="BEFFE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subTitle"/>
          </p:nvPr>
        </p:nvSpPr>
        <p:spPr>
          <a:xfrm>
            <a:off x="536700" y="1583475"/>
            <a:ext cx="8070600" cy="27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people can struggle to make time for creating just for themselves. When making becomes tied to work, expectations, or proving their ability, even a creative break can feel like another task. They need an easy starting point and room to experiment, enjoy the process, and remember what they love about making</a:t>
            </a:r>
            <a:endParaRPr/>
          </a:p>
        </p:txBody>
      </p:sp>
      <p:sp>
        <p:nvSpPr>
          <p:cNvPr id="383" name="Google Shape;383;p36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idx="1" type="subTitle"/>
          </p:nvPr>
        </p:nvSpPr>
        <p:spPr>
          <a:xfrm>
            <a:off x="555300" y="1317650"/>
            <a:ext cx="8033400" cy="16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 phone case with built-in paints and a brush, paired with a companion app make it easy to take creative breaks outdoors. Discover places where others have made art, follow a prompt or create freely, and share anonymously.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Create ephemeral art on seed paper, plant your work, and build a personal map of the places that inspire you, reconnecting with the joy of making for yourself without the pressure of a “good” artistic outcome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389" name="Google Shape;389;p37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 txBox="1"/>
          <p:nvPr>
            <p:ph type="title"/>
          </p:nvPr>
        </p:nvSpPr>
        <p:spPr>
          <a:xfrm>
            <a:off x="503825" y="297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Journey</a:t>
            </a:r>
            <a:endParaRPr/>
          </a:p>
        </p:txBody>
      </p:sp>
      <p:sp>
        <p:nvSpPr>
          <p:cNvPr id="395" name="Google Shape;395;p38"/>
          <p:cNvSpPr txBox="1"/>
          <p:nvPr>
            <p:ph idx="1" type="subTitle"/>
          </p:nvPr>
        </p:nvSpPr>
        <p:spPr>
          <a:xfrm>
            <a:off x="503825" y="1224900"/>
            <a:ext cx="4335000" cy="3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E09E"/>
                </a:highlight>
              </a:rPr>
              <a:t>You’re out for a walk and get notified when you pass a place where others have created a lot of art in this area.</a:t>
            </a:r>
            <a:endParaRPr sz="1500">
              <a:solidFill>
                <a:srgbClr val="000000"/>
              </a:solidFill>
              <a:highlight>
                <a:srgbClr val="FFE09E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B1E2FF"/>
                </a:highlight>
              </a:rPr>
              <a:t>You pull paints and a brush from your phone case and take out a piece of paper that has flower seeds embedded into it.</a:t>
            </a:r>
            <a:r>
              <a:rPr lang="en" sz="1500">
                <a:solidFill>
                  <a:srgbClr val="000000"/>
                </a:solidFill>
              </a:rPr>
              <a:t>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D2FF8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D2FF8B"/>
                </a:highlight>
              </a:rPr>
              <a:t>Ask for a prompt if you need a starting point, or paint whatever catches your attention.</a:t>
            </a:r>
            <a:endParaRPr sz="1500">
              <a:solidFill>
                <a:srgbClr val="000000"/>
              </a:solidFill>
              <a:highlight>
                <a:srgbClr val="D2FF8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BEFFEF"/>
                </a:highlight>
              </a:rPr>
              <a:t>When you’re done, you can add a photo of your artwork anonymously to the map. Then plant the paper and let what you made grow so you don’t overly focus on the end result .</a:t>
            </a:r>
            <a:endParaRPr sz="1500">
              <a:solidFill>
                <a:srgbClr val="000000"/>
              </a:solidFill>
              <a:highlight>
                <a:srgbClr val="BEFFEF"/>
              </a:highlight>
            </a:endParaRPr>
          </a:p>
        </p:txBody>
      </p:sp>
      <p:sp>
        <p:nvSpPr>
          <p:cNvPr id="396" name="Google Shape;396;p38"/>
          <p:cNvSpPr/>
          <p:nvPr/>
        </p:nvSpPr>
        <p:spPr>
          <a:xfrm>
            <a:off x="5074025" y="652200"/>
            <a:ext cx="3580200" cy="1010100"/>
          </a:xfrm>
          <a:prstGeom prst="wedgeRectCallout">
            <a:avLst>
              <a:gd fmla="val -60068" name="adj1"/>
              <a:gd fmla="val 27789" name="adj2"/>
            </a:avLst>
          </a:prstGeom>
          <a:solidFill>
            <a:srgbClr val="FFE0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rPr>
              <a:t>Creating while outdoors can ease the pressure to make something perfect and seeing others create art can give permission to take a break </a:t>
            </a:r>
            <a:endParaRPr sz="1100">
              <a:solidFill>
                <a:srgbClr val="19191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5074025" y="2874883"/>
            <a:ext cx="3580200" cy="1010100"/>
          </a:xfrm>
          <a:prstGeom prst="wedgeRectCallout">
            <a:avLst>
              <a:gd fmla="val -64269" name="adj1"/>
              <a:gd fmla="val 1301" name="adj2"/>
            </a:avLst>
          </a:prstGeom>
          <a:solidFill>
            <a:srgbClr val="D2F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rPr>
              <a:t>Artists benefit from both prompts that help them start and freedom to draw on personal experiences</a:t>
            </a:r>
            <a:endParaRPr sz="1100">
              <a:solidFill>
                <a:srgbClr val="19191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5138225" y="3992994"/>
            <a:ext cx="3580200" cy="1010100"/>
          </a:xfrm>
          <a:prstGeom prst="wedgeRectCallout">
            <a:avLst>
              <a:gd fmla="val -60811" name="adj1"/>
              <a:gd fmla="val 23001" name="adj2"/>
            </a:avLst>
          </a:prstGeom>
          <a:solidFill>
            <a:srgbClr val="BEF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rPr>
              <a:t>Crafters need opportunities to reconnect with the joy of making for themselves, without seeking external validation</a:t>
            </a:r>
            <a:endParaRPr sz="1100">
              <a:solidFill>
                <a:srgbClr val="19191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5074025" y="1756746"/>
            <a:ext cx="3580200" cy="1010100"/>
          </a:xfrm>
          <a:prstGeom prst="wedgeRectCallout">
            <a:avLst>
              <a:gd fmla="val -58668" name="adj1"/>
              <a:gd fmla="val 4052" name="adj2"/>
            </a:avLst>
          </a:prstGeom>
          <a:solidFill>
            <a:srgbClr val="B1E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rPr>
              <a:t>Having supplies close at hand lowers the effort of starting especially in moments of spontaneity and exploration </a:t>
            </a:r>
            <a:endParaRPr sz="1100">
              <a:solidFill>
                <a:srgbClr val="19191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/>
          <p:nvPr>
            <p:ph type="ctrTitle"/>
          </p:nvPr>
        </p:nvSpPr>
        <p:spPr>
          <a:xfrm>
            <a:off x="713225" y="1042416"/>
            <a:ext cx="70866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Market research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40" title="Screenshot 2026-10-11 at 10.05.17 AM.png"/>
          <p:cNvPicPr preferRelativeResize="0"/>
          <p:nvPr/>
        </p:nvPicPr>
        <p:blipFill rotWithShape="1">
          <a:blip r:embed="rId3">
            <a:alphaModFix/>
          </a:blip>
          <a:srcRect b="0" l="0" r="0" t="1156"/>
          <a:stretch/>
        </p:blipFill>
        <p:spPr>
          <a:xfrm>
            <a:off x="6905550" y="847100"/>
            <a:ext cx="1810200" cy="375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10" name="Google Shape;410;p40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Sketch a Day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40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Daily drawing prompts and a community for sharing art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40"/>
          <p:cNvSpPr txBox="1"/>
          <p:nvPr/>
        </p:nvSpPr>
        <p:spPr>
          <a:xfrm>
            <a:off x="508000" y="1841500"/>
            <a:ext cx="3048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works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40"/>
          <p:cNvSpPr txBox="1"/>
          <p:nvPr/>
        </p:nvSpPr>
        <p:spPr>
          <a:xfrm>
            <a:off x="3873500" y="1841500"/>
            <a:ext cx="3111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falls short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40"/>
          <p:cNvSpPr txBox="1"/>
          <p:nvPr/>
        </p:nvSpPr>
        <p:spPr>
          <a:xfrm>
            <a:off x="508000" y="2286000"/>
            <a:ext cx="3048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Daily prompts help with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“What should I draw?”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Different takes on a prompt spark ideas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A welcoming community makes starting easier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40"/>
          <p:cNvSpPr txBox="1"/>
          <p:nvPr/>
        </p:nvSpPr>
        <p:spPr>
          <a:xfrm>
            <a:off x="3873500" y="2286000"/>
            <a:ext cx="3111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Likes and comparisons may bring back pressure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Streaks may turn a break into another obligation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The core experience isn’t tied to outdoor places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6" name="Google Shape;416;p40" title="Screenshot 2026-10-11 at 10.18.16 AM.png"/>
          <p:cNvPicPr preferRelativeResize="0"/>
          <p:nvPr/>
        </p:nvPicPr>
        <p:blipFill rotWithShape="1">
          <a:blip r:embed="rId4">
            <a:alphaModFix/>
          </a:blip>
          <a:srcRect b="3965" l="2881" r="3888" t="5084"/>
          <a:stretch/>
        </p:blipFill>
        <p:spPr>
          <a:xfrm>
            <a:off x="646500" y="847100"/>
            <a:ext cx="852000" cy="831000"/>
          </a:xfrm>
          <a:prstGeom prst="roundRect">
            <a:avLst>
              <a:gd fmla="val 3002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"/>
          <p:cNvSpPr txBox="1"/>
          <p:nvPr/>
        </p:nvSpPr>
        <p:spPr>
          <a:xfrm>
            <a:off x="508000" y="1866900"/>
            <a:ext cx="6222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we can take away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41"/>
          <p:cNvSpPr txBox="1"/>
          <p:nvPr/>
        </p:nvSpPr>
        <p:spPr>
          <a:xfrm>
            <a:off x="508000" y="2235200"/>
            <a:ext cx="5627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Offer optional prompts when people need a starting point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Let people create freely and share anonymously, without likes or streaks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Help people discover art spots, add their own, and return over time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Build</a:t>
            </a: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 a personal record of moments that can inspire fashion, crafts, and other creative work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41" title="Screenshot 2026-10-11 at 10.05.17 AM.png"/>
          <p:cNvPicPr preferRelativeResize="0"/>
          <p:nvPr/>
        </p:nvPicPr>
        <p:blipFill rotWithShape="1">
          <a:blip r:embed="rId3">
            <a:alphaModFix/>
          </a:blip>
          <a:srcRect b="0" l="0" r="0" t="1156"/>
          <a:stretch/>
        </p:blipFill>
        <p:spPr>
          <a:xfrm>
            <a:off x="6905550" y="847100"/>
            <a:ext cx="1810200" cy="375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24" name="Google Shape;424;p41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Sketch a Day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1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Daily drawing prompts and a community for sharing art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6" name="Google Shape;426;p41" title="Screenshot 2026-10-11 at 10.18.16 AM.png"/>
          <p:cNvPicPr preferRelativeResize="0"/>
          <p:nvPr/>
        </p:nvPicPr>
        <p:blipFill rotWithShape="1">
          <a:blip r:embed="rId4">
            <a:alphaModFix/>
          </a:blip>
          <a:srcRect b="3965" l="2881" r="3888" t="5084"/>
          <a:stretch/>
        </p:blipFill>
        <p:spPr>
          <a:xfrm>
            <a:off x="646500" y="847100"/>
            <a:ext cx="852000" cy="831000"/>
          </a:xfrm>
          <a:prstGeom prst="roundRect">
            <a:avLst>
              <a:gd fmla="val 3002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Pokémon Go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42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Location-based exploration through gamification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42"/>
          <p:cNvSpPr txBox="1"/>
          <p:nvPr/>
        </p:nvSpPr>
        <p:spPr>
          <a:xfrm>
            <a:off x="508000" y="1841500"/>
            <a:ext cx="3048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works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2"/>
          <p:cNvSpPr txBox="1"/>
          <p:nvPr/>
        </p:nvSpPr>
        <p:spPr>
          <a:xfrm>
            <a:off x="3873500" y="1841500"/>
            <a:ext cx="3111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falls short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42"/>
          <p:cNvSpPr txBox="1"/>
          <p:nvPr/>
        </p:nvSpPr>
        <p:spPr>
          <a:xfrm>
            <a:off x="508000" y="2286000"/>
            <a:ext cx="3048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Turns ordinary locations into destinations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Rewards and collectibles motivate exploration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Community-created Routes encourage discovery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42"/>
          <p:cNvSpPr txBox="1"/>
          <p:nvPr/>
        </p:nvSpPr>
        <p:spPr>
          <a:xfrm>
            <a:off x="3873500" y="2286000"/>
            <a:ext cx="3111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Rewards may shift focus toward achievement over experience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Engagement can fade as novelty wears off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Location tracking raises privacy and safety concerns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500" y="797525"/>
            <a:ext cx="852000" cy="8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510" y="567700"/>
            <a:ext cx="3236774" cy="431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/>
          <p:nvPr/>
        </p:nvSpPr>
        <p:spPr>
          <a:xfrm>
            <a:off x="508000" y="1866900"/>
            <a:ext cx="6222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we can take away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3"/>
          <p:cNvSpPr txBox="1"/>
          <p:nvPr/>
        </p:nvSpPr>
        <p:spPr>
          <a:xfrm>
            <a:off x="508000" y="2235200"/>
            <a:ext cx="5627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Turn everyday locations into opportunities for creative discover</a:t>
            </a: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Borrow playful exploration without competitive rewards or rankings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Let users unlock anonymous artwork by creating their own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Prioritize personal meaning, privacy, and different location vibes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3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Pokémon Go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43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Location-based exploration through gamification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7" name="Google Shape;4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500" y="797525"/>
            <a:ext cx="852000" cy="8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510" y="567700"/>
            <a:ext cx="3236774" cy="431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4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Sktchr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4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A field companion app for urban sketchers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4"/>
          <p:cNvSpPr txBox="1"/>
          <p:nvPr/>
        </p:nvSpPr>
        <p:spPr>
          <a:xfrm>
            <a:off x="508000" y="1841500"/>
            <a:ext cx="3048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works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44"/>
          <p:cNvSpPr txBox="1"/>
          <p:nvPr/>
        </p:nvSpPr>
        <p:spPr>
          <a:xfrm>
            <a:off x="3873500" y="1841500"/>
            <a:ext cx="3111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falls short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4"/>
          <p:cNvSpPr txBox="1"/>
          <p:nvPr/>
        </p:nvSpPr>
        <p:spPr>
          <a:xfrm>
            <a:off x="508000" y="2286000"/>
            <a:ext cx="3048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Community map shows how others drew at the same spot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Personal archive keeps sketches by place and time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3873500" y="2286000"/>
            <a:ext cx="3111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Cold start: map feels empty wherever few sketchers are active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Built for planned outings, not a spontaneous few minutes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Centered on finished, polished sketches more than low-stakes play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9" name="Google Shape;459;p44" title="Screenshot 2026-10-15 at 5.01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49" y="543225"/>
            <a:ext cx="1415800" cy="13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9910" y="797525"/>
            <a:ext cx="1901840" cy="3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4"/>
          <p:cNvSpPr txBox="1"/>
          <p:nvPr/>
        </p:nvSpPr>
        <p:spPr>
          <a:xfrm>
            <a:off x="508000" y="3007475"/>
            <a:ext cx="34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Planning tools for lighting, crowds, weather, &amp; accessibility help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artists pick when/where to go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5" title="Screenshot 2026-10-15 at 5.01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49" y="543225"/>
            <a:ext cx="1415800" cy="137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5"/>
          <p:cNvSpPr txBox="1"/>
          <p:nvPr/>
        </p:nvSpPr>
        <p:spPr>
          <a:xfrm>
            <a:off x="508000" y="1866900"/>
            <a:ext cx="6222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we can take away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45"/>
          <p:cNvSpPr txBox="1"/>
          <p:nvPr/>
        </p:nvSpPr>
        <p:spPr>
          <a:xfrm>
            <a:off x="508000" y="2235200"/>
            <a:ext cx="5627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Keep a personal record of art and the places it was made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Seed the map with local art community so it isn’t empty on day one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Show nearby art as an invitation to pause, not a gallery to measure up to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45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Sktchr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45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A field companion app for urban sketchers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1" name="Google Shape;47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9910" y="797525"/>
            <a:ext cx="1901840" cy="382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8629" y="776819"/>
            <a:ext cx="1936817" cy="389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6" title="Screenshot 2026-10-15 at 5.00.3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62200"/>
            <a:ext cx="1122650" cy="1122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6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iNaturalist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46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Record wildlife you find and identify it with a community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46"/>
          <p:cNvSpPr txBox="1"/>
          <p:nvPr/>
        </p:nvSpPr>
        <p:spPr>
          <a:xfrm>
            <a:off x="508000" y="1841500"/>
            <a:ext cx="3048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works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46"/>
          <p:cNvSpPr txBox="1"/>
          <p:nvPr/>
        </p:nvSpPr>
        <p:spPr>
          <a:xfrm>
            <a:off x="3873500" y="1841500"/>
            <a:ext cx="3111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falls short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46"/>
          <p:cNvSpPr txBox="1"/>
          <p:nvPr/>
        </p:nvSpPr>
        <p:spPr>
          <a:xfrm>
            <a:off x="508000" y="2286000"/>
            <a:ext cx="3048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Gives people a reason to stop and notice </a:t>
            </a: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 ordinary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You can post without knowing what you found → super low barrier to participate and enjoy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46"/>
          <p:cNvSpPr txBox="1"/>
          <p:nvPr/>
        </p:nvSpPr>
        <p:spPr>
          <a:xfrm>
            <a:off x="3873500" y="2286000"/>
            <a:ext cx="3111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Tension in values: one of nature’s meanings is to be basked in (without screens), but this app implicitly asks users to insert their devices into that process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7"/>
          <p:cNvSpPr txBox="1"/>
          <p:nvPr/>
        </p:nvSpPr>
        <p:spPr>
          <a:xfrm>
            <a:off x="508000" y="1866900"/>
            <a:ext cx="6222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5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What we can take away →</a:t>
            </a:r>
            <a:endParaRPr b="1" sz="15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47"/>
          <p:cNvSpPr txBox="1"/>
          <p:nvPr/>
        </p:nvSpPr>
        <p:spPr>
          <a:xfrm>
            <a:off x="508000" y="2235200"/>
            <a:ext cx="5627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Let people create and share without needing to get anything “right”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Incentivize users to get off the app and into their craft as soon as they’ve received what they need from the experience we are building for them (inspiration)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47650" lvl="0" marL="152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rgbClr val="4D4D4D"/>
                </a:solidFill>
                <a:latin typeface="Lexend"/>
                <a:ea typeface="Lexend"/>
                <a:cs typeface="Lexend"/>
                <a:sym typeface="Lexend"/>
              </a:rPr>
              <a:t>Design so that users don’t get stuck on their phones by scrolling through all the other art (i.e. rigorously consider how to not fall into addictive design)</a:t>
            </a:r>
            <a:endParaRPr sz="1500">
              <a:solidFill>
                <a:srgbClr val="4D4D4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7"/>
          <p:cNvSpPr txBox="1"/>
          <p:nvPr/>
        </p:nvSpPr>
        <p:spPr>
          <a:xfrm>
            <a:off x="1549531" y="797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iNaturalist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47"/>
          <p:cNvSpPr txBox="1"/>
          <p:nvPr/>
        </p:nvSpPr>
        <p:spPr>
          <a:xfrm>
            <a:off x="1549531" y="1305519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Record wildlife you find and identify it with a community</a:t>
            </a:r>
            <a:endParaRPr sz="13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2" name="Google Shape;492;p47" title="Screenshot 2026-10-15 at 5.00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62200"/>
            <a:ext cx="1122650" cy="112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8629" y="776819"/>
            <a:ext cx="1936817" cy="389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 txBox="1"/>
          <p:nvPr/>
        </p:nvSpPr>
        <p:spPr>
          <a:xfrm>
            <a:off x="6" y="-6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Feature Comparison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9" name="Google Shape;4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62" y="539500"/>
            <a:ext cx="8206874" cy="414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87" y="587475"/>
            <a:ext cx="8073820" cy="4064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9"/>
          <p:cNvSpPr txBox="1"/>
          <p:nvPr/>
        </p:nvSpPr>
        <p:spPr>
          <a:xfrm>
            <a:off x="6" y="-6"/>
            <a:ext cx="6222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Where etch fits</a:t>
            </a:r>
            <a:endParaRPr b="1" sz="27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0"/>
          <p:cNvSpPr txBox="1"/>
          <p:nvPr>
            <p:ph type="ctrTitle"/>
          </p:nvPr>
        </p:nvSpPr>
        <p:spPr>
          <a:xfrm>
            <a:off x="713225" y="1133616"/>
            <a:ext cx="70866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Design Values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1"/>
          <p:cNvSpPr txBox="1"/>
          <p:nvPr>
            <p:ph type="title"/>
          </p:nvPr>
        </p:nvSpPr>
        <p:spPr>
          <a:xfrm>
            <a:off x="49485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STAKEHOLDERS</a:t>
            </a:r>
            <a:endParaRPr/>
          </a:p>
        </p:txBody>
      </p:sp>
      <p:sp>
        <p:nvSpPr>
          <p:cNvPr id="516" name="Google Shape;516;p51"/>
          <p:cNvSpPr/>
          <p:nvPr/>
        </p:nvSpPr>
        <p:spPr>
          <a:xfrm>
            <a:off x="614725" y="1112200"/>
            <a:ext cx="77808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Beginners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: Exploring art without pressure</a:t>
            </a:r>
            <a:endParaRPr b="1"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17" name="Google Shape;517;p51"/>
          <p:cNvSpPr/>
          <p:nvPr/>
        </p:nvSpPr>
        <p:spPr>
          <a:xfrm>
            <a:off x="614725" y="1859850"/>
            <a:ext cx="77808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Casual crafters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: Seeking inspiration and creative breaks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18" name="Google Shape;518;p51"/>
          <p:cNvSpPr/>
          <p:nvPr/>
        </p:nvSpPr>
        <p:spPr>
          <a:xfrm>
            <a:off x="614725" y="2567550"/>
            <a:ext cx="77808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Experienced artists: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 Finding new creative perspectives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19" name="Google Shape;519;p51"/>
          <p:cNvSpPr/>
          <p:nvPr/>
        </p:nvSpPr>
        <p:spPr>
          <a:xfrm>
            <a:off x="614725" y="3315200"/>
            <a:ext cx="77808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Returning crafters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: Reconnecting with abandoned hobbies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20" name="Google Shape;520;p51"/>
          <p:cNvSpPr/>
          <p:nvPr/>
        </p:nvSpPr>
        <p:spPr>
          <a:xfrm>
            <a:off x="614725" y="4062850"/>
            <a:ext cx="77808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Art contributors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: Sharing their creations to inspire other users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2"/>
          <p:cNvSpPr txBox="1"/>
          <p:nvPr>
            <p:ph type="title"/>
          </p:nvPr>
        </p:nvSpPr>
        <p:spPr>
          <a:xfrm>
            <a:off x="49485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STAKEHOLDERS</a:t>
            </a:r>
            <a:endParaRPr/>
          </a:p>
        </p:txBody>
      </p:sp>
      <p:sp>
        <p:nvSpPr>
          <p:cNvPr id="526" name="Google Shape;526;p52"/>
          <p:cNvSpPr/>
          <p:nvPr/>
        </p:nvSpPr>
        <p:spPr>
          <a:xfrm>
            <a:off x="636875" y="1112200"/>
            <a:ext cx="77586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Businesses: 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May gain foot traffic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27" name="Google Shape;527;p52"/>
          <p:cNvSpPr/>
          <p:nvPr/>
        </p:nvSpPr>
        <p:spPr>
          <a:xfrm>
            <a:off x="636875" y="1859850"/>
            <a:ext cx="77586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Bystanders: 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May appear in shared artwork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28" name="Google Shape;528;p52"/>
          <p:cNvSpPr/>
          <p:nvPr/>
        </p:nvSpPr>
        <p:spPr>
          <a:xfrm>
            <a:off x="636875" y="2567550"/>
            <a:ext cx="77586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Local residents: 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Affected by increased visitors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29" name="Google Shape;529;p52"/>
          <p:cNvSpPr/>
          <p:nvPr/>
        </p:nvSpPr>
        <p:spPr>
          <a:xfrm>
            <a:off x="636875" y="3315200"/>
            <a:ext cx="77586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Environment: 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Affected by foot traffic or art waste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636875" y="4062850"/>
            <a:ext cx="7758600" cy="5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pilogue"/>
                <a:ea typeface="Epilogue"/>
                <a:cs typeface="Epilogue"/>
                <a:sym typeface="Epilogue"/>
              </a:rPr>
              <a:t>Property owners: </a:t>
            </a:r>
            <a:r>
              <a:rPr lang="en">
                <a:latin typeface="Epilogue"/>
                <a:ea typeface="Epilogue"/>
                <a:cs typeface="Epilogue"/>
                <a:sym typeface="Epilogue"/>
              </a:rPr>
              <a:t>Affected by activity at featured locations</a:t>
            </a:r>
            <a:endParaRPr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3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TAROT CARD ANALYSIS</a:t>
            </a:r>
            <a:endParaRPr/>
          </a:p>
        </p:txBody>
      </p:sp>
      <p:pic>
        <p:nvPicPr>
          <p:cNvPr id="536" name="Google Shape;5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25" y="1492719"/>
            <a:ext cx="8296550" cy="2726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4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TAROT CARD ANALYSIS</a:t>
            </a:r>
            <a:endParaRPr/>
          </a:p>
        </p:txBody>
      </p:sp>
      <p:pic>
        <p:nvPicPr>
          <p:cNvPr id="542" name="Google Shape;54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25" y="1511036"/>
            <a:ext cx="8296550" cy="272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 txBox="1"/>
          <p:nvPr>
            <p:ph type="title"/>
          </p:nvPr>
        </p:nvSpPr>
        <p:spPr>
          <a:xfrm>
            <a:off x="242600" y="589300"/>
            <a:ext cx="875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our app affect friendships?</a:t>
            </a:r>
            <a:endParaRPr/>
          </a:p>
        </p:txBody>
      </p:sp>
      <p:pic>
        <p:nvPicPr>
          <p:cNvPr id="548" name="Google Shape;54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650" y="1413600"/>
            <a:ext cx="1731200" cy="254914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5"/>
          <p:cNvSpPr txBox="1"/>
          <p:nvPr>
            <p:ph idx="1" type="subTitle"/>
          </p:nvPr>
        </p:nvSpPr>
        <p:spPr>
          <a:xfrm>
            <a:off x="5779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Ethical Implications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Friends' artwork may create comparison pressure.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Anonymity limits connections between artists.</a:t>
            </a:r>
            <a:endParaRPr sz="1700"/>
          </a:p>
        </p:txBody>
      </p:sp>
      <p:sp>
        <p:nvSpPr>
          <p:cNvPr id="550" name="Google Shape;550;p55"/>
          <p:cNvSpPr txBox="1"/>
          <p:nvPr>
            <p:ph idx="1" type="subTitle"/>
          </p:nvPr>
        </p:nvSpPr>
        <p:spPr>
          <a:xfrm>
            <a:off x="56173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Design Responses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No likes, comments, or rankings.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Optional anonymous collaboration.</a:t>
            </a:r>
            <a:endParaRPr sz="1700"/>
          </a:p>
        </p:txBody>
      </p:sp>
      <p:sp>
        <p:nvSpPr>
          <p:cNvPr id="551" name="Google Shape;551;p55"/>
          <p:cNvSpPr txBox="1"/>
          <p:nvPr>
            <p:ph idx="1" type="subTitle"/>
          </p:nvPr>
        </p:nvSpPr>
        <p:spPr>
          <a:xfrm>
            <a:off x="2381575" y="4347950"/>
            <a:ext cx="55179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Value Tension:</a:t>
            </a:r>
            <a:r>
              <a:rPr lang="en" sz="1700"/>
              <a:t> Community vs. freedom</a:t>
            </a:r>
            <a:endParaRPr sz="17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6"/>
          <p:cNvSpPr txBox="1"/>
          <p:nvPr>
            <p:ph type="title"/>
          </p:nvPr>
        </p:nvSpPr>
        <p:spPr>
          <a:xfrm>
            <a:off x="391500" y="598275"/>
            <a:ext cx="875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might our app exclude?</a:t>
            </a:r>
            <a:endParaRPr/>
          </a:p>
        </p:txBody>
      </p:sp>
      <p:sp>
        <p:nvSpPr>
          <p:cNvPr id="557" name="Google Shape;557;p56"/>
          <p:cNvSpPr txBox="1"/>
          <p:nvPr>
            <p:ph idx="1" type="subTitle"/>
          </p:nvPr>
        </p:nvSpPr>
        <p:spPr>
          <a:xfrm>
            <a:off x="5779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Ethical Implications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Users with mobility limitations may struggle to reach locations.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Beginners may feel uncomfortable creating art in public.</a:t>
            </a:r>
            <a:endParaRPr sz="1700"/>
          </a:p>
        </p:txBody>
      </p:sp>
      <p:sp>
        <p:nvSpPr>
          <p:cNvPr id="558" name="Google Shape;558;p56"/>
          <p:cNvSpPr txBox="1"/>
          <p:nvPr>
            <p:ph idx="1" type="subTitle"/>
          </p:nvPr>
        </p:nvSpPr>
        <p:spPr>
          <a:xfrm>
            <a:off x="56173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Design Responses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Recommend accessible, nearby locations.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Allow users to create privately after visiting.</a:t>
            </a:r>
            <a:endParaRPr sz="1700"/>
          </a:p>
        </p:txBody>
      </p:sp>
      <p:sp>
        <p:nvSpPr>
          <p:cNvPr id="559" name="Google Shape;559;p56"/>
          <p:cNvSpPr txBox="1"/>
          <p:nvPr>
            <p:ph idx="1" type="subTitle"/>
          </p:nvPr>
        </p:nvSpPr>
        <p:spPr>
          <a:xfrm>
            <a:off x="2381575" y="4347950"/>
            <a:ext cx="55179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Value Tension:</a:t>
            </a:r>
            <a:r>
              <a:rPr lang="en" sz="1700"/>
              <a:t> </a:t>
            </a:r>
            <a:r>
              <a:rPr lang="en" sz="1700"/>
              <a:t>Adventure vs. accessibility</a:t>
            </a:r>
            <a:endParaRPr sz="1700"/>
          </a:p>
        </p:txBody>
      </p:sp>
      <p:pic>
        <p:nvPicPr>
          <p:cNvPr id="560" name="Google Shape;56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650" y="1415462"/>
            <a:ext cx="1731200" cy="25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/>
          <p:cNvSpPr txBox="1"/>
          <p:nvPr>
            <p:ph type="title"/>
          </p:nvPr>
        </p:nvSpPr>
        <p:spPr>
          <a:xfrm>
            <a:off x="391500" y="598275"/>
            <a:ext cx="875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could our app be misused?</a:t>
            </a:r>
            <a:endParaRPr/>
          </a:p>
        </p:txBody>
      </p:sp>
      <p:sp>
        <p:nvSpPr>
          <p:cNvPr id="566" name="Google Shape;566;p57"/>
          <p:cNvSpPr txBox="1"/>
          <p:nvPr>
            <p:ph idx="1" type="subTitle"/>
          </p:nvPr>
        </p:nvSpPr>
        <p:spPr>
          <a:xfrm>
            <a:off x="5779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Ethical Implications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Artwork posts could reveal users’ locations, enabling stalking.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Anonymous uploads may contain harmful or inappropriate content.</a:t>
            </a:r>
            <a:endParaRPr sz="1700"/>
          </a:p>
        </p:txBody>
      </p:sp>
      <p:sp>
        <p:nvSpPr>
          <p:cNvPr id="567" name="Google Shape;567;p57"/>
          <p:cNvSpPr txBox="1"/>
          <p:nvPr>
            <p:ph idx="1" type="subTitle"/>
          </p:nvPr>
        </p:nvSpPr>
        <p:spPr>
          <a:xfrm>
            <a:off x="56173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Design Responses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Hide artist identities and posting times to prevent tracking.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Moderate uploads and allow users to report harmful content.</a:t>
            </a:r>
            <a:endParaRPr sz="1700"/>
          </a:p>
        </p:txBody>
      </p:sp>
      <p:sp>
        <p:nvSpPr>
          <p:cNvPr id="568" name="Google Shape;568;p57"/>
          <p:cNvSpPr txBox="1"/>
          <p:nvPr>
            <p:ph idx="1" type="subTitle"/>
          </p:nvPr>
        </p:nvSpPr>
        <p:spPr>
          <a:xfrm>
            <a:off x="2381575" y="4347950"/>
            <a:ext cx="55179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Value Tension:</a:t>
            </a:r>
            <a:r>
              <a:rPr lang="en" sz="1700"/>
              <a:t> </a:t>
            </a:r>
            <a:r>
              <a:rPr lang="en" sz="1700"/>
              <a:t>Discovery vs. privacy</a:t>
            </a:r>
            <a:endParaRPr sz="1700"/>
          </a:p>
        </p:txBody>
      </p:sp>
      <p:pic>
        <p:nvPicPr>
          <p:cNvPr id="569" name="Google Shape;56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650" y="1422781"/>
            <a:ext cx="1731200" cy="25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8"/>
          <p:cNvSpPr txBox="1"/>
          <p:nvPr>
            <p:ph type="title"/>
          </p:nvPr>
        </p:nvSpPr>
        <p:spPr>
          <a:xfrm>
            <a:off x="195750" y="616250"/>
            <a:ext cx="875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When does our app become distracting?</a:t>
            </a:r>
            <a:endParaRPr sz="2300"/>
          </a:p>
        </p:txBody>
      </p:sp>
      <p:sp>
        <p:nvSpPr>
          <p:cNvPr id="575" name="Google Shape;575;p58"/>
          <p:cNvSpPr txBox="1"/>
          <p:nvPr>
            <p:ph idx="1" type="subTitle"/>
          </p:nvPr>
        </p:nvSpPr>
        <p:spPr>
          <a:xfrm>
            <a:off x="5779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Ethical Implications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Frequent notifications may turn creativity into an obligation.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Users may feel pressured to visit locations or create constantly.</a:t>
            </a:r>
            <a:endParaRPr sz="1700"/>
          </a:p>
        </p:txBody>
      </p:sp>
      <p:sp>
        <p:nvSpPr>
          <p:cNvPr id="576" name="Google Shape;576;p58"/>
          <p:cNvSpPr txBox="1"/>
          <p:nvPr>
            <p:ph idx="1" type="subTitle"/>
          </p:nvPr>
        </p:nvSpPr>
        <p:spPr>
          <a:xfrm>
            <a:off x="5617350" y="1461625"/>
            <a:ext cx="2948700" cy="24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Design Responses</a:t>
            </a:r>
            <a:endParaRPr b="1" sz="17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Allow users to customize or disable notifications.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Avoid streaks and time-sensitive rewards that create pressure.</a:t>
            </a:r>
            <a:endParaRPr sz="1700"/>
          </a:p>
        </p:txBody>
      </p:sp>
      <p:sp>
        <p:nvSpPr>
          <p:cNvPr id="577" name="Google Shape;577;p58"/>
          <p:cNvSpPr txBox="1"/>
          <p:nvPr>
            <p:ph idx="1" type="subTitle"/>
          </p:nvPr>
        </p:nvSpPr>
        <p:spPr>
          <a:xfrm>
            <a:off x="2381575" y="4347950"/>
            <a:ext cx="5517900" cy="5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Value Tension:</a:t>
            </a:r>
            <a:r>
              <a:rPr lang="en" sz="1700"/>
              <a:t> </a:t>
            </a:r>
            <a:r>
              <a:rPr lang="en" sz="1700"/>
              <a:t>Engagement vs. well-being</a:t>
            </a:r>
            <a:endParaRPr sz="1700"/>
          </a:p>
        </p:txBody>
      </p:sp>
      <p:pic>
        <p:nvPicPr>
          <p:cNvPr id="578" name="Google Shape;57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649" y="1413625"/>
            <a:ext cx="1731200" cy="254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9"/>
          <p:cNvSpPr txBox="1"/>
          <p:nvPr>
            <p:ph type="ctrTitle"/>
          </p:nvPr>
        </p:nvSpPr>
        <p:spPr>
          <a:xfrm>
            <a:off x="713225" y="1042416"/>
            <a:ext cx="70866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Tasks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0"/>
          <p:cNvSpPr txBox="1"/>
          <p:nvPr>
            <p:ph idx="4294967295" type="title"/>
          </p:nvPr>
        </p:nvSpPr>
        <p:spPr>
          <a:xfrm>
            <a:off x="480875" y="6648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storm</a:t>
            </a:r>
            <a:endParaRPr/>
          </a:p>
        </p:txBody>
      </p:sp>
      <p:pic>
        <p:nvPicPr>
          <p:cNvPr id="589" name="Google Shape;589;p60" title="IMG_5069.jpeg"/>
          <p:cNvPicPr preferRelativeResize="0"/>
          <p:nvPr/>
        </p:nvPicPr>
        <p:blipFill rotWithShape="1">
          <a:blip r:embed="rId3">
            <a:alphaModFix/>
          </a:blip>
          <a:srcRect b="18084" l="0" r="0" t="12360"/>
          <a:stretch/>
        </p:blipFill>
        <p:spPr>
          <a:xfrm rot="-5400000">
            <a:off x="2460612" y="613701"/>
            <a:ext cx="4222775" cy="3916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0" name="Google Shape;590;p60"/>
          <p:cNvCxnSpPr/>
          <p:nvPr/>
        </p:nvCxnSpPr>
        <p:spPr>
          <a:xfrm>
            <a:off x="1859625" y="2571750"/>
            <a:ext cx="5668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60"/>
          <p:cNvCxnSpPr/>
          <p:nvPr/>
        </p:nvCxnSpPr>
        <p:spPr>
          <a:xfrm flipH="1" rot="10800000">
            <a:off x="4566899" y="310638"/>
            <a:ext cx="10200" cy="4522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60"/>
          <p:cNvSpPr txBox="1"/>
          <p:nvPr/>
        </p:nvSpPr>
        <p:spPr>
          <a:xfrm>
            <a:off x="3959407" y="4754880"/>
            <a:ext cx="1225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simple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60"/>
          <p:cNvSpPr txBox="1"/>
          <p:nvPr/>
        </p:nvSpPr>
        <p:spPr>
          <a:xfrm>
            <a:off x="3959407" y="-45720"/>
            <a:ext cx="1225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complex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4" name="Google Shape;594;p60"/>
          <p:cNvSpPr txBox="1"/>
          <p:nvPr/>
        </p:nvSpPr>
        <p:spPr>
          <a:xfrm>
            <a:off x="3959407" y="2503600"/>
            <a:ext cx="1225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moderate</a:t>
            </a:r>
            <a:endParaRPr sz="1500">
              <a:solidFill>
                <a:srgbClr val="474747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60"/>
          <p:cNvSpPr txBox="1"/>
          <p:nvPr/>
        </p:nvSpPr>
        <p:spPr>
          <a:xfrm>
            <a:off x="7599300" y="2113200"/>
            <a:ext cx="12252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high priority for user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6" name="Google Shape;596;p60"/>
          <p:cNvSpPr txBox="1"/>
          <p:nvPr/>
        </p:nvSpPr>
        <p:spPr>
          <a:xfrm>
            <a:off x="562950" y="2113200"/>
            <a:ext cx="12252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low priority for user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1"/>
          <p:cNvSpPr txBox="1"/>
          <p:nvPr>
            <p:ph idx="4294967295" type="title"/>
          </p:nvPr>
        </p:nvSpPr>
        <p:spPr>
          <a:xfrm>
            <a:off x="480875" y="6648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storm</a:t>
            </a:r>
            <a:endParaRPr/>
          </a:p>
        </p:txBody>
      </p:sp>
      <p:pic>
        <p:nvPicPr>
          <p:cNvPr id="602" name="Google Shape;602;p61" title="IMG_5069.jpeg"/>
          <p:cNvPicPr preferRelativeResize="0"/>
          <p:nvPr/>
        </p:nvPicPr>
        <p:blipFill rotWithShape="1">
          <a:blip r:embed="rId3">
            <a:alphaModFix/>
          </a:blip>
          <a:srcRect b="18084" l="0" r="0" t="12360"/>
          <a:stretch/>
        </p:blipFill>
        <p:spPr>
          <a:xfrm rot="-5400000">
            <a:off x="2460612" y="613701"/>
            <a:ext cx="4222775" cy="3916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3" name="Google Shape;603;p61"/>
          <p:cNvCxnSpPr/>
          <p:nvPr/>
        </p:nvCxnSpPr>
        <p:spPr>
          <a:xfrm>
            <a:off x="1859625" y="2571750"/>
            <a:ext cx="5668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61"/>
          <p:cNvCxnSpPr/>
          <p:nvPr/>
        </p:nvCxnSpPr>
        <p:spPr>
          <a:xfrm flipH="1" rot="10800000">
            <a:off x="4566899" y="310638"/>
            <a:ext cx="10200" cy="4522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61"/>
          <p:cNvSpPr txBox="1"/>
          <p:nvPr/>
        </p:nvSpPr>
        <p:spPr>
          <a:xfrm>
            <a:off x="3959407" y="4754880"/>
            <a:ext cx="1225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simple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6" name="Google Shape;606;p61"/>
          <p:cNvSpPr txBox="1"/>
          <p:nvPr/>
        </p:nvSpPr>
        <p:spPr>
          <a:xfrm>
            <a:off x="3959407" y="-45720"/>
            <a:ext cx="1225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complex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3959407" y="2503600"/>
            <a:ext cx="1225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moderate</a:t>
            </a:r>
            <a:endParaRPr sz="1500">
              <a:solidFill>
                <a:srgbClr val="474747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61"/>
          <p:cNvSpPr txBox="1"/>
          <p:nvPr/>
        </p:nvSpPr>
        <p:spPr>
          <a:xfrm>
            <a:off x="7599300" y="2113200"/>
            <a:ext cx="12252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igh priority for user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61"/>
          <p:cNvSpPr txBox="1"/>
          <p:nvPr/>
        </p:nvSpPr>
        <p:spPr>
          <a:xfrm>
            <a:off x="562950" y="2113200"/>
            <a:ext cx="12252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low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 priority for user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0" name="Google Shape;61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932385">
            <a:off x="5586477" y="-172922"/>
            <a:ext cx="1959446" cy="1959446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1"/>
          <p:cNvSpPr txBox="1"/>
          <p:nvPr/>
        </p:nvSpPr>
        <p:spPr>
          <a:xfrm>
            <a:off x="7487100" y="760575"/>
            <a:ext cx="14496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3: </a:t>
            </a: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connections to main craft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2" name="Google Shape;61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2903628">
            <a:off x="6067953" y="3726503"/>
            <a:ext cx="1959445" cy="195944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61"/>
          <p:cNvSpPr txBox="1"/>
          <p:nvPr/>
        </p:nvSpPr>
        <p:spPr>
          <a:xfrm>
            <a:off x="7939350" y="4390700"/>
            <a:ext cx="12045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1: Discover inspiration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4" name="Google Shape;61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932385">
            <a:off x="5653240" y="2172153"/>
            <a:ext cx="1959446" cy="195944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61"/>
          <p:cNvSpPr txBox="1"/>
          <p:nvPr/>
        </p:nvSpPr>
        <p:spPr>
          <a:xfrm>
            <a:off x="7553863" y="3105650"/>
            <a:ext cx="14496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2: Create and share crafts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2"/>
          <p:cNvSpPr/>
          <p:nvPr/>
        </p:nvSpPr>
        <p:spPr>
          <a:xfrm>
            <a:off x="669875" y="987250"/>
            <a:ext cx="2261700" cy="34941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SIMPLE</a:t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Discover inspiration</a:t>
            </a:r>
            <a:endParaRPr b="1" sz="19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Find nearby outdoor spots where others have made art</a:t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62"/>
          <p:cNvSpPr/>
          <p:nvPr/>
        </p:nvSpPr>
        <p:spPr>
          <a:xfrm>
            <a:off x="3192000" y="987250"/>
            <a:ext cx="2261700" cy="34941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MODERATE</a:t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Create and share</a:t>
            </a:r>
            <a:endParaRPr b="1" sz="19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Follow a prompt or paint freely, then share what you made</a:t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62"/>
          <p:cNvSpPr/>
          <p:nvPr/>
        </p:nvSpPr>
        <p:spPr>
          <a:xfrm>
            <a:off x="5714125" y="987250"/>
            <a:ext cx="2261700" cy="34941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COMPLEX</a:t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Find connections to main craft</a:t>
            </a:r>
            <a:endParaRPr b="1" sz="19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Find connections across your past “low stress” </a:t>
            </a: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inspiration</a:t>
            </a: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 to shape a new project in your main craft</a:t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/>
          <p:nvPr/>
        </p:nvSpPr>
        <p:spPr>
          <a:xfrm>
            <a:off x="669875" y="987250"/>
            <a:ext cx="2261700" cy="34941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SIMPLE</a:t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Discover inspiration</a:t>
            </a:r>
            <a:endParaRPr b="1" sz="19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Find nearby outdoor spots where others have made art</a:t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8" name="Google Shape;628;p63"/>
          <p:cNvSpPr txBox="1"/>
          <p:nvPr>
            <p:ph idx="4294967295" type="subTitle"/>
          </p:nvPr>
        </p:nvSpPr>
        <p:spPr>
          <a:xfrm>
            <a:off x="3363525" y="2035638"/>
            <a:ext cx="5626800" cy="16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This is simple because it is a focused, introductory goal that requires little prior experience or accumulated work</a:t>
            </a:r>
            <a:endParaRPr sz="1600"/>
          </a:p>
        </p:txBody>
      </p:sp>
      <p:sp>
        <p:nvSpPr>
          <p:cNvPr id="629" name="Google Shape;629;p63"/>
          <p:cNvSpPr txBox="1"/>
          <p:nvPr>
            <p:ph idx="4294967295" type="title"/>
          </p:nvPr>
        </p:nvSpPr>
        <p:spPr>
          <a:xfrm>
            <a:off x="3336475" y="11580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Simple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4"/>
          <p:cNvSpPr txBox="1"/>
          <p:nvPr>
            <p:ph idx="4294967295" type="subTitle"/>
          </p:nvPr>
        </p:nvSpPr>
        <p:spPr>
          <a:xfrm>
            <a:off x="3363525" y="2035638"/>
            <a:ext cx="5626800" cy="16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This is moderate because it extends discovery into a personal contribution, requiring the user to decide what they want to express and share</a:t>
            </a:r>
            <a:endParaRPr sz="1600"/>
          </a:p>
        </p:txBody>
      </p:sp>
      <p:sp>
        <p:nvSpPr>
          <p:cNvPr id="635" name="Google Shape;635;p64"/>
          <p:cNvSpPr txBox="1"/>
          <p:nvPr>
            <p:ph idx="4294967295" type="title"/>
          </p:nvPr>
        </p:nvSpPr>
        <p:spPr>
          <a:xfrm>
            <a:off x="3336475" y="11580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Moderate</a:t>
            </a:r>
            <a:endParaRPr/>
          </a:p>
        </p:txBody>
      </p:sp>
      <p:sp>
        <p:nvSpPr>
          <p:cNvPr id="636" name="Google Shape;636;p64"/>
          <p:cNvSpPr/>
          <p:nvPr/>
        </p:nvSpPr>
        <p:spPr>
          <a:xfrm>
            <a:off x="678800" y="975775"/>
            <a:ext cx="2261700" cy="34941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MODERATE</a:t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Create and share</a:t>
            </a:r>
            <a:endParaRPr b="1" sz="19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Follow a prompt or paint freely, then share what you made</a:t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5"/>
          <p:cNvSpPr txBox="1"/>
          <p:nvPr>
            <p:ph idx="4294967295" type="subTitle"/>
          </p:nvPr>
        </p:nvSpPr>
        <p:spPr>
          <a:xfrm>
            <a:off x="3363525" y="2035638"/>
            <a:ext cx="5626800" cy="16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This is complex because it involves drawing meaning from multiple previous experiences and bringing those connections into an ongoing creative practice, making it most relevant to returning, experienced users</a:t>
            </a:r>
            <a:endParaRPr sz="1600"/>
          </a:p>
        </p:txBody>
      </p:sp>
      <p:sp>
        <p:nvSpPr>
          <p:cNvPr id="642" name="Google Shape;642;p65"/>
          <p:cNvSpPr txBox="1"/>
          <p:nvPr>
            <p:ph idx="4294967295" type="title"/>
          </p:nvPr>
        </p:nvSpPr>
        <p:spPr>
          <a:xfrm>
            <a:off x="3336475" y="11580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Complex</a:t>
            </a:r>
            <a:endParaRPr/>
          </a:p>
        </p:txBody>
      </p:sp>
      <p:sp>
        <p:nvSpPr>
          <p:cNvPr id="643" name="Google Shape;643;p65"/>
          <p:cNvSpPr/>
          <p:nvPr/>
        </p:nvSpPr>
        <p:spPr>
          <a:xfrm>
            <a:off x="678800" y="975775"/>
            <a:ext cx="2261700" cy="34941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COMPLEX</a:t>
            </a:r>
            <a:endParaRPr b="1"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Find connections to main craft</a:t>
            </a:r>
            <a:endParaRPr b="1" sz="19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Find connections across your past “low stress” inspiration to shape a new project in your main craft</a:t>
            </a:r>
            <a:endParaRPr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6"/>
          <p:cNvSpPr txBox="1"/>
          <p:nvPr>
            <p:ph type="ctrTitle"/>
          </p:nvPr>
        </p:nvSpPr>
        <p:spPr>
          <a:xfrm>
            <a:off x="713225" y="1042416"/>
            <a:ext cx="70866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Storyboard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67" title="Screenshot 2026-10-11 at 9.25.25 AM.png"/>
          <p:cNvPicPr preferRelativeResize="0"/>
          <p:nvPr/>
        </p:nvPicPr>
        <p:blipFill rotWithShape="1">
          <a:blip r:embed="rId3">
            <a:alphaModFix/>
          </a:blip>
          <a:srcRect b="0" l="1235" r="0" t="12511"/>
          <a:stretch/>
        </p:blipFill>
        <p:spPr>
          <a:xfrm>
            <a:off x="908700" y="1716650"/>
            <a:ext cx="7436150" cy="210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7"/>
          <p:cNvSpPr txBox="1"/>
          <p:nvPr/>
        </p:nvSpPr>
        <p:spPr>
          <a:xfrm>
            <a:off x="1016000" y="546100"/>
            <a:ext cx="711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[ task 1 · simple ]</a:t>
            </a:r>
            <a:endParaRPr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Discover an inspiring spot</a:t>
            </a:r>
            <a:endParaRPr b="1" sz="22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67"/>
          <p:cNvSpPr txBox="1"/>
          <p:nvPr/>
        </p:nvSpPr>
        <p:spPr>
          <a:xfrm>
            <a:off x="993588" y="1527744"/>
            <a:ext cx="6858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A7A7A"/>
                </a:solidFill>
                <a:latin typeface="Lexend"/>
                <a:ea typeface="Lexend"/>
                <a:cs typeface="Lexend"/>
                <a:sym typeface="Lexend"/>
              </a:rPr>
              <a:t>[ mood shift ]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  stressed → curious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67"/>
          <p:cNvSpPr txBox="1"/>
          <p:nvPr/>
        </p:nvSpPr>
        <p:spPr>
          <a:xfrm>
            <a:off x="801275" y="393700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Pressure to produce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67"/>
          <p:cNvSpPr txBox="1"/>
          <p:nvPr/>
        </p:nvSpPr>
        <p:spPr>
          <a:xfrm>
            <a:off x="3468275" y="393700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Tunnel </a:t>
            </a: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vision </a:t>
            </a: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routine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67"/>
          <p:cNvSpPr txBox="1"/>
          <p:nvPr/>
        </p:nvSpPr>
        <p:spPr>
          <a:xfrm>
            <a:off x="6135275" y="393700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A spark of discovery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8"/>
          <p:cNvSpPr txBox="1"/>
          <p:nvPr/>
        </p:nvSpPr>
        <p:spPr>
          <a:xfrm>
            <a:off x="1016000" y="546100"/>
            <a:ext cx="711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[ task 1 · simple ]</a:t>
            </a:r>
            <a:endParaRPr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Discover an inspiring spot</a:t>
            </a:r>
            <a:endParaRPr b="1" sz="22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4" name="Google Shape;664;p68"/>
          <p:cNvSpPr txBox="1"/>
          <p:nvPr/>
        </p:nvSpPr>
        <p:spPr>
          <a:xfrm>
            <a:off x="993601" y="1527783"/>
            <a:ext cx="75099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Camera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: Close-ups of frustration, wide shots of the workspace, and outdoor walking shots.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Transitions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: Cuts from the indoor workspace to the outdoor environment.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Actions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: The character struggles with creative work, leaves the workspace, and encounters an inspiring outdoor setting.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Visual effec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t: Muted indoor scenes contrast with brighter outdoor scenes.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69" title="Screenshot 2026-10-11 at 9.24.01 AM.png"/>
          <p:cNvPicPr preferRelativeResize="0"/>
          <p:nvPr/>
        </p:nvPicPr>
        <p:blipFill rotWithShape="1">
          <a:blip r:embed="rId3">
            <a:alphaModFix/>
          </a:blip>
          <a:srcRect b="7437" l="0" r="0" t="3389"/>
          <a:stretch/>
        </p:blipFill>
        <p:spPr>
          <a:xfrm>
            <a:off x="569413" y="2097325"/>
            <a:ext cx="7855225" cy="19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9"/>
          <p:cNvSpPr txBox="1"/>
          <p:nvPr/>
        </p:nvSpPr>
        <p:spPr>
          <a:xfrm>
            <a:off x="1016000" y="546100"/>
            <a:ext cx="711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[ task 2 · moderate ]</a:t>
            </a:r>
            <a:endParaRPr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Create freely and share</a:t>
            </a:r>
            <a:endParaRPr b="1" sz="22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69"/>
          <p:cNvSpPr txBox="1"/>
          <p:nvPr/>
        </p:nvSpPr>
        <p:spPr>
          <a:xfrm>
            <a:off x="713213" y="1541275"/>
            <a:ext cx="6858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A7A7A"/>
                </a:solidFill>
                <a:latin typeface="Lexend"/>
                <a:ea typeface="Lexend"/>
                <a:cs typeface="Lexend"/>
                <a:sym typeface="Lexend"/>
              </a:rPr>
              <a:t>[ mood shift ]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  curious → inspired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69"/>
          <p:cNvSpPr txBox="1"/>
          <p:nvPr/>
        </p:nvSpPr>
        <p:spPr>
          <a:xfrm>
            <a:off x="764088" y="414170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Art invites her in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69"/>
          <p:cNvSpPr txBox="1"/>
          <p:nvPr/>
        </p:nvSpPr>
        <p:spPr>
          <a:xfrm>
            <a:off x="3431088" y="414170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Permission to play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69"/>
          <p:cNvSpPr txBox="1"/>
          <p:nvPr/>
        </p:nvSpPr>
        <p:spPr>
          <a:xfrm>
            <a:off x="6098088" y="414170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Making for herself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0"/>
          <p:cNvSpPr txBox="1"/>
          <p:nvPr/>
        </p:nvSpPr>
        <p:spPr>
          <a:xfrm>
            <a:off x="1016000" y="546100"/>
            <a:ext cx="711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[ task 2 · moderate ]</a:t>
            </a:r>
            <a:endParaRPr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Create freely and share</a:t>
            </a:r>
            <a:endParaRPr b="1" sz="22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0" name="Google Shape;680;p70"/>
          <p:cNvSpPr txBox="1"/>
          <p:nvPr/>
        </p:nvSpPr>
        <p:spPr>
          <a:xfrm>
            <a:off x="713227" y="1541275"/>
            <a:ext cx="7823100" cy="29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Camera: 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Close-ups of the sketchbook and hands, followed by medium shots in the fashion workspace.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Transitions: 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Cuts from outdoor sketching to indoor fashion design.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Actions: 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The character draws inspiration from her surroundings and incorporates ideas into a dress.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Visual effect: 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The outdoor discovery becomes a tangible fashion creation.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71" title="Screenshot 2026-10-11 at 9.24.37 AM.png"/>
          <p:cNvPicPr preferRelativeResize="0"/>
          <p:nvPr/>
        </p:nvPicPr>
        <p:blipFill rotWithShape="1">
          <a:blip r:embed="rId3">
            <a:alphaModFix/>
          </a:blip>
          <a:srcRect b="0" l="0" r="0" t="3354"/>
          <a:stretch/>
        </p:blipFill>
        <p:spPr>
          <a:xfrm>
            <a:off x="609275" y="1994750"/>
            <a:ext cx="7624375" cy="17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71"/>
          <p:cNvSpPr txBox="1"/>
          <p:nvPr/>
        </p:nvSpPr>
        <p:spPr>
          <a:xfrm>
            <a:off x="1016000" y="546100"/>
            <a:ext cx="711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[ task 3 · complex ]</a:t>
            </a:r>
            <a:endParaRPr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Find connections between the “low stress” inspiration and main craft</a:t>
            </a:r>
            <a:endParaRPr b="1" sz="22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71"/>
          <p:cNvSpPr txBox="1"/>
          <p:nvPr/>
        </p:nvSpPr>
        <p:spPr>
          <a:xfrm>
            <a:off x="664563" y="1550153"/>
            <a:ext cx="6858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A7A7A"/>
                </a:solidFill>
                <a:latin typeface="Lexend"/>
                <a:ea typeface="Lexend"/>
                <a:cs typeface="Lexend"/>
                <a:sym typeface="Lexend"/>
              </a:rPr>
              <a:t>[ mood shift ]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inspired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 → empowered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8" name="Google Shape;688;p71"/>
          <p:cNvSpPr txBox="1"/>
          <p:nvPr/>
        </p:nvSpPr>
        <p:spPr>
          <a:xfrm>
            <a:off x="664563" y="382495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Share her work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71"/>
          <p:cNvSpPr txBox="1"/>
          <p:nvPr/>
        </p:nvSpPr>
        <p:spPr>
          <a:xfrm>
            <a:off x="3101675" y="382495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Revisit her “low stress” creative explorations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0" name="Google Shape;690;p71"/>
          <p:cNvSpPr txBox="1"/>
          <p:nvPr/>
        </p:nvSpPr>
        <p:spPr>
          <a:xfrm>
            <a:off x="5823013" y="3824950"/>
            <a:ext cx="247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Connect the “</a:t>
            </a: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low stress”</a:t>
            </a:r>
            <a:r>
              <a:rPr b="1" lang="en" sz="13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” inspiration to her fashion</a:t>
            </a:r>
            <a:endParaRPr b="1" sz="13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2"/>
          <p:cNvSpPr txBox="1"/>
          <p:nvPr/>
        </p:nvSpPr>
        <p:spPr>
          <a:xfrm>
            <a:off x="1016000" y="546100"/>
            <a:ext cx="711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E6E6E"/>
                </a:solidFill>
                <a:latin typeface="Lexend"/>
                <a:ea typeface="Lexend"/>
                <a:cs typeface="Lexend"/>
                <a:sym typeface="Lexend"/>
              </a:rPr>
              <a:t>[ task 3 · complex ]</a:t>
            </a:r>
            <a:endParaRPr sz="1100">
              <a:solidFill>
                <a:srgbClr val="6E6E6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12121"/>
                </a:solidFill>
                <a:latin typeface="Lexend"/>
                <a:ea typeface="Lexend"/>
                <a:cs typeface="Lexend"/>
                <a:sym typeface="Lexend"/>
              </a:rPr>
              <a:t>Find connections between the “low stress” inspiration and main craft</a:t>
            </a:r>
            <a:endParaRPr b="1" sz="2200">
              <a:solidFill>
                <a:srgbClr val="21212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72"/>
          <p:cNvSpPr txBox="1"/>
          <p:nvPr/>
        </p:nvSpPr>
        <p:spPr>
          <a:xfrm>
            <a:off x="664577" y="1550134"/>
            <a:ext cx="7940700" cy="29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Camera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: Close-ups of the character drawing, sewing, and handling photographs; wide shot of the outdoor art display.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Transitions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: Cuts between creative activities, ending with a reveal of photographs displayed outdoors.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Actions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: The character sketches, develops her fashion design, and shares the finished creative journey through displayed images.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Visual effect</a:t>
            </a:r>
            <a:r>
              <a:rPr lang="en" sz="1500">
                <a:solidFill>
                  <a:srgbClr val="474747"/>
                </a:solidFill>
                <a:latin typeface="Lexend"/>
                <a:ea typeface="Lexend"/>
                <a:cs typeface="Lexend"/>
                <a:sym typeface="Lexend"/>
              </a:rPr>
              <a:t>: The final outdoor display reconnects her creative work with the original location.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3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CONCEPT VIDEO</a:t>
            </a:r>
            <a:endParaRPr/>
          </a:p>
        </p:txBody>
      </p:sp>
      <p:pic>
        <p:nvPicPr>
          <p:cNvPr id="702" name="Google Shape;702;p73" title="etch commercial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451" y="1224900"/>
            <a:ext cx="6165100" cy="346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4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CONCEPT VIDEO</a:t>
            </a:r>
            <a:endParaRPr/>
          </a:p>
        </p:txBody>
      </p:sp>
      <p:sp>
        <p:nvSpPr>
          <p:cNvPr id="708" name="Google Shape;708;p74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https://www.youtube.com/watch?v=fZAmPD2v1Gg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Task 1: </a:t>
            </a:r>
            <a:r>
              <a:rPr lang="en" sz="1600"/>
              <a:t>Discover Inspiration (occurs at </a:t>
            </a:r>
            <a:r>
              <a:rPr lang="en" sz="1600">
                <a:highlight>
                  <a:srgbClr val="FFF2CC"/>
                </a:highlight>
              </a:rPr>
              <a:t>0:40</a:t>
            </a:r>
            <a:r>
              <a:rPr lang="en" sz="1600"/>
              <a:t> timestamp)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Task 2:</a:t>
            </a:r>
            <a:r>
              <a:rPr lang="en" sz="1600"/>
              <a:t> Create and Share (occurs at </a:t>
            </a:r>
            <a:r>
              <a:rPr lang="en" sz="1600">
                <a:highlight>
                  <a:srgbClr val="FFF2CC"/>
                </a:highlight>
              </a:rPr>
              <a:t>1:28</a:t>
            </a:r>
            <a:r>
              <a:rPr lang="en" sz="1600"/>
              <a:t> timestamp)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Task 3: </a:t>
            </a:r>
            <a:r>
              <a:rPr lang="en" sz="1600"/>
              <a:t>Find Connections to Main Craft (occurs at </a:t>
            </a:r>
            <a:r>
              <a:rPr lang="en" sz="1600">
                <a:highlight>
                  <a:srgbClr val="FFF2CC"/>
                </a:highlight>
              </a:rPr>
              <a:t>1:10</a:t>
            </a:r>
            <a:r>
              <a:rPr lang="en" sz="1600"/>
              <a:t> timestamp)</a:t>
            </a:r>
            <a:endParaRPr sz="1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5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 &amp; Music Design</a:t>
            </a:r>
            <a:endParaRPr/>
          </a:p>
        </p:txBody>
      </p:sp>
      <p:sp>
        <p:nvSpPr>
          <p:cNvPr id="714" name="Google Shape;714;p75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Opening (Loss of Inspiration):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Steve Lacy's Oh Yeah? starts slowly, creating feelings of sadness and nostalgia.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music reflects how the character misses the excitement and joy she once felt when creating.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slower pace highlights her frustration and lack of inspiration.</a:t>
            </a:r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6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 &amp; Music Design</a:t>
            </a:r>
            <a:endParaRPr/>
          </a:p>
        </p:txBody>
      </p:sp>
      <p:sp>
        <p:nvSpPr>
          <p:cNvPr id="720" name="Google Shape;720;p76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Turning Point (Finding Inspiration):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As the character discovers the outdoor artwork and removes her headphones, the music fades out.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Birds chirping and nature sounds replace the music, helping the audience focus on her surroundings.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shift shows her beginning to notice the beauty around her and feel inspired again.</a:t>
            </a:r>
            <a:endParaRPr sz="16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7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 &amp; Music Design</a:t>
            </a:r>
            <a:endParaRPr/>
          </a:p>
        </p:txBody>
      </p:sp>
      <p:sp>
        <p:nvSpPr>
          <p:cNvPr id="726" name="Google Shape;726;p77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Resolution (Joy of Creating):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music gradually returns, becoming louder and more upbeat as she starts creating again.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happier, more energetic part of the song matches her growing excitement and confidence.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change in music reflects how creating has become fun again rather than something stressful.</a:t>
            </a:r>
            <a:endParaRPr sz="16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8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Acting &amp; Character Emotions</a:t>
            </a:r>
            <a:endParaRPr/>
          </a:p>
        </p:txBody>
      </p:sp>
      <p:sp>
        <p:nvSpPr>
          <p:cNvPr id="732" name="Google Shape;732;p78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Opening (Frustration):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character throws papers, flips through books, and struggles to find ideas.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Her tired expressions, wandering eyes, and slow movements show boredom and frustration.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These actions emphasize how creativity has started to feel like a chore.</a:t>
            </a:r>
            <a:endParaRPr sz="1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9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Acting &amp; Character Emotions</a:t>
            </a:r>
            <a:endParaRPr/>
          </a:p>
        </p:txBody>
      </p:sp>
      <p:sp>
        <p:nvSpPr>
          <p:cNvPr id="738" name="Google Shape;738;p79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Turning Point (Curiosity):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She notices the outdoor artwork and stops to look.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Her expression changes from tired to surprised as she explores the display.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Seeing someone else create art sparks her own excitement.</a:t>
            </a:r>
            <a:endParaRPr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0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Acting &amp; Character Emotions</a:t>
            </a:r>
            <a:endParaRPr/>
          </a:p>
        </p:txBody>
      </p:sp>
      <p:sp>
        <p:nvSpPr>
          <p:cNvPr id="744" name="Google Shape;744;p80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Ending (Renewed Joy):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She returns to the design workspace with more energy and excitement.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Instead of struggling, she begins working on her dress with confidence.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contrast shows how she has rediscovered the joy of creating.</a:t>
            </a:r>
            <a:endParaRPr sz="1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81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Camera Angles &amp; Framing</a:t>
            </a:r>
            <a:endParaRPr/>
          </a:p>
        </p:txBody>
      </p:sp>
      <p:sp>
        <p:nvSpPr>
          <p:cNvPr id="750" name="Google Shape;750;p81"/>
          <p:cNvSpPr txBox="1"/>
          <p:nvPr>
            <p:ph idx="1" type="subTitle"/>
          </p:nvPr>
        </p:nvSpPr>
        <p:spPr>
          <a:xfrm>
            <a:off x="713225" y="1224900"/>
            <a:ext cx="7606800" cy="3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Close-Up Shots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Capture her facial expressions to emphasize frustration, surprise, and happiness.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Highlight small actions like flipping pages, pulling out sketching tools, and drawing.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Wide Shots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Establish the dull indoor workspace and the bright outdoor environment.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Zoom out to reveal the full artwork display and show its impact on her.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Over-the-Shoulder Shots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Show the artwork from her perspective as she approaches the display.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Help the audience experience the discovery alongside her.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Camera Movement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Follow her as she walks toward the artwork to build curiosity.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Move between wide shots and close-ups to show both the environment and what catches her attention.</a:t>
            </a:r>
            <a:endParaRPr sz="13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2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Wardrobe &amp; Color Grading</a:t>
            </a:r>
            <a:endParaRPr/>
          </a:p>
        </p:txBody>
      </p:sp>
      <p:sp>
        <p:nvSpPr>
          <p:cNvPr id="756" name="Google Shape;756;p82"/>
          <p:cNvSpPr txBox="1"/>
          <p:nvPr>
            <p:ph idx="1" type="subTitle"/>
          </p:nvPr>
        </p:nvSpPr>
        <p:spPr>
          <a:xfrm>
            <a:off x="713225" y="1224900"/>
            <a:ext cx="7606800" cy="3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Opening (Dull Colors)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Gray and black clothing reflect her tired and uninspired mood.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Muted colors make the workspace feel repetitive and unexciting.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Transition (Changing Mood)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As she discovers the artwork, the outdoor environment introduces brighter colors.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The visual change reflects her growing curiosity and excitement.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Ending (Vibrant Colors)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She wears a bright red shirt when she returns to the design workspace.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The brighter outfit reflects her renewed energy and happiness.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More vibrant color grading reinforces the contrast between the beginning and ending.</a:t>
            </a:r>
            <a:endParaRPr sz="15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3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Scene Transitions &amp; Storytelling</a:t>
            </a:r>
            <a:endParaRPr/>
          </a:p>
        </p:txBody>
      </p:sp>
      <p:sp>
        <p:nvSpPr>
          <p:cNvPr id="762" name="Google Shape;762;p83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Beginning and Ending Full Circle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video begins and ends in the same design workspace.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Initially, she struggles to create; by the end, she is excited to work on her dress.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Returning to the same setting highlights how her mindset has changed.</a:t>
            </a:r>
            <a:endParaRPr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4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Scene Transitions &amp; Storytelling</a:t>
            </a:r>
            <a:endParaRPr/>
          </a:p>
        </p:txBody>
      </p:sp>
      <p:sp>
        <p:nvSpPr>
          <p:cNvPr id="768" name="Google Shape;768;p84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Artwork Display Connecting the Story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outdoor photographs introduce her to other people's creative experiences.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She finds inspiration in their work and begins creating something of her own.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ending connects her creation back to the outdoor display, completing the creative journey.</a:t>
            </a:r>
            <a:endParaRPr sz="1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5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Scene Transitions &amp; Storytelling</a:t>
            </a:r>
            <a:endParaRPr/>
          </a:p>
        </p:txBody>
      </p:sp>
      <p:sp>
        <p:nvSpPr>
          <p:cNvPr id="774" name="Google Shape;774;p85"/>
          <p:cNvSpPr txBox="1"/>
          <p:nvPr>
            <p:ph idx="1" type="subTitle"/>
          </p:nvPr>
        </p:nvSpPr>
        <p:spPr>
          <a:xfrm>
            <a:off x="713225" y="1494750"/>
            <a:ext cx="76068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Sketching Showing the Solution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Close-ups show her pulling out the notebook-style phone accessory and beginning to draw.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Tearing out a page and continuing her work demonstrates how easily creativity can fit into everyday life.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These moments show the value of the product through her actions rather than relying on a detailed interface.</a:t>
            </a:r>
            <a:endParaRPr sz="16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86"/>
          <p:cNvSpPr txBox="1"/>
          <p:nvPr>
            <p:ph type="ctrTitle"/>
          </p:nvPr>
        </p:nvSpPr>
        <p:spPr>
          <a:xfrm>
            <a:off x="713225" y="1042416"/>
            <a:ext cx="70866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Mega Black"/>
                <a:ea typeface="Lexend Mega Black"/>
                <a:cs typeface="Lexend Mega Black"/>
                <a:sym typeface="Lexend Mega Black"/>
              </a:rPr>
              <a:t>APPENDIX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87" title="IMG_499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865" y="2411981"/>
            <a:ext cx="2829000" cy="212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87" title="IMG_4984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25" y="1268600"/>
            <a:ext cx="2686679" cy="2014998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87"/>
          <p:cNvSpPr txBox="1"/>
          <p:nvPr>
            <p:ph idx="4294967295"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VIDEO </a:t>
            </a:r>
            <a:r>
              <a:rPr lang="en"/>
              <a:t>BRAINSTORMING</a:t>
            </a:r>
            <a:endParaRPr/>
          </a:p>
        </p:txBody>
      </p:sp>
      <p:pic>
        <p:nvPicPr>
          <p:cNvPr id="787" name="Google Shape;787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978299">
            <a:off x="3072941" y="1388882"/>
            <a:ext cx="2785476" cy="278548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87"/>
          <p:cNvSpPr txBox="1"/>
          <p:nvPr/>
        </p:nvSpPr>
        <p:spPr>
          <a:xfrm>
            <a:off x="6291225" y="3719600"/>
            <a:ext cx="20208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ey piece of inspiration for our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concept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video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9" name="Google Shape;789;p87" title="Screenshot 2026-10-15 at 11.50.0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7600" y="1523275"/>
            <a:ext cx="3188055" cy="212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88" title="IMG_500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100" y="1224900"/>
            <a:ext cx="4387794" cy="329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88" title="IMG_4999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100" y="1224900"/>
            <a:ext cx="2468099" cy="3290793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88"/>
          <p:cNvSpPr txBox="1"/>
          <p:nvPr>
            <p:ph idx="4294967295"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VIDEO BRAINSTORMING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9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STORYBOARD</a:t>
            </a:r>
            <a:endParaRPr/>
          </a:p>
        </p:txBody>
      </p:sp>
      <p:pic>
        <p:nvPicPr>
          <p:cNvPr id="802" name="Google Shape;802;p89" title="Screenshot 2026-10-11 at 9.23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875" y="652201"/>
            <a:ext cx="5199625" cy="39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89"/>
          <p:cNvSpPr txBox="1"/>
          <p:nvPr/>
        </p:nvSpPr>
        <p:spPr>
          <a:xfrm>
            <a:off x="503813" y="2074719"/>
            <a:ext cx="6858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A7A7A"/>
                </a:solidFill>
                <a:latin typeface="Lexend"/>
                <a:ea typeface="Lexend"/>
                <a:cs typeface="Lexend"/>
                <a:sym typeface="Lexend"/>
              </a:rPr>
              <a:t>[condensed]</a:t>
            </a:r>
            <a:endParaRPr sz="1500">
              <a:solidFill>
                <a:srgbClr val="47474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90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VIDEO SHOOTING</a:t>
            </a:r>
            <a:endParaRPr/>
          </a:p>
        </p:txBody>
      </p:sp>
      <p:pic>
        <p:nvPicPr>
          <p:cNvPr id="809" name="Google Shape;809;p90" title="IMG_6944.jpg"/>
          <p:cNvPicPr preferRelativeResize="0"/>
          <p:nvPr/>
        </p:nvPicPr>
        <p:blipFill rotWithShape="1">
          <a:blip r:embed="rId3">
            <a:alphaModFix/>
          </a:blip>
          <a:srcRect b="0" l="32042" r="0" t="0"/>
          <a:stretch/>
        </p:blipFill>
        <p:spPr>
          <a:xfrm>
            <a:off x="2657475" y="1454450"/>
            <a:ext cx="3009626" cy="328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90" title="IMG_694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850" y="2536143"/>
            <a:ext cx="3194723" cy="235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90" title="IMG_694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825" y="1185725"/>
            <a:ext cx="1997907" cy="341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1"/>
          <p:cNvSpPr txBox="1"/>
          <p:nvPr>
            <p:ph type="title"/>
          </p:nvPr>
        </p:nvSpPr>
        <p:spPr>
          <a:xfrm>
            <a:off x="503825" y="652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VIDEO SHOOTING</a:t>
            </a:r>
            <a:endParaRPr/>
          </a:p>
        </p:txBody>
      </p:sp>
      <p:pic>
        <p:nvPicPr>
          <p:cNvPr id="817" name="Google Shape;817;p91" title="IMG_4926 2.jpeg"/>
          <p:cNvPicPr preferRelativeResize="0"/>
          <p:nvPr/>
        </p:nvPicPr>
        <p:blipFill rotWithShape="1">
          <a:blip r:embed="rId3">
            <a:alphaModFix/>
          </a:blip>
          <a:srcRect b="0" l="22070" r="0" t="0"/>
          <a:stretch/>
        </p:blipFill>
        <p:spPr>
          <a:xfrm>
            <a:off x="503825" y="1185725"/>
            <a:ext cx="1997898" cy="341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91" title="IMG_4933 2.jpeg"/>
          <p:cNvPicPr preferRelativeResize="0"/>
          <p:nvPr/>
        </p:nvPicPr>
        <p:blipFill rotWithShape="1">
          <a:blip r:embed="rId4">
            <a:alphaModFix/>
          </a:blip>
          <a:srcRect b="18227" l="0" r="0" t="0"/>
          <a:stretch/>
        </p:blipFill>
        <p:spPr>
          <a:xfrm>
            <a:off x="2657475" y="1454451"/>
            <a:ext cx="3009627" cy="328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91" title="IMG_4931 2.jpeg"/>
          <p:cNvPicPr preferRelativeResize="0"/>
          <p:nvPr/>
        </p:nvPicPr>
        <p:blipFill rotWithShape="1">
          <a:blip r:embed="rId5">
            <a:alphaModFix/>
          </a:blip>
          <a:srcRect b="0" l="0" r="6994" t="8408"/>
          <a:stretch/>
        </p:blipFill>
        <p:spPr>
          <a:xfrm>
            <a:off x="5822850" y="2536150"/>
            <a:ext cx="3194726" cy="235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527403">
            <a:off x="5580552" y="1047327"/>
            <a:ext cx="1959446" cy="1959446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91"/>
          <p:cNvSpPr txBox="1"/>
          <p:nvPr/>
        </p:nvSpPr>
        <p:spPr>
          <a:xfrm>
            <a:off x="7452375" y="1517625"/>
            <a:ext cx="1449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ardrobe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91"/>
          <p:cNvSpPr txBox="1"/>
          <p:nvPr/>
        </p:nvSpPr>
        <p:spPr>
          <a:xfrm>
            <a:off x="6958125" y="1786275"/>
            <a:ext cx="199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Lexend"/>
                <a:ea typeface="Lexend"/>
                <a:cs typeface="Lexend"/>
                <a:sym typeface="Lexend"/>
              </a:rPr>
              <a:t>dull -&gt; bright clothing color intentional to match the concept video mood switch</a:t>
            </a:r>
            <a:endParaRPr sz="1000">
              <a:solidFill>
                <a:schemeClr val="accent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MART Goals Meeting by Slidesgo">
  <a:themeElements>
    <a:clrScheme name="Simple Light">
      <a:dk1>
        <a:srgbClr val="232323"/>
      </a:dk1>
      <a:lt1>
        <a:srgbClr val="FBFBFB"/>
      </a:lt1>
      <a:dk2>
        <a:srgbClr val="3280AE"/>
      </a:dk2>
      <a:lt2>
        <a:srgbClr val="E45A35"/>
      </a:lt2>
      <a:accent1>
        <a:srgbClr val="E9B545"/>
      </a:accent1>
      <a:accent2>
        <a:srgbClr val="61B6A1"/>
      </a:accent2>
      <a:accent3>
        <a:srgbClr val="8CB847"/>
      </a:accent3>
      <a:accent4>
        <a:srgbClr val="F1F1F1"/>
      </a:accent4>
      <a:accent5>
        <a:srgbClr val="E0E0E0"/>
      </a:accent5>
      <a:accent6>
        <a:srgbClr val="838383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