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ctorstock.com/royalty-free-vector/art-craft-supplies-sketch-vector-60412814"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barabove.com/what-is-craft/"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vecteezy.com/free-png/curved-arrow"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6d8d1a61b9a55fe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6d8d1a61b9a55fe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credit: </a:t>
            </a:r>
            <a:r>
              <a:rPr lang="en" u="sng">
                <a:solidFill>
                  <a:schemeClr val="hlink"/>
                </a:solidFill>
                <a:hlinkClick r:id="rId2"/>
              </a:rPr>
              <a:t>https://www.vectorstock.com/royalty-free-vector/art-craft-supplies-sketch-vector-60412814</a:t>
            </a:r>
            <a:endParaRPr/>
          </a:p>
          <a:p>
            <a:pPr indent="0" lvl="0" marL="0" rtl="0" algn="l">
              <a:spcBef>
                <a:spcPts val="0"/>
              </a:spcBef>
              <a:spcAft>
                <a:spcPts val="0"/>
              </a:spcAft>
              <a:buNone/>
            </a:pPr>
            <a:r>
              <a:rPr lang="en"/>
              <a:t>Hi! We’re team whimsy! And the domain we chose for meaningful work is crafts!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6d8d1a61b9a55fe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6d8d1a61b9a55fe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 Jia, this is Elsa, Ahyan, and Kelly. And we’re a team that blends a mix of technical and design backgrounds.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h6d8d1a61b9a55fe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h6d8d1a61b9a55fe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credit: </a:t>
            </a:r>
            <a:r>
              <a:rPr lang="en" u="sng">
                <a:solidFill>
                  <a:schemeClr val="hlink"/>
                </a:solidFill>
                <a:hlinkClick r:id="rId2"/>
              </a:rPr>
              <a:t>https://abarabove.com/what-is-craft/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how do we define craft. Craft can be very broad, it could range from crocheting, woodworking, baking, and so forth. Craft is what is defined by the crafter. But for the sake of scoping, we wanted to define craft as an activity where…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6d8d1a61b9a55fe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h6d8d1a61b9a55fe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Arrows: </a:t>
            </a:r>
            <a:r>
              <a:rPr lang="en" u="sng">
                <a:solidFill>
                  <a:schemeClr val="hlink"/>
                </a:solidFill>
                <a:hlinkClick r:id="rId2"/>
              </a:rPr>
              <a:t>https://www.vecteezy.com/free-png/curved-arrow</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There’s a sense of ownership. For example, the ikea effect, where consumers place higher value on things they make themselves. When there’s an outcome unique from the original sources. Like when you mix dry and wet ingredients together and then you get a cake. When there’s a level of effort involved in creating the outcome, whether it’s time or money. And when there’s intrinsic motivation rather, even if their craft is their profession, they still </a:t>
            </a:r>
            <a:r>
              <a:rPr b="1" lang="en"/>
              <a:t>chose </a:t>
            </a:r>
            <a:r>
              <a:rPr lang="en"/>
              <a:t>to do it.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all the ways we were able to slice and interrogate craft, its richness drew us to choose it as our domain.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we went out into the real world to find crafters! But there are so many types of crafters, and we wanted to make sure we had diversity in our interviewees.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h6d8d1a61b9a55fe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h6d8d1a61b9a55fe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 sought interviewees from a range of experiences. From Beginners to masters. There’s even a financial spectrum for crafts. Some people invest 6 figures into crafts like glass blowing, or they can pick up simple materials for crocheting at Michael’s. There are crafters who work on their craft everyday, and some who take breaks fo periods of months. And there’s also a skill barrier of entry. For example, beginner painting requires paintbrushes, a canvas, paint, but beginner ceramics requires access to a kiln, glay, wheels to wheel throw, tools,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By defining these axes, we were able to define…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6d8d1a61b9a55fe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h6d8d1a61b9a55fe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extreme users as crafters who fall under the end of at least one of our axis’. This is because, if a crafter falls under the end of one of these, then that crafter has developed and sustained a deep relationship with a craft. It’s impossible to be on the end of these axis’ otherwise.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6d8d1a61b9a55fe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6d8d1a61b9a55fe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recruited at Palo Alto's Great Glass Pumpkin Patch because of its inherent crafter density and diversity. Crafters demonstrate and sell their craft right next to non-crafters or even different crafters just browsing or buying. It allowed us to observe crafters at all stages of the craft process (collecting inspiration, crafting on site, evaluating craft) and attendees, having attended for craft, were naturally excited to discuss craft.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6d8d1a61b9a55fe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6d8d1a61b9a55fe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(Elsa) We met people with very different relationships to craft: Eddy, an admirer beginning to make; Dylan, a hobbyist creating to unwind and connect; Rosa, an experienced crafter becoming a beginner again; Ken, a professional protecting room for play; Manny, a glass artist who teaches and performs; and Noah, an artist balancing livelihood and discovery.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d9a8ab77919e2e8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hd9a8ab77919e2e8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(Elsa) We met people with very different relationships to craft: Eddy, an admirer beginning to make; Dylan, a hobbyist creating to unwind and connect; Rosa, an experienced crafter becoming a beginner again; Ken, a professional protecting room for play; Manny, a glass artist who teaches and performs; and Noah, an artist balancing livelihood and discovery.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h6d8d1a61b9a55fe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h6d8d1a61b9a55fe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began with the big picture, tell us about your craft, allowing us to zoom in on the fine grained details of the craft making process itself. As we generated inferences and insights in real time, we carefully shared these with our interviewees so they could validate or redirect us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6d8d1a61b9a55fea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h6d8d1a61b9a55fea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(Elsa) Eddy is a recently retired software professional who has admired glass for decades. He describes making as an opportunity for something new and fun. Yet he still sees himself as transitioning from appreciating glass to becoming a maker.</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h6d8d1a61b9a55fea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h6d8d1a61b9a55fea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h6d8d1a61b9a55fe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h6d8d1a61b9a55fea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(Elsa) What surprised us was the difference between contexts. Eddy has tried glassblowing while traveling, but is still following the local class offerings without signing up. This suggests interest alone is not the missing ingredient. We want to understand what makes a one-off experience easier to enter than an ongoing practice.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6d8d1a61b9a55fe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h6d8d1a61b9a55fe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(Elsa) Our interpretation is that travel may frame crafting as a temporary adventure rather than a commitment to becoming good at it. Calling himself a beginner may similarly leave room to explore without measuring his work against the masters he admires. His need is not simply more class offerings, it may be a way to bring that low-pressure invitation into everyday life.</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6d8d1a61b9a55fe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h6d8d1a61b9a55fea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(Elsa) Rosa is a retired nurse with decades of knitting experience who makes quilts for children through a charity. Yet she deliberately became a beginner again through Japanese flower arranging.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6d8d1a61b9a55fea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h6d8d1a61b9a55fea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h6d8d1a61b9a55fea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h6d8d1a61b9a55fea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(Elsa) The surprise is that structure can open the door to experimentation and then become the standard she worries about meeting.</a:t>
            </a:r>
            <a:br>
              <a:rPr lang="en"/>
            </a:br>
            <a:r>
              <a:rPr lang="en"/>
              <a:t>She describes the beginning process of a craft as following a set of rules. She says “First I copy whats right”. And thats how you build your foundation for your craft. She describes her earliest memories of quilting “My mother taught me to quilt and she was not a critical teacher. She was very forgiving of all of the mistakes.” You copy patterns, you imitate the masters, and over time, the better you get at followings, you build this confidence to then break them. She describes after 60 years of quilting, that she can play with her designs more. And yet, even as a master of one craft, she gravitated towards starting a new one as a beginner. In ikebana flower arrganging is now back again at following strict rules, study her sensei carefully, understanding that sensei is a master and she is a beginner.</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h6d8d1a61b9a55fea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h6d8d1a61b9a55fea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(Elsa) What we found is that Rosa does not simply need fewer rules. A trusted structure helps her enter unfamiliar territory; the difficulty comes when correctness becomes a sort of verdict on the experiment. The opportunity is to make rules a starting point for play, rather than a gate she must pass before playing.</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6d8d1a61b9a55fea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h6d8d1a61b9a55fea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POTENTIAL SPEAKER NOTES: “</a:t>
            </a:r>
            <a:endParaRPr/>
          </a:p>
          <a:p>
            <a:pPr indent="0" lvl="0" marL="0" rtl="0" algn="l">
              <a:spcBef>
                <a:spcPts val="0"/>
              </a:spcBef>
              <a:spcAft>
                <a:spcPts val="0"/>
              </a:spcAft>
              <a:buNone/>
            </a:pPr>
            <a:r>
              <a:rPr lang="en"/>
              <a:t>&lt;briefly introducing Ken&gt;</a:t>
            </a:r>
            <a:endParaRPr/>
          </a:p>
          <a:p>
            <a:pPr indent="0" lvl="0" marL="0" rtl="0" algn="l">
              <a:spcBef>
                <a:spcPts val="0"/>
              </a:spcBef>
              <a:spcAft>
                <a:spcPts val="0"/>
              </a:spcAft>
              <a:buNone/>
            </a:pPr>
            <a:r>
              <a:rPr lang="en"/>
              <a:t>Neon glass maker as his main job.</a:t>
            </a:r>
            <a:endParaRPr/>
          </a:p>
          <a:p>
            <a:pPr indent="0" lvl="0" marL="0" rtl="0" algn="l">
              <a:spcBef>
                <a:spcPts val="0"/>
              </a:spcBef>
              <a:spcAft>
                <a:spcPts val="0"/>
              </a:spcAft>
              <a:buNone/>
            </a:pPr>
            <a:r>
              <a:rPr lang="en"/>
              <a:t>Pumpkin glass maker as a side hobby.</a:t>
            </a:r>
            <a:endParaRPr/>
          </a:p>
          <a:p>
            <a:pPr indent="0" lvl="0" marL="0" rtl="0" algn="l">
              <a:spcBef>
                <a:spcPts val="0"/>
              </a:spcBef>
              <a:spcAft>
                <a:spcPts val="0"/>
              </a:spcAft>
              <a:buNone/>
            </a:pPr>
            <a:r>
              <a:rPr lang="en"/>
              <a:t>Owns his own studio.</a:t>
            </a:r>
            <a:endParaRPr/>
          </a:p>
          <a:p>
            <a:pPr indent="0" lvl="0" marL="0" rtl="0" algn="l">
              <a:spcBef>
                <a:spcPts val="0"/>
              </a:spcBef>
              <a:spcAft>
                <a:spcPts val="0"/>
              </a:spcAft>
              <a:buNone/>
            </a:pPr>
            <a:r>
              <a:rPr lang="en"/>
              <a:t>Engineering background enables him to create studio tools”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(Elsa) Ken already has a creative career making neon, but he also pursues glassblowing as a place to play. His interest spans art and engineering: he builds much of his own equipment and enjoys solving technical problems. What stood out was not a move away from skilled work, but a continuing appetite for unfamiliar challenges within it.</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h6d8d1a61b9a55fea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h6d8d1a61b9a55fea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6d8d1a61b9a55fea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h6d8d1a61b9a55fea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(Elsa) We expected an established craft career to be the destination. Ken complicated that picture, even while making a living through neon, he seeks another craft where every hour does not have to pay for itself. Calling pumpkins his “fun thing” means the activity can be guided by curiosity, rather than commercial outcome</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h6d8d1a61b9a55fea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h6d8d1a61b9a55fea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POTENTIAL SPEAKER NOTES: “His neon work acts as a safety net, letting him take creative risks in glass without worrying whether every experiment succeeds. That separation seems important because once experimentation becomes tied to income, it risks losing the freedom and enjoyment that make it meaningful.”</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6d8d1a61b9a55fea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h6d8d1a61b9a55fea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(Elsa) Noah is a self-employed glass artist who makes everything from approachable pumpkins to intricate sculptures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h6d8d1a61b9a55fea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h6d8d1a61b9a55fea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(Elsa) Noah’s map shows that he isn’t simply choosing between meaningful art and meaningless production. Pumpkins provide income and community connection, beyond being a yearly tradition. But reproducing a specific design for an order leaves less room to follow an unexpected idea, the very thing that draws him to making</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h6d8d1a61b9a55fea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h6d8d1a61b9a55fea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(Elsa) We were surprised that Noah pulled back from successful catalogue work, even though it brought in orders. He prefers making a piece and then finding its buyer over taking an order and reproducing a promised design</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6d8d1a61b9a55fea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h6d8d1a61b9a55fea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(Elsa) Noah welcomes uncertainty when it gives him creative agency. Repeating a design can build skill, but discovering a new form helps him develop his artistic voice. He needs a way to let that voice evolve beyond what customers already expect, while still sustaining his livelihood. For Noah, growth may mean making something less predictable, not simply making more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h6d8d1a61b9a55fea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h6d8d1a61b9a55fea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h6d8d1a61b9a55fea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h6d8d1a61b9a55fea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h6d8d1a61b9a55fea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h6d8d1a61b9a55fea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POTENTIAL SPEAKER NOTES:</a:t>
            </a:r>
            <a:endParaRPr/>
          </a:p>
          <a:p>
            <a:pPr indent="0" lvl="0" marL="0" rtl="0" algn="l">
              <a:spcBef>
                <a:spcPts val="0"/>
              </a:spcBef>
              <a:spcAft>
                <a:spcPts val="0"/>
              </a:spcAft>
              <a:buNone/>
            </a:pPr>
            <a:r>
              <a:rPr lang="en"/>
              <a:t>After interviewing these crafters, we saw a repeating theme in how each of them approach their work. From there, we’ve been able to build a framework highlighting the key steps that make up this cycle of crafting. To stay within the loop of crafting, our participants mentioned they begin by coming up with new ideas they want to experiment with. From there, they gather the required resources needed to aid them in moving this craft from an idea to the next step in the process: trying to create a prototype. From there, they work to complete their craft, getting any support or documentation they need along the 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Pulling on previous experience from crafts or projects given up by these crafters, it’s important to note that each step in the cycle, there’s also a potential point of exit that leads to the crafters giving up their idea. This can include not being able to come up with new or exciting ideas, not being able to access the materials needed for the craft, not being able to follow-through with the time-consuming craft, or not getting the result or feedback they were looking for in their final piece.</a:t>
            </a:r>
            <a:br>
              <a:rPr lang="en"/>
            </a:br>
            <a:br>
              <a:rPr lang="en"/>
            </a:br>
            <a:r>
              <a:rPr lang="en"/>
              <a:t>The need for learning, discovering, the process, creation, and sharing, reminds us of something. It’s kind of like…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h6d8d1a61b9a55fea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h6d8d1a61b9a55fea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Play. </a:t>
            </a:r>
            <a:endParaRPr/>
          </a:p>
          <a:p>
            <a:pPr indent="0" lvl="0" marL="0" rtl="0" algn="l">
              <a:spcBef>
                <a:spcPts val="0"/>
              </a:spcBef>
              <a:spcAft>
                <a:spcPts val="0"/>
              </a:spcAft>
              <a:buNone/>
            </a:pPr>
            <a:r>
              <a:rPr lang="en"/>
              <a:t>And a place for us to play.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h6d8d1a61b9a55fea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h6d8d1a61b9a55fea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Observe crafting, </a:t>
            </a:r>
            <a:r>
              <a:rPr lang="en">
                <a:solidFill>
                  <a:schemeClr val="dk1"/>
                </a:solidFill>
              </a:rPr>
              <a:t>master/apprentice -&gt; direct observation of the craft making itself </a:t>
            </a:r>
            <a:endParaRPr/>
          </a:p>
          <a:p>
            <a:pPr indent="-298450" lvl="0" marL="457200" rtl="0" algn="l">
              <a:spcBef>
                <a:spcPts val="0"/>
              </a:spcBef>
              <a:spcAft>
                <a:spcPts val="0"/>
              </a:spcAft>
              <a:buSzPts val="1100"/>
              <a:buChar char="-"/>
            </a:pPr>
            <a:r>
              <a:rPr lang="en"/>
              <a:t>Watch when guidance helps makers explore and when it makes them worry about correctness</a:t>
            </a:r>
            <a:endParaRPr/>
          </a:p>
          <a:p>
            <a:pPr indent="-298450" lvl="0" marL="457200" rtl="0" algn="l">
              <a:spcBef>
                <a:spcPts val="0"/>
              </a:spcBef>
              <a:spcAft>
                <a:spcPts val="0"/>
              </a:spcAft>
              <a:buSzPts val="1100"/>
              <a:buChar char="-"/>
            </a:pPr>
            <a:r>
              <a:rPr lang="en"/>
              <a:t>Explore interruptions </a:t>
            </a:r>
            <a:endParaRPr/>
          </a:p>
          <a:p>
            <a:pPr indent="-298450" lvl="0" marL="457200" rtl="0" algn="l">
              <a:spcBef>
                <a:spcPts val="0"/>
              </a:spcBef>
              <a:spcAft>
                <a:spcPts val="0"/>
              </a:spcAft>
              <a:buSzPts val="1100"/>
              <a:buChar char="-"/>
            </a:pPr>
            <a:r>
              <a:rPr lang="en"/>
              <a:t>Interview people who paused or abandoned a craft to understand what made returning difficult</a:t>
            </a:r>
            <a:endParaRPr/>
          </a:p>
          <a:p>
            <a:pPr indent="-298450" lvl="0" marL="457200" rtl="0" algn="l">
              <a:spcBef>
                <a:spcPts val="0"/>
              </a:spcBef>
              <a:spcAft>
                <a:spcPts val="0"/>
              </a:spcAft>
              <a:buSzPts val="1100"/>
              <a:buChar char="-"/>
            </a:pPr>
            <a:r>
              <a:rPr lang="en"/>
              <a:t>Refine the opportunity</a:t>
            </a:r>
            <a:endParaRPr/>
          </a:p>
          <a:p>
            <a:pPr indent="-298450" lvl="0" marL="457200" rtl="0" algn="l">
              <a:spcBef>
                <a:spcPts val="0"/>
              </a:spcBef>
              <a:spcAft>
                <a:spcPts val="0"/>
              </a:spcAft>
              <a:buSzPts val="1100"/>
              <a:buChar char="-"/>
            </a:pPr>
            <a:r>
              <a:rPr lang="en"/>
              <a:t> Identify what support helps people keep discovering without turning play into another obligation</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6d8d1a61b9a55fea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h6d8d1a61b9a55fea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7.png"/><Relationship Id="rId6"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34.png"/><Relationship Id="rId7"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20.png"/><Relationship Id="rId9" Type="http://schemas.openxmlformats.org/officeDocument/2006/relationships/image" Target="../media/image15.png"/><Relationship Id="rId5" Type="http://schemas.openxmlformats.org/officeDocument/2006/relationships/image" Target="../media/image21.png"/><Relationship Id="rId6" Type="http://schemas.openxmlformats.org/officeDocument/2006/relationships/image" Target="../media/image19.png"/><Relationship Id="rId7" Type="http://schemas.openxmlformats.org/officeDocument/2006/relationships/image" Target="../media/image16.png"/><Relationship Id="rId8"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20.png"/><Relationship Id="rId9" Type="http://schemas.openxmlformats.org/officeDocument/2006/relationships/image" Target="../media/image15.png"/><Relationship Id="rId5" Type="http://schemas.openxmlformats.org/officeDocument/2006/relationships/image" Target="../media/image21.png"/><Relationship Id="rId6" Type="http://schemas.openxmlformats.org/officeDocument/2006/relationships/image" Target="../media/image19.png"/><Relationship Id="rId7" Type="http://schemas.openxmlformats.org/officeDocument/2006/relationships/image" Target="../media/image16.png"/><Relationship Id="rId8"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27.png"/><Relationship Id="rId9" Type="http://schemas.openxmlformats.org/officeDocument/2006/relationships/image" Target="../media/image30.png"/><Relationship Id="rId5" Type="http://schemas.openxmlformats.org/officeDocument/2006/relationships/image" Target="../media/image15.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8.jpg"/><Relationship Id="rId4" Type="http://schemas.openxmlformats.org/officeDocument/2006/relationships/image" Target="../media/image19.png"/><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8.jpg"/><Relationship Id="rId4" Type="http://schemas.openxmlformats.org/officeDocument/2006/relationships/image" Target="../media/image19.png"/><Relationship Id="rId9" Type="http://schemas.openxmlformats.org/officeDocument/2006/relationships/image" Target="../media/image29.png"/><Relationship Id="rId5" Type="http://schemas.openxmlformats.org/officeDocument/2006/relationships/image" Target="../media/image15.png"/><Relationship Id="rId6" Type="http://schemas.openxmlformats.org/officeDocument/2006/relationships/image" Target="../media/image28.png"/><Relationship Id="rId7" Type="http://schemas.openxmlformats.org/officeDocument/2006/relationships/image" Target="../media/image32.png"/><Relationship Id="rId8"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7.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37.png"/><Relationship Id="rId9" Type="http://schemas.openxmlformats.org/officeDocument/2006/relationships/image" Target="../media/image41.png"/><Relationship Id="rId5" Type="http://schemas.openxmlformats.org/officeDocument/2006/relationships/image" Target="../media/image15.png"/><Relationship Id="rId6" Type="http://schemas.openxmlformats.org/officeDocument/2006/relationships/image" Target="../media/image42.png"/><Relationship Id="rId7" Type="http://schemas.openxmlformats.org/officeDocument/2006/relationships/image" Target="../media/image39.png"/><Relationship Id="rId8"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7.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7.png"/><Relationship Id="rId4" Type="http://schemas.openxmlformats.org/officeDocument/2006/relationships/image" Target="../media/image15.png"/><Relationship Id="rId5" Type="http://schemas.openxmlformats.org/officeDocument/2006/relationships/image" Target="../media/image36.png"/><Relationship Id="rId6" Type="http://schemas.openxmlformats.org/officeDocument/2006/relationships/image" Target="../media/image35.png"/><Relationship Id="rId7" Type="http://schemas.openxmlformats.org/officeDocument/2006/relationships/image" Target="../media/image38.png"/><Relationship Id="rId8"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8.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Art &amp; Craft Supplies Sketch – Royalty-Free Vector | VectorStock" id="54" name="Google Shape;54;p13"/>
          <p:cNvPicPr preferRelativeResize="0"/>
          <p:nvPr/>
        </p:nvPicPr>
        <p:blipFill rotWithShape="1">
          <a:blip r:embed="rId3">
            <a:alphaModFix/>
          </a:blip>
          <a:srcRect b="44488" l="0" r="0" t="6295"/>
          <a:stretch/>
        </p:blipFill>
        <p:spPr>
          <a:xfrm>
            <a:off x="18490" y="1805375"/>
            <a:ext cx="9080925" cy="3338125"/>
          </a:xfrm>
          <a:prstGeom prst="rect">
            <a:avLst/>
          </a:prstGeom>
          <a:noFill/>
          <a:ln>
            <a:noFill/>
          </a:ln>
        </p:spPr>
      </p:pic>
      <p:sp>
        <p:nvSpPr>
          <p:cNvPr id="55" name="Google Shape;55;p13"/>
          <p:cNvSpPr txBox="1"/>
          <p:nvPr>
            <p:ph type="ctrTitle"/>
          </p:nvPr>
        </p:nvSpPr>
        <p:spPr>
          <a:xfrm>
            <a:off x="311700" y="380350"/>
            <a:ext cx="8520600" cy="1555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t/>
            </a:r>
            <a:endParaRPr/>
          </a:p>
          <a:p>
            <a:pPr indent="0" lvl="0" marL="0" rtl="0" algn="ctr">
              <a:lnSpc>
                <a:spcPct val="115000"/>
              </a:lnSpc>
              <a:spcBef>
                <a:spcPts val="0"/>
              </a:spcBef>
              <a:spcAft>
                <a:spcPts val="0"/>
              </a:spcAft>
              <a:buNone/>
            </a:pPr>
            <a:r>
              <a:rPr lang="en"/>
              <a:t>The Meaning of Crafts</a:t>
            </a:r>
            <a:endParaRPr/>
          </a:p>
          <a:p>
            <a:pPr indent="0" lvl="0" marL="0" rtl="0" algn="ctr">
              <a:spcBef>
                <a:spcPts val="0"/>
              </a:spcBef>
              <a:spcAft>
                <a:spcPts val="0"/>
              </a:spcAft>
              <a:buNone/>
            </a:pPr>
            <a:r>
              <a:rPr i="1" lang="en" sz="2598"/>
              <a:t>✨ team whimsy ✨</a:t>
            </a:r>
            <a:endParaRPr i="1" sz="4533"/>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Who are we</a:t>
            </a:r>
            <a:endParaRPr/>
          </a:p>
        </p:txBody>
      </p:sp>
      <p:sp>
        <p:nvSpPr>
          <p:cNvPr id="61" name="Google Shape;61;p14"/>
          <p:cNvSpPr txBox="1"/>
          <p:nvPr>
            <p:ph type="title"/>
          </p:nvPr>
        </p:nvSpPr>
        <p:spPr>
          <a:xfrm>
            <a:off x="2400700" y="3331375"/>
            <a:ext cx="1716900" cy="878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i="1" lang="en" sz="1720"/>
              <a:t>Elsa</a:t>
            </a:r>
            <a:endParaRPr b="1" i="1" sz="1720"/>
          </a:p>
          <a:p>
            <a:pPr indent="0" lvl="0" marL="0" rtl="0" algn="ctr">
              <a:spcBef>
                <a:spcPts val="0"/>
              </a:spcBef>
              <a:spcAft>
                <a:spcPts val="0"/>
              </a:spcAft>
              <a:buSzPts val="990"/>
              <a:buNone/>
            </a:pPr>
            <a:r>
              <a:rPr i="1" lang="en" sz="1164"/>
              <a:t>BS Design</a:t>
            </a:r>
            <a:endParaRPr i="1" sz="1164"/>
          </a:p>
          <a:p>
            <a:pPr indent="0" lvl="0" marL="0" rtl="0" algn="ctr">
              <a:spcBef>
                <a:spcPts val="0"/>
              </a:spcBef>
              <a:spcAft>
                <a:spcPts val="0"/>
              </a:spcAft>
              <a:buSzPts val="990"/>
              <a:buNone/>
            </a:pPr>
            <a:r>
              <a:rPr i="1" lang="en" sz="1164"/>
              <a:t>MS HCI</a:t>
            </a:r>
            <a:endParaRPr i="1" sz="1164"/>
          </a:p>
        </p:txBody>
      </p:sp>
      <p:sp>
        <p:nvSpPr>
          <p:cNvPr id="62" name="Google Shape;62;p14"/>
          <p:cNvSpPr txBox="1"/>
          <p:nvPr>
            <p:ph type="title"/>
          </p:nvPr>
        </p:nvSpPr>
        <p:spPr>
          <a:xfrm>
            <a:off x="4758748" y="657875"/>
            <a:ext cx="3482400" cy="5727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SzPct val="54396"/>
              <a:buNone/>
            </a:pPr>
            <a:r>
              <a:rPr i="1" lang="en" sz="1820"/>
              <a:t>✨ team whimsy ✨</a:t>
            </a:r>
            <a:endParaRPr i="1" sz="1820"/>
          </a:p>
          <a:p>
            <a:pPr indent="0" lvl="0" marL="0" rtl="0" algn="r">
              <a:spcBef>
                <a:spcPts val="0"/>
              </a:spcBef>
              <a:spcAft>
                <a:spcPts val="0"/>
              </a:spcAft>
              <a:buSzPct val="54396"/>
              <a:buNone/>
            </a:pPr>
            <a:r>
              <a:t/>
            </a:r>
            <a:endParaRPr i="1" sz="1820"/>
          </a:p>
        </p:txBody>
      </p:sp>
      <p:pic>
        <p:nvPicPr>
          <p:cNvPr id="63" name="Google Shape;63;p14"/>
          <p:cNvPicPr preferRelativeResize="0"/>
          <p:nvPr/>
        </p:nvPicPr>
        <p:blipFill>
          <a:blip r:embed="rId3">
            <a:alphaModFix/>
          </a:blip>
          <a:stretch>
            <a:fillRect/>
          </a:stretch>
        </p:blipFill>
        <p:spPr>
          <a:xfrm>
            <a:off x="2483275" y="1360475"/>
            <a:ext cx="1691942" cy="1993050"/>
          </a:xfrm>
          <a:prstGeom prst="rect">
            <a:avLst/>
          </a:prstGeom>
          <a:noFill/>
          <a:ln>
            <a:noFill/>
          </a:ln>
        </p:spPr>
      </p:pic>
      <p:pic>
        <p:nvPicPr>
          <p:cNvPr id="64" name="Google Shape;64;p14"/>
          <p:cNvPicPr preferRelativeResize="0"/>
          <p:nvPr/>
        </p:nvPicPr>
        <p:blipFill>
          <a:blip r:embed="rId4">
            <a:alphaModFix/>
          </a:blip>
          <a:stretch>
            <a:fillRect/>
          </a:stretch>
        </p:blipFill>
        <p:spPr>
          <a:xfrm>
            <a:off x="497475" y="1360479"/>
            <a:ext cx="1716900" cy="2029721"/>
          </a:xfrm>
          <a:prstGeom prst="rect">
            <a:avLst/>
          </a:prstGeom>
          <a:noFill/>
          <a:ln>
            <a:noFill/>
          </a:ln>
        </p:spPr>
      </p:pic>
      <p:pic>
        <p:nvPicPr>
          <p:cNvPr id="65" name="Google Shape;65;p14"/>
          <p:cNvPicPr preferRelativeResize="0"/>
          <p:nvPr/>
        </p:nvPicPr>
        <p:blipFill>
          <a:blip r:embed="rId5">
            <a:alphaModFix/>
          </a:blip>
          <a:stretch>
            <a:fillRect/>
          </a:stretch>
        </p:blipFill>
        <p:spPr>
          <a:xfrm>
            <a:off x="4444125" y="1360475"/>
            <a:ext cx="1752300" cy="2052897"/>
          </a:xfrm>
          <a:prstGeom prst="rect">
            <a:avLst/>
          </a:prstGeom>
          <a:noFill/>
          <a:ln>
            <a:noFill/>
          </a:ln>
        </p:spPr>
      </p:pic>
      <p:pic>
        <p:nvPicPr>
          <p:cNvPr id="66" name="Google Shape;66;p14"/>
          <p:cNvPicPr preferRelativeResize="0"/>
          <p:nvPr/>
        </p:nvPicPr>
        <p:blipFill>
          <a:blip r:embed="rId6">
            <a:alphaModFix/>
          </a:blip>
          <a:stretch>
            <a:fillRect/>
          </a:stretch>
        </p:blipFill>
        <p:spPr>
          <a:xfrm>
            <a:off x="6524250" y="1371825"/>
            <a:ext cx="1752296" cy="2029725"/>
          </a:xfrm>
          <a:prstGeom prst="rect">
            <a:avLst/>
          </a:prstGeom>
          <a:noFill/>
          <a:ln>
            <a:noFill/>
          </a:ln>
        </p:spPr>
      </p:pic>
      <p:sp>
        <p:nvSpPr>
          <p:cNvPr id="67" name="Google Shape;67;p14"/>
          <p:cNvSpPr txBox="1"/>
          <p:nvPr/>
        </p:nvSpPr>
        <p:spPr>
          <a:xfrm>
            <a:off x="566475" y="3359975"/>
            <a:ext cx="1578900" cy="8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990"/>
              <a:buFont typeface="Arial"/>
              <a:buNone/>
            </a:pPr>
            <a:r>
              <a:rPr b="1" i="1" lang="en" sz="1720">
                <a:solidFill>
                  <a:schemeClr val="dk1"/>
                </a:solidFill>
              </a:rPr>
              <a:t>Jia</a:t>
            </a:r>
            <a:endParaRPr b="1" i="1" sz="1720">
              <a:solidFill>
                <a:schemeClr val="dk1"/>
              </a:solidFill>
            </a:endParaRPr>
          </a:p>
          <a:p>
            <a:pPr indent="0" lvl="0" marL="0" rtl="0" algn="ctr">
              <a:spcBef>
                <a:spcPts val="0"/>
              </a:spcBef>
              <a:spcAft>
                <a:spcPts val="0"/>
              </a:spcAft>
              <a:buClr>
                <a:schemeClr val="dk1"/>
              </a:buClr>
              <a:buSzPts val="990"/>
              <a:buFont typeface="Arial"/>
              <a:buNone/>
            </a:pPr>
            <a:r>
              <a:rPr i="1" lang="en" sz="1164">
                <a:solidFill>
                  <a:schemeClr val="dk1"/>
                </a:solidFill>
              </a:rPr>
              <a:t>BS Design</a:t>
            </a:r>
            <a:endParaRPr i="1" sz="1164">
              <a:solidFill>
                <a:schemeClr val="dk1"/>
              </a:solidFill>
            </a:endParaRPr>
          </a:p>
          <a:p>
            <a:pPr indent="0" lvl="0" marL="0" rtl="0" algn="ctr">
              <a:spcBef>
                <a:spcPts val="0"/>
              </a:spcBef>
              <a:spcAft>
                <a:spcPts val="0"/>
              </a:spcAft>
              <a:buNone/>
            </a:pPr>
            <a:r>
              <a:rPr i="1" lang="en" sz="1164">
                <a:solidFill>
                  <a:schemeClr val="dk1"/>
                </a:solidFill>
              </a:rPr>
              <a:t>MS HCI</a:t>
            </a:r>
            <a:endParaRPr sz="1800">
              <a:solidFill>
                <a:schemeClr val="dk2"/>
              </a:solidFill>
            </a:endParaRPr>
          </a:p>
        </p:txBody>
      </p:sp>
      <p:sp>
        <p:nvSpPr>
          <p:cNvPr id="68" name="Google Shape;68;p14"/>
          <p:cNvSpPr txBox="1"/>
          <p:nvPr>
            <p:ph type="title"/>
          </p:nvPr>
        </p:nvSpPr>
        <p:spPr>
          <a:xfrm>
            <a:off x="4462900" y="3350825"/>
            <a:ext cx="1716900" cy="878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i="1" lang="en" sz="1720"/>
              <a:t>Ahyan</a:t>
            </a:r>
            <a:endParaRPr b="1" i="1" sz="1720"/>
          </a:p>
          <a:p>
            <a:pPr indent="0" lvl="0" marL="0" rtl="0" algn="ctr">
              <a:spcBef>
                <a:spcPts val="0"/>
              </a:spcBef>
              <a:spcAft>
                <a:spcPts val="0"/>
              </a:spcAft>
              <a:buSzPts val="990"/>
              <a:buNone/>
            </a:pPr>
            <a:r>
              <a:rPr i="1" lang="en" sz="1164"/>
              <a:t>BS Computer Science</a:t>
            </a:r>
            <a:endParaRPr i="1" sz="1164"/>
          </a:p>
        </p:txBody>
      </p:sp>
      <p:sp>
        <p:nvSpPr>
          <p:cNvPr id="69" name="Google Shape;69;p14"/>
          <p:cNvSpPr txBox="1"/>
          <p:nvPr>
            <p:ph type="title"/>
          </p:nvPr>
        </p:nvSpPr>
        <p:spPr>
          <a:xfrm>
            <a:off x="6522100" y="3350825"/>
            <a:ext cx="1716900" cy="878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b="1" i="1" lang="en" sz="1720"/>
              <a:t>Kelly</a:t>
            </a:r>
            <a:endParaRPr b="1" i="1" sz="1720"/>
          </a:p>
          <a:p>
            <a:pPr indent="0" lvl="0" marL="0" rtl="0" algn="ctr">
              <a:spcBef>
                <a:spcPts val="0"/>
              </a:spcBef>
              <a:spcAft>
                <a:spcPts val="0"/>
              </a:spcAft>
              <a:buSzPts val="990"/>
              <a:buNone/>
            </a:pPr>
            <a:r>
              <a:rPr i="1" lang="en" sz="1164"/>
              <a:t>BS HCI</a:t>
            </a:r>
            <a:endParaRPr i="1" sz="1164"/>
          </a:p>
          <a:p>
            <a:pPr indent="0" lvl="0" marL="0" rtl="0" algn="ctr">
              <a:spcBef>
                <a:spcPts val="0"/>
              </a:spcBef>
              <a:spcAft>
                <a:spcPts val="0"/>
              </a:spcAft>
              <a:buSzPts val="990"/>
              <a:buNone/>
            </a:pPr>
            <a:r>
              <a:rPr i="1" lang="en" sz="1164"/>
              <a:t>MS AI</a:t>
            </a:r>
            <a:endParaRPr i="1" sz="1164"/>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Domain we chose</a:t>
            </a:r>
            <a:endParaRPr/>
          </a:p>
        </p:txBody>
      </p:sp>
      <p:pic>
        <p:nvPicPr>
          <p:cNvPr id="75" name="Google Shape;75;p15"/>
          <p:cNvPicPr preferRelativeResize="0"/>
          <p:nvPr/>
        </p:nvPicPr>
        <p:blipFill>
          <a:blip r:embed="rId3">
            <a:alphaModFix/>
          </a:blip>
          <a:stretch>
            <a:fillRect/>
          </a:stretch>
        </p:blipFill>
        <p:spPr>
          <a:xfrm>
            <a:off x="2794800" y="1080575"/>
            <a:ext cx="755300" cy="755300"/>
          </a:xfrm>
          <a:prstGeom prst="rect">
            <a:avLst/>
          </a:prstGeom>
          <a:noFill/>
          <a:ln>
            <a:noFill/>
          </a:ln>
        </p:spPr>
      </p:pic>
      <p:pic>
        <p:nvPicPr>
          <p:cNvPr id="76" name="Google Shape;76;p15"/>
          <p:cNvPicPr preferRelativeResize="0"/>
          <p:nvPr/>
        </p:nvPicPr>
        <p:blipFill>
          <a:blip r:embed="rId3">
            <a:alphaModFix/>
          </a:blip>
          <a:stretch>
            <a:fillRect/>
          </a:stretch>
        </p:blipFill>
        <p:spPr>
          <a:xfrm rot="1283669">
            <a:off x="629650" y="1406950"/>
            <a:ext cx="755300" cy="755300"/>
          </a:xfrm>
          <a:prstGeom prst="rect">
            <a:avLst/>
          </a:prstGeom>
          <a:noFill/>
          <a:ln>
            <a:noFill/>
          </a:ln>
        </p:spPr>
      </p:pic>
      <p:pic>
        <p:nvPicPr>
          <p:cNvPr id="77" name="Google Shape;77;p15"/>
          <p:cNvPicPr preferRelativeResize="0"/>
          <p:nvPr/>
        </p:nvPicPr>
        <p:blipFill>
          <a:blip r:embed="rId3">
            <a:alphaModFix/>
          </a:blip>
          <a:stretch>
            <a:fillRect/>
          </a:stretch>
        </p:blipFill>
        <p:spPr>
          <a:xfrm rot="1283669">
            <a:off x="1608450" y="3338925"/>
            <a:ext cx="755300" cy="755300"/>
          </a:xfrm>
          <a:prstGeom prst="rect">
            <a:avLst/>
          </a:prstGeom>
          <a:noFill/>
          <a:ln>
            <a:noFill/>
          </a:ln>
        </p:spPr>
      </p:pic>
      <p:pic>
        <p:nvPicPr>
          <p:cNvPr id="78" name="Google Shape;78;p15"/>
          <p:cNvPicPr preferRelativeResize="0"/>
          <p:nvPr/>
        </p:nvPicPr>
        <p:blipFill>
          <a:blip r:embed="rId4">
            <a:alphaModFix/>
          </a:blip>
          <a:stretch>
            <a:fillRect/>
          </a:stretch>
        </p:blipFill>
        <p:spPr>
          <a:xfrm>
            <a:off x="4189825" y="339000"/>
            <a:ext cx="4702450" cy="4702450"/>
          </a:xfrm>
          <a:prstGeom prst="rect">
            <a:avLst/>
          </a:prstGeom>
          <a:noFill/>
          <a:ln>
            <a:noFill/>
          </a:ln>
        </p:spPr>
      </p:pic>
      <p:pic>
        <p:nvPicPr>
          <p:cNvPr descr="What are “Craft Cocktails”? - A Bar Above" id="79" name="Google Shape;79;p15"/>
          <p:cNvPicPr preferRelativeResize="0"/>
          <p:nvPr/>
        </p:nvPicPr>
        <p:blipFill rotWithShape="1">
          <a:blip r:embed="rId5">
            <a:alphaModFix/>
          </a:blip>
          <a:srcRect b="50251" l="2095" r="35362" t="4592"/>
          <a:stretch/>
        </p:blipFill>
        <p:spPr>
          <a:xfrm>
            <a:off x="4541661" y="750165"/>
            <a:ext cx="3926208" cy="1523831"/>
          </a:xfrm>
          <a:prstGeom prst="rect">
            <a:avLst/>
          </a:prstGeom>
          <a:noFill/>
          <a:ln>
            <a:noFill/>
          </a:ln>
        </p:spPr>
      </p:pic>
      <p:pic>
        <p:nvPicPr>
          <p:cNvPr descr="Art &amp; Craft Supplies Sketch – Royalty-Free Vector | VectorStock" id="80" name="Google Shape;80;p15"/>
          <p:cNvPicPr preferRelativeResize="0"/>
          <p:nvPr/>
        </p:nvPicPr>
        <p:blipFill rotWithShape="1">
          <a:blip r:embed="rId6">
            <a:alphaModFix/>
          </a:blip>
          <a:srcRect b="20942" l="0" r="0" t="6294"/>
          <a:stretch/>
        </p:blipFill>
        <p:spPr>
          <a:xfrm>
            <a:off x="4708138" y="2519400"/>
            <a:ext cx="3593250" cy="19527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6"/>
          <p:cNvPicPr preferRelativeResize="0"/>
          <p:nvPr/>
        </p:nvPicPr>
        <p:blipFill>
          <a:blip r:embed="rId3">
            <a:alphaModFix/>
          </a:blip>
          <a:stretch>
            <a:fillRect/>
          </a:stretch>
        </p:blipFill>
        <p:spPr>
          <a:xfrm>
            <a:off x="3419974" y="1833149"/>
            <a:ext cx="1872275" cy="1872275"/>
          </a:xfrm>
          <a:prstGeom prst="rect">
            <a:avLst/>
          </a:prstGeom>
          <a:noFill/>
          <a:ln>
            <a:noFill/>
          </a:ln>
        </p:spPr>
      </p:pic>
      <p:sp>
        <p:nvSpPr>
          <p:cNvPr id="86" name="Google Shape;8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craft</a:t>
            </a:r>
            <a:endParaRPr/>
          </a:p>
        </p:txBody>
      </p:sp>
      <p:sp>
        <p:nvSpPr>
          <p:cNvPr id="87" name="Google Shape;87;p16"/>
          <p:cNvSpPr txBox="1"/>
          <p:nvPr>
            <p:ph idx="1" type="body"/>
          </p:nvPr>
        </p:nvSpPr>
        <p:spPr>
          <a:xfrm>
            <a:off x="3660125" y="2393850"/>
            <a:ext cx="1343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200"/>
              </a:spcAft>
              <a:buNone/>
            </a:pPr>
            <a:r>
              <a:rPr b="1" lang="en" sz="2500">
                <a:solidFill>
                  <a:schemeClr val="dk1"/>
                </a:solidFill>
              </a:rPr>
              <a:t>Craft</a:t>
            </a:r>
            <a:endParaRPr b="1" sz="2500">
              <a:solidFill>
                <a:schemeClr val="dk1"/>
              </a:solidFill>
            </a:endParaRPr>
          </a:p>
        </p:txBody>
      </p:sp>
      <p:sp>
        <p:nvSpPr>
          <p:cNvPr id="88" name="Google Shape;88;p16"/>
          <p:cNvSpPr txBox="1"/>
          <p:nvPr>
            <p:ph idx="1" type="body"/>
          </p:nvPr>
        </p:nvSpPr>
        <p:spPr>
          <a:xfrm>
            <a:off x="599179" y="3657311"/>
            <a:ext cx="1956300" cy="505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solidFill>
                  <a:schemeClr val="dk1"/>
                </a:solidFill>
              </a:rPr>
              <a:t>Requires Effort</a:t>
            </a:r>
            <a:endParaRPr>
              <a:solidFill>
                <a:schemeClr val="dk1"/>
              </a:solidFill>
            </a:endParaRPr>
          </a:p>
        </p:txBody>
      </p:sp>
      <p:pic>
        <p:nvPicPr>
          <p:cNvPr id="89" name="Google Shape;89;p16"/>
          <p:cNvPicPr preferRelativeResize="0"/>
          <p:nvPr/>
        </p:nvPicPr>
        <p:blipFill>
          <a:blip r:embed="rId4">
            <a:alphaModFix/>
          </a:blip>
          <a:stretch>
            <a:fillRect/>
          </a:stretch>
        </p:blipFill>
        <p:spPr>
          <a:xfrm rot="-2147867">
            <a:off x="2504810" y="3392747"/>
            <a:ext cx="1349792" cy="414781"/>
          </a:xfrm>
          <a:prstGeom prst="rect">
            <a:avLst/>
          </a:prstGeom>
          <a:noFill/>
          <a:ln>
            <a:noFill/>
          </a:ln>
        </p:spPr>
      </p:pic>
      <p:sp>
        <p:nvSpPr>
          <p:cNvPr id="90" name="Google Shape;90;p16"/>
          <p:cNvSpPr txBox="1"/>
          <p:nvPr>
            <p:ph idx="1" type="body"/>
          </p:nvPr>
        </p:nvSpPr>
        <p:spPr>
          <a:xfrm>
            <a:off x="768579" y="1553361"/>
            <a:ext cx="1956300" cy="7623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1200"/>
              </a:spcAft>
              <a:buNone/>
            </a:pPr>
            <a:r>
              <a:rPr lang="en">
                <a:solidFill>
                  <a:schemeClr val="dk1"/>
                </a:solidFill>
              </a:rPr>
              <a:t>Sense of Ownership</a:t>
            </a:r>
            <a:endParaRPr>
              <a:solidFill>
                <a:schemeClr val="dk1"/>
              </a:solidFill>
            </a:endParaRPr>
          </a:p>
        </p:txBody>
      </p:sp>
      <p:pic>
        <p:nvPicPr>
          <p:cNvPr id="91" name="Google Shape;91;p16"/>
          <p:cNvPicPr preferRelativeResize="0"/>
          <p:nvPr/>
        </p:nvPicPr>
        <p:blipFill>
          <a:blip r:embed="rId4">
            <a:alphaModFix/>
          </a:blip>
          <a:stretch>
            <a:fillRect/>
          </a:stretch>
        </p:blipFill>
        <p:spPr>
          <a:xfrm flipH="1" rot="-9543588">
            <a:off x="2419111" y="1673371"/>
            <a:ext cx="1349791" cy="414781"/>
          </a:xfrm>
          <a:prstGeom prst="rect">
            <a:avLst/>
          </a:prstGeom>
          <a:noFill/>
          <a:ln>
            <a:noFill/>
          </a:ln>
        </p:spPr>
      </p:pic>
      <p:sp>
        <p:nvSpPr>
          <p:cNvPr id="92" name="Google Shape;92;p16"/>
          <p:cNvSpPr txBox="1"/>
          <p:nvPr>
            <p:ph idx="1" type="body"/>
          </p:nvPr>
        </p:nvSpPr>
        <p:spPr>
          <a:xfrm>
            <a:off x="6331665" y="1569290"/>
            <a:ext cx="1956300" cy="7623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solidFill>
                  <a:schemeClr val="dk1"/>
                </a:solidFill>
              </a:rPr>
              <a:t>Unique Outcome</a:t>
            </a:r>
            <a:endParaRPr>
              <a:solidFill>
                <a:schemeClr val="dk1"/>
              </a:solidFill>
            </a:endParaRPr>
          </a:p>
        </p:txBody>
      </p:sp>
      <p:pic>
        <p:nvPicPr>
          <p:cNvPr id="93" name="Google Shape;93;p16"/>
          <p:cNvPicPr preferRelativeResize="0"/>
          <p:nvPr/>
        </p:nvPicPr>
        <p:blipFill>
          <a:blip r:embed="rId4">
            <a:alphaModFix/>
          </a:blip>
          <a:stretch>
            <a:fillRect/>
          </a:stretch>
        </p:blipFill>
        <p:spPr>
          <a:xfrm rot="9401269">
            <a:off x="4895373" y="1663650"/>
            <a:ext cx="1349793" cy="414781"/>
          </a:xfrm>
          <a:prstGeom prst="rect">
            <a:avLst/>
          </a:prstGeom>
          <a:noFill/>
          <a:ln>
            <a:noFill/>
          </a:ln>
        </p:spPr>
      </p:pic>
      <p:pic>
        <p:nvPicPr>
          <p:cNvPr id="94" name="Google Shape;94;p16"/>
          <p:cNvPicPr preferRelativeResize="0"/>
          <p:nvPr/>
        </p:nvPicPr>
        <p:blipFill>
          <a:blip r:embed="rId4">
            <a:alphaModFix/>
          </a:blip>
          <a:stretch>
            <a:fillRect/>
          </a:stretch>
        </p:blipFill>
        <p:spPr>
          <a:xfrm flipH="1" rot="2195588">
            <a:off x="4859013" y="3417562"/>
            <a:ext cx="1349792" cy="414781"/>
          </a:xfrm>
          <a:prstGeom prst="rect">
            <a:avLst/>
          </a:prstGeom>
          <a:noFill/>
          <a:ln>
            <a:noFill/>
          </a:ln>
        </p:spPr>
      </p:pic>
      <p:sp>
        <p:nvSpPr>
          <p:cNvPr id="95" name="Google Shape;95;p16"/>
          <p:cNvSpPr txBox="1"/>
          <p:nvPr>
            <p:ph idx="1" type="body"/>
          </p:nvPr>
        </p:nvSpPr>
        <p:spPr>
          <a:xfrm>
            <a:off x="6011158" y="3571027"/>
            <a:ext cx="2229000" cy="869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solidFill>
                  <a:schemeClr val="dk1"/>
                </a:solidFill>
              </a:rPr>
              <a:t>Self Imposed</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Diverse participants are</a:t>
            </a:r>
            <a:endParaRPr/>
          </a:p>
          <a:p>
            <a:pPr indent="0" lvl="0" marL="0" rtl="0" algn="l">
              <a:spcBef>
                <a:spcPts val="0"/>
              </a:spcBef>
              <a:spcAft>
                <a:spcPts val="0"/>
              </a:spcAft>
              <a:buNone/>
            </a:pPr>
            <a:r>
              <a:t/>
            </a:r>
            <a:endParaRPr/>
          </a:p>
        </p:txBody>
      </p:sp>
      <p:sp>
        <p:nvSpPr>
          <p:cNvPr id="101" name="Google Shape;101;p17"/>
          <p:cNvSpPr txBox="1"/>
          <p:nvPr>
            <p:ph idx="1" type="body"/>
          </p:nvPr>
        </p:nvSpPr>
        <p:spPr>
          <a:xfrm>
            <a:off x="91000" y="5380650"/>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2800">
                <a:solidFill>
                  <a:schemeClr val="dk1"/>
                </a:solidFill>
              </a:rPr>
              <a:t>Why were they chosen? </a:t>
            </a:r>
            <a:endParaRPr sz="2800">
              <a:solidFill>
                <a:schemeClr val="dk1"/>
              </a:solidFill>
            </a:endParaRPr>
          </a:p>
          <a:p>
            <a:pPr indent="0" lvl="0" marL="0" rtl="0" algn="l">
              <a:lnSpc>
                <a:spcPct val="100000"/>
              </a:lnSpc>
              <a:spcBef>
                <a:spcPts val="0"/>
              </a:spcBef>
              <a:spcAft>
                <a:spcPts val="0"/>
              </a:spcAft>
              <a:buNone/>
            </a:pPr>
            <a:r>
              <a:rPr lang="en" sz="2800">
                <a:solidFill>
                  <a:schemeClr val="dk1"/>
                </a:solidFill>
              </a:rPr>
              <a:t>Why are they appropriate? </a:t>
            </a:r>
            <a:endParaRPr sz="2800">
              <a:solidFill>
                <a:schemeClr val="dk1"/>
              </a:solidFill>
            </a:endParaRPr>
          </a:p>
          <a:p>
            <a:pPr indent="0" lvl="0" marL="0" rtl="0" algn="l">
              <a:lnSpc>
                <a:spcPct val="100000"/>
              </a:lnSpc>
              <a:spcBef>
                <a:spcPts val="0"/>
              </a:spcBef>
              <a:spcAft>
                <a:spcPts val="0"/>
              </a:spcAft>
              <a:buNone/>
            </a:pPr>
            <a:r>
              <a:rPr lang="en" sz="2800">
                <a:solidFill>
                  <a:schemeClr val="dk1"/>
                </a:solidFill>
              </a:rPr>
              <a:t>How were they recruited/compensated?</a:t>
            </a:r>
            <a:endParaRPr sz="28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2800">
                <a:solidFill>
                  <a:schemeClr val="dk1"/>
                </a:solidFill>
              </a:rPr>
              <a:t>Where were the interviews conducted?</a:t>
            </a:r>
            <a:endParaRPr sz="2800">
              <a:solidFill>
                <a:schemeClr val="dk1"/>
              </a:solidFill>
            </a:endParaRPr>
          </a:p>
        </p:txBody>
      </p:sp>
      <p:sp>
        <p:nvSpPr>
          <p:cNvPr id="102" name="Google Shape;102;p17"/>
          <p:cNvSpPr txBox="1"/>
          <p:nvPr>
            <p:ph idx="1" type="body"/>
          </p:nvPr>
        </p:nvSpPr>
        <p:spPr>
          <a:xfrm>
            <a:off x="384975" y="1195525"/>
            <a:ext cx="8520600" cy="3416400"/>
          </a:xfrm>
          <a:prstGeom prst="rect">
            <a:avLst/>
          </a:prstGeom>
        </p:spPr>
        <p:txBody>
          <a:bodyPr anchorCtr="0" anchor="t" bIns="91425" lIns="91425" spcFirstLastPara="1" rIns="91425" wrap="square" tIns="91425">
            <a:normAutofit/>
          </a:bodyPr>
          <a:lstStyle/>
          <a:p>
            <a:pPr indent="0" lvl="0" marL="0" rtl="0" algn="ctr">
              <a:lnSpc>
                <a:spcPct val="150000"/>
              </a:lnSpc>
              <a:spcBef>
                <a:spcPts val="0"/>
              </a:spcBef>
              <a:spcAft>
                <a:spcPts val="0"/>
              </a:spcAft>
              <a:buClr>
                <a:schemeClr val="dk1"/>
              </a:buClr>
              <a:buSzPts val="1100"/>
              <a:buFont typeface="Arial"/>
              <a:buNone/>
            </a:pPr>
            <a:r>
              <a:rPr b="1" lang="en" sz="3000">
                <a:solidFill>
                  <a:schemeClr val="dk1"/>
                </a:solidFill>
              </a:rPr>
              <a:t>Experience:</a:t>
            </a:r>
            <a:r>
              <a:rPr lang="en" sz="3000">
                <a:solidFill>
                  <a:schemeClr val="dk1"/>
                </a:solidFill>
              </a:rPr>
              <a:t> beginners ↔ masters</a:t>
            </a:r>
            <a:endParaRPr sz="3000">
              <a:solidFill>
                <a:schemeClr val="dk1"/>
              </a:solidFill>
            </a:endParaRPr>
          </a:p>
          <a:p>
            <a:pPr indent="0" lvl="0" marL="0" rtl="0" algn="ctr">
              <a:lnSpc>
                <a:spcPct val="150000"/>
              </a:lnSpc>
              <a:spcBef>
                <a:spcPts val="0"/>
              </a:spcBef>
              <a:spcAft>
                <a:spcPts val="0"/>
              </a:spcAft>
              <a:buClr>
                <a:schemeClr val="dk1"/>
              </a:buClr>
              <a:buSzPts val="1100"/>
              <a:buFont typeface="Arial"/>
              <a:buNone/>
            </a:pPr>
            <a:r>
              <a:rPr lang="en" sz="3000">
                <a:solidFill>
                  <a:schemeClr val="dk1"/>
                </a:solidFill>
              </a:rPr>
              <a:t> </a:t>
            </a:r>
            <a:r>
              <a:rPr b="1" lang="en" sz="3000">
                <a:solidFill>
                  <a:schemeClr val="dk1"/>
                </a:solidFill>
              </a:rPr>
              <a:t>  Finance:</a:t>
            </a:r>
            <a:r>
              <a:rPr lang="en" sz="3000">
                <a:solidFill>
                  <a:schemeClr val="dk1"/>
                </a:solidFill>
              </a:rPr>
              <a:t> hobby ↔ career</a:t>
            </a:r>
            <a:endParaRPr sz="3000">
              <a:solidFill>
                <a:schemeClr val="dk1"/>
              </a:solidFill>
            </a:endParaRPr>
          </a:p>
          <a:p>
            <a:pPr indent="0" lvl="0" marL="0" rtl="0" algn="ctr">
              <a:lnSpc>
                <a:spcPct val="150000"/>
              </a:lnSpc>
              <a:spcBef>
                <a:spcPts val="0"/>
              </a:spcBef>
              <a:spcAft>
                <a:spcPts val="0"/>
              </a:spcAft>
              <a:buClr>
                <a:schemeClr val="dk1"/>
              </a:buClr>
              <a:buSzPts val="1100"/>
              <a:buFont typeface="Arial"/>
              <a:buNone/>
            </a:pPr>
            <a:r>
              <a:rPr b="1" lang="en" sz="3000">
                <a:solidFill>
                  <a:schemeClr val="dk1"/>
                </a:solidFill>
              </a:rPr>
              <a:t>Frequency:</a:t>
            </a:r>
            <a:r>
              <a:rPr lang="en" sz="3000">
                <a:solidFill>
                  <a:schemeClr val="dk1"/>
                </a:solidFill>
              </a:rPr>
              <a:t> low ↔ high </a:t>
            </a:r>
            <a:endParaRPr sz="3000">
              <a:solidFill>
                <a:schemeClr val="dk1"/>
              </a:solidFill>
            </a:endParaRPr>
          </a:p>
          <a:p>
            <a:pPr indent="0" lvl="0" marL="0" rtl="0" algn="ctr">
              <a:lnSpc>
                <a:spcPct val="150000"/>
              </a:lnSpc>
              <a:spcBef>
                <a:spcPts val="0"/>
              </a:spcBef>
              <a:spcAft>
                <a:spcPts val="0"/>
              </a:spcAft>
              <a:buClr>
                <a:schemeClr val="dk1"/>
              </a:buClr>
              <a:buSzPts val="1100"/>
              <a:buFont typeface="Arial"/>
              <a:buNone/>
            </a:pPr>
            <a:r>
              <a:rPr b="1" lang="en" sz="3000">
                <a:solidFill>
                  <a:schemeClr val="dk1"/>
                </a:solidFill>
              </a:rPr>
              <a:t> Barrier of Entry:</a:t>
            </a:r>
            <a:r>
              <a:rPr lang="en" sz="3000">
                <a:solidFill>
                  <a:schemeClr val="dk1"/>
                </a:solidFill>
              </a:rPr>
              <a:t> easy ↔ hard</a:t>
            </a:r>
            <a:endParaRPr sz="3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Extreme users are</a:t>
            </a:r>
            <a:endParaRPr/>
          </a:p>
          <a:p>
            <a:pPr indent="0" lvl="0" marL="0" rtl="0" algn="l">
              <a:spcBef>
                <a:spcPts val="0"/>
              </a:spcBef>
              <a:spcAft>
                <a:spcPts val="0"/>
              </a:spcAft>
              <a:buNone/>
            </a:pPr>
            <a:r>
              <a:t/>
            </a:r>
            <a:endParaRPr/>
          </a:p>
        </p:txBody>
      </p:sp>
      <p:sp>
        <p:nvSpPr>
          <p:cNvPr id="108" name="Google Shape;108;p18"/>
          <p:cNvSpPr txBox="1"/>
          <p:nvPr>
            <p:ph idx="1" type="body"/>
          </p:nvPr>
        </p:nvSpPr>
        <p:spPr>
          <a:xfrm>
            <a:off x="91000" y="5380650"/>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2800">
                <a:solidFill>
                  <a:schemeClr val="dk1"/>
                </a:solidFill>
              </a:rPr>
              <a:t>Why were they chosen? </a:t>
            </a:r>
            <a:endParaRPr sz="2800">
              <a:solidFill>
                <a:schemeClr val="dk1"/>
              </a:solidFill>
            </a:endParaRPr>
          </a:p>
          <a:p>
            <a:pPr indent="0" lvl="0" marL="0" rtl="0" algn="l">
              <a:lnSpc>
                <a:spcPct val="100000"/>
              </a:lnSpc>
              <a:spcBef>
                <a:spcPts val="0"/>
              </a:spcBef>
              <a:spcAft>
                <a:spcPts val="0"/>
              </a:spcAft>
              <a:buNone/>
            </a:pPr>
            <a:r>
              <a:rPr lang="en" sz="2800">
                <a:solidFill>
                  <a:schemeClr val="dk1"/>
                </a:solidFill>
              </a:rPr>
              <a:t>Why are they appropriate? </a:t>
            </a:r>
            <a:endParaRPr sz="2800">
              <a:solidFill>
                <a:schemeClr val="dk1"/>
              </a:solidFill>
            </a:endParaRPr>
          </a:p>
          <a:p>
            <a:pPr indent="0" lvl="0" marL="0" rtl="0" algn="l">
              <a:lnSpc>
                <a:spcPct val="100000"/>
              </a:lnSpc>
              <a:spcBef>
                <a:spcPts val="0"/>
              </a:spcBef>
              <a:spcAft>
                <a:spcPts val="0"/>
              </a:spcAft>
              <a:buNone/>
            </a:pPr>
            <a:r>
              <a:rPr lang="en" sz="2800">
                <a:solidFill>
                  <a:schemeClr val="dk1"/>
                </a:solidFill>
              </a:rPr>
              <a:t>How were they recruited/compensated?</a:t>
            </a:r>
            <a:endParaRPr sz="28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2800">
                <a:solidFill>
                  <a:schemeClr val="dk1"/>
                </a:solidFill>
              </a:rPr>
              <a:t>Where were the interviews conducted?</a:t>
            </a:r>
            <a:endParaRPr sz="2800">
              <a:solidFill>
                <a:schemeClr val="dk1"/>
              </a:solidFill>
            </a:endParaRPr>
          </a:p>
        </p:txBody>
      </p:sp>
      <p:sp>
        <p:nvSpPr>
          <p:cNvPr id="109" name="Google Shape;109;p18"/>
          <p:cNvSpPr txBox="1"/>
          <p:nvPr>
            <p:ph idx="1" type="body"/>
          </p:nvPr>
        </p:nvSpPr>
        <p:spPr>
          <a:xfrm>
            <a:off x="384975" y="1195525"/>
            <a:ext cx="8520600" cy="3416400"/>
          </a:xfrm>
          <a:prstGeom prst="rect">
            <a:avLst/>
          </a:prstGeom>
        </p:spPr>
        <p:txBody>
          <a:bodyPr anchorCtr="0" anchor="t" bIns="91425" lIns="91425" spcFirstLastPara="1" rIns="91425" wrap="square" tIns="91425">
            <a:normAutofit/>
          </a:bodyPr>
          <a:lstStyle/>
          <a:p>
            <a:pPr indent="0" lvl="0" marL="0" rtl="0" algn="ctr">
              <a:lnSpc>
                <a:spcPct val="150000"/>
              </a:lnSpc>
              <a:spcBef>
                <a:spcPts val="0"/>
              </a:spcBef>
              <a:spcAft>
                <a:spcPts val="0"/>
              </a:spcAft>
              <a:buClr>
                <a:schemeClr val="dk1"/>
              </a:buClr>
              <a:buSzPts val="1100"/>
              <a:buFont typeface="Arial"/>
              <a:buNone/>
            </a:pPr>
            <a:r>
              <a:rPr b="1" lang="en" sz="3000">
                <a:solidFill>
                  <a:schemeClr val="dk1"/>
                </a:solidFill>
              </a:rPr>
              <a:t>Experience:</a:t>
            </a:r>
            <a:r>
              <a:rPr lang="en" sz="3000">
                <a:solidFill>
                  <a:schemeClr val="dk1"/>
                </a:solidFill>
              </a:rPr>
              <a:t> beginners ↔ masters</a:t>
            </a:r>
            <a:endParaRPr sz="3000">
              <a:solidFill>
                <a:schemeClr val="dk1"/>
              </a:solidFill>
            </a:endParaRPr>
          </a:p>
          <a:p>
            <a:pPr indent="0" lvl="0" marL="0" rtl="0" algn="ctr">
              <a:lnSpc>
                <a:spcPct val="150000"/>
              </a:lnSpc>
              <a:spcBef>
                <a:spcPts val="0"/>
              </a:spcBef>
              <a:spcAft>
                <a:spcPts val="0"/>
              </a:spcAft>
              <a:buClr>
                <a:schemeClr val="dk1"/>
              </a:buClr>
              <a:buSzPts val="1100"/>
              <a:buFont typeface="Arial"/>
              <a:buNone/>
            </a:pPr>
            <a:r>
              <a:rPr lang="en" sz="3000">
                <a:solidFill>
                  <a:schemeClr val="dk1"/>
                </a:solidFill>
              </a:rPr>
              <a:t> </a:t>
            </a:r>
            <a:r>
              <a:rPr b="1" lang="en" sz="3000">
                <a:solidFill>
                  <a:schemeClr val="dk1"/>
                </a:solidFill>
              </a:rPr>
              <a:t>  Finance:</a:t>
            </a:r>
            <a:r>
              <a:rPr lang="en" sz="3000">
                <a:solidFill>
                  <a:schemeClr val="dk1"/>
                </a:solidFill>
              </a:rPr>
              <a:t> hobby ↔ career</a:t>
            </a:r>
            <a:endParaRPr sz="3000">
              <a:solidFill>
                <a:schemeClr val="dk1"/>
              </a:solidFill>
            </a:endParaRPr>
          </a:p>
          <a:p>
            <a:pPr indent="0" lvl="0" marL="0" rtl="0" algn="ctr">
              <a:lnSpc>
                <a:spcPct val="150000"/>
              </a:lnSpc>
              <a:spcBef>
                <a:spcPts val="0"/>
              </a:spcBef>
              <a:spcAft>
                <a:spcPts val="0"/>
              </a:spcAft>
              <a:buClr>
                <a:schemeClr val="dk1"/>
              </a:buClr>
              <a:buSzPts val="1100"/>
              <a:buFont typeface="Arial"/>
              <a:buNone/>
            </a:pPr>
            <a:r>
              <a:rPr b="1" lang="en" sz="3000">
                <a:solidFill>
                  <a:schemeClr val="dk1"/>
                </a:solidFill>
              </a:rPr>
              <a:t>Frequency:</a:t>
            </a:r>
            <a:r>
              <a:rPr lang="en" sz="3000">
                <a:solidFill>
                  <a:schemeClr val="dk1"/>
                </a:solidFill>
              </a:rPr>
              <a:t> low ↔ high </a:t>
            </a:r>
            <a:endParaRPr sz="3000">
              <a:solidFill>
                <a:schemeClr val="dk1"/>
              </a:solidFill>
            </a:endParaRPr>
          </a:p>
          <a:p>
            <a:pPr indent="0" lvl="0" marL="0" rtl="0" algn="ctr">
              <a:lnSpc>
                <a:spcPct val="150000"/>
              </a:lnSpc>
              <a:spcBef>
                <a:spcPts val="0"/>
              </a:spcBef>
              <a:spcAft>
                <a:spcPts val="0"/>
              </a:spcAft>
              <a:buClr>
                <a:schemeClr val="dk1"/>
              </a:buClr>
              <a:buSzPts val="1100"/>
              <a:buFont typeface="Arial"/>
              <a:buNone/>
            </a:pPr>
            <a:r>
              <a:rPr b="1" lang="en" sz="3000">
                <a:solidFill>
                  <a:schemeClr val="dk1"/>
                </a:solidFill>
              </a:rPr>
              <a:t> Barrier of Entry:</a:t>
            </a:r>
            <a:r>
              <a:rPr lang="en" sz="3000">
                <a:solidFill>
                  <a:schemeClr val="dk1"/>
                </a:solidFill>
              </a:rPr>
              <a:t> easy ↔ hard</a:t>
            </a:r>
            <a:endParaRPr sz="3000">
              <a:solidFill>
                <a:schemeClr val="dk1"/>
              </a:solidFill>
            </a:endParaRPr>
          </a:p>
        </p:txBody>
      </p:sp>
      <p:sp>
        <p:nvSpPr>
          <p:cNvPr id="110" name="Google Shape;110;p18"/>
          <p:cNvSpPr/>
          <p:nvPr/>
        </p:nvSpPr>
        <p:spPr>
          <a:xfrm>
            <a:off x="3950000" y="1091675"/>
            <a:ext cx="2189100" cy="773100"/>
          </a:xfrm>
          <a:prstGeom prst="rect">
            <a:avLst/>
          </a:prstGeom>
          <a:solidFill>
            <a:srgbClr val="FFFFFF">
              <a:alpha val="778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8"/>
          <p:cNvSpPr/>
          <p:nvPr/>
        </p:nvSpPr>
        <p:spPr>
          <a:xfrm>
            <a:off x="4228600" y="1864775"/>
            <a:ext cx="1626300" cy="773100"/>
          </a:xfrm>
          <a:prstGeom prst="rect">
            <a:avLst/>
          </a:prstGeom>
          <a:solidFill>
            <a:srgbClr val="FFFFFF">
              <a:alpha val="778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8"/>
          <p:cNvSpPr/>
          <p:nvPr/>
        </p:nvSpPr>
        <p:spPr>
          <a:xfrm>
            <a:off x="5059475" y="3236175"/>
            <a:ext cx="1458300" cy="773100"/>
          </a:xfrm>
          <a:prstGeom prst="rect">
            <a:avLst/>
          </a:prstGeom>
          <a:solidFill>
            <a:srgbClr val="FFFFFF">
              <a:alpha val="778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8"/>
          <p:cNvSpPr/>
          <p:nvPr/>
        </p:nvSpPr>
        <p:spPr>
          <a:xfrm>
            <a:off x="4754325" y="2517175"/>
            <a:ext cx="1163700" cy="773100"/>
          </a:xfrm>
          <a:prstGeom prst="rect">
            <a:avLst/>
          </a:prstGeom>
          <a:solidFill>
            <a:srgbClr val="FFFFFF">
              <a:alpha val="778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 recruited by</a:t>
            </a:r>
            <a:endParaRPr/>
          </a:p>
        </p:txBody>
      </p:sp>
      <p:pic>
        <p:nvPicPr>
          <p:cNvPr id="119" name="Google Shape;119;p19"/>
          <p:cNvPicPr preferRelativeResize="0"/>
          <p:nvPr/>
        </p:nvPicPr>
        <p:blipFill>
          <a:blip r:embed="rId3">
            <a:alphaModFix/>
          </a:blip>
          <a:stretch>
            <a:fillRect/>
          </a:stretch>
        </p:blipFill>
        <p:spPr>
          <a:xfrm>
            <a:off x="311700" y="1568850"/>
            <a:ext cx="2832999" cy="2005800"/>
          </a:xfrm>
          <a:prstGeom prst="rect">
            <a:avLst/>
          </a:prstGeom>
          <a:noFill/>
          <a:ln>
            <a:noFill/>
          </a:ln>
        </p:spPr>
      </p:pic>
      <p:pic>
        <p:nvPicPr>
          <p:cNvPr id="120" name="Google Shape;120;p19"/>
          <p:cNvPicPr preferRelativeResize="0"/>
          <p:nvPr/>
        </p:nvPicPr>
        <p:blipFill>
          <a:blip r:embed="rId4">
            <a:alphaModFix/>
          </a:blip>
          <a:stretch>
            <a:fillRect/>
          </a:stretch>
        </p:blipFill>
        <p:spPr>
          <a:xfrm>
            <a:off x="3249000" y="1192725"/>
            <a:ext cx="1843225" cy="2758049"/>
          </a:xfrm>
          <a:prstGeom prst="rect">
            <a:avLst/>
          </a:prstGeom>
          <a:noFill/>
          <a:ln>
            <a:noFill/>
          </a:ln>
        </p:spPr>
      </p:pic>
      <p:pic>
        <p:nvPicPr>
          <p:cNvPr id="121" name="Google Shape;121;p19"/>
          <p:cNvPicPr preferRelativeResize="0"/>
          <p:nvPr/>
        </p:nvPicPr>
        <p:blipFill>
          <a:blip r:embed="rId5">
            <a:alphaModFix/>
          </a:blip>
          <a:stretch>
            <a:fillRect/>
          </a:stretch>
        </p:blipFill>
        <p:spPr>
          <a:xfrm>
            <a:off x="5196525" y="1647925"/>
            <a:ext cx="1435174" cy="1875500"/>
          </a:xfrm>
          <a:prstGeom prst="rect">
            <a:avLst/>
          </a:prstGeom>
          <a:noFill/>
          <a:ln>
            <a:noFill/>
          </a:ln>
        </p:spPr>
      </p:pic>
      <p:pic>
        <p:nvPicPr>
          <p:cNvPr id="122" name="Google Shape;122;p19"/>
          <p:cNvPicPr preferRelativeResize="0"/>
          <p:nvPr/>
        </p:nvPicPr>
        <p:blipFill>
          <a:blip r:embed="rId6">
            <a:alphaModFix/>
          </a:blip>
          <a:stretch>
            <a:fillRect/>
          </a:stretch>
        </p:blipFill>
        <p:spPr>
          <a:xfrm>
            <a:off x="6784100" y="1513538"/>
            <a:ext cx="1976850" cy="2116425"/>
          </a:xfrm>
          <a:prstGeom prst="rect">
            <a:avLst/>
          </a:prstGeom>
          <a:noFill/>
          <a:ln>
            <a:noFill/>
          </a:ln>
        </p:spPr>
      </p:pic>
      <p:sp>
        <p:nvSpPr>
          <p:cNvPr id="123" name="Google Shape;123;p19"/>
          <p:cNvSpPr txBox="1"/>
          <p:nvPr>
            <p:ph type="title"/>
          </p:nvPr>
        </p:nvSpPr>
        <p:spPr>
          <a:xfrm>
            <a:off x="2162670" y="4125775"/>
            <a:ext cx="49779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i="1" lang="en" sz="1820"/>
              <a:t>glass pumpkin patch @ south PA</a:t>
            </a:r>
            <a:endParaRPr i="1" sz="1820"/>
          </a:p>
        </p:txBody>
      </p:sp>
      <p:pic>
        <p:nvPicPr>
          <p:cNvPr id="124" name="Google Shape;124;p19"/>
          <p:cNvPicPr preferRelativeResize="0"/>
          <p:nvPr/>
        </p:nvPicPr>
        <p:blipFill rotWithShape="1">
          <a:blip r:embed="rId7">
            <a:alphaModFix/>
          </a:blip>
          <a:srcRect b="23264" l="30168" r="33901" t="43391"/>
          <a:stretch/>
        </p:blipFill>
        <p:spPr>
          <a:xfrm>
            <a:off x="3573625" y="2849700"/>
            <a:ext cx="158825" cy="147400"/>
          </a:xfrm>
          <a:prstGeom prst="rect">
            <a:avLst/>
          </a:prstGeom>
          <a:noFill/>
          <a:ln>
            <a:noFill/>
          </a:ln>
        </p:spPr>
      </p:pic>
      <p:pic>
        <p:nvPicPr>
          <p:cNvPr id="125" name="Google Shape;125;p19"/>
          <p:cNvPicPr preferRelativeResize="0"/>
          <p:nvPr/>
        </p:nvPicPr>
        <p:blipFill rotWithShape="1">
          <a:blip r:embed="rId7">
            <a:alphaModFix/>
          </a:blip>
          <a:srcRect b="23264" l="30168" r="33901" t="43391"/>
          <a:stretch/>
        </p:blipFill>
        <p:spPr>
          <a:xfrm>
            <a:off x="4832150" y="2386775"/>
            <a:ext cx="124975" cy="104575"/>
          </a:xfrm>
          <a:prstGeom prst="rect">
            <a:avLst/>
          </a:prstGeom>
          <a:noFill/>
          <a:ln>
            <a:noFill/>
          </a:ln>
        </p:spPr>
      </p:pic>
      <p:pic>
        <p:nvPicPr>
          <p:cNvPr id="126" name="Google Shape;126;p19"/>
          <p:cNvPicPr preferRelativeResize="0"/>
          <p:nvPr/>
        </p:nvPicPr>
        <p:blipFill rotWithShape="1">
          <a:blip r:embed="rId7">
            <a:alphaModFix/>
          </a:blip>
          <a:srcRect b="23264" l="30168" r="33901" t="43391"/>
          <a:stretch/>
        </p:blipFill>
        <p:spPr>
          <a:xfrm>
            <a:off x="4595291" y="2330850"/>
            <a:ext cx="112675" cy="104575"/>
          </a:xfrm>
          <a:prstGeom prst="rect">
            <a:avLst/>
          </a:prstGeom>
          <a:noFill/>
          <a:ln>
            <a:noFill/>
          </a:ln>
        </p:spPr>
      </p:pic>
      <p:pic>
        <p:nvPicPr>
          <p:cNvPr id="127" name="Google Shape;127;p19"/>
          <p:cNvPicPr preferRelativeResize="0"/>
          <p:nvPr/>
        </p:nvPicPr>
        <p:blipFill rotWithShape="1">
          <a:blip r:embed="rId7">
            <a:alphaModFix/>
          </a:blip>
          <a:srcRect b="23264" l="30168" r="33901" t="43391"/>
          <a:stretch/>
        </p:blipFill>
        <p:spPr>
          <a:xfrm>
            <a:off x="5816687" y="2461328"/>
            <a:ext cx="68037" cy="63148"/>
          </a:xfrm>
          <a:prstGeom prst="rect">
            <a:avLst/>
          </a:prstGeom>
          <a:noFill/>
          <a:ln>
            <a:noFill/>
          </a:ln>
        </p:spPr>
      </p:pic>
      <p:pic>
        <p:nvPicPr>
          <p:cNvPr id="128" name="Google Shape;128;p19"/>
          <p:cNvPicPr preferRelativeResize="0"/>
          <p:nvPr/>
        </p:nvPicPr>
        <p:blipFill rotWithShape="1">
          <a:blip r:embed="rId7">
            <a:alphaModFix/>
          </a:blip>
          <a:srcRect b="23264" l="30168" r="33901" t="43391"/>
          <a:stretch/>
        </p:blipFill>
        <p:spPr>
          <a:xfrm>
            <a:off x="6179425" y="2491346"/>
            <a:ext cx="68049" cy="63154"/>
          </a:xfrm>
          <a:prstGeom prst="rect">
            <a:avLst/>
          </a:prstGeom>
          <a:noFill/>
          <a:ln>
            <a:noFill/>
          </a:ln>
        </p:spPr>
      </p:pic>
      <p:pic>
        <p:nvPicPr>
          <p:cNvPr id="129" name="Google Shape;129;p19"/>
          <p:cNvPicPr preferRelativeResize="0"/>
          <p:nvPr/>
        </p:nvPicPr>
        <p:blipFill rotWithShape="1">
          <a:blip r:embed="rId7">
            <a:alphaModFix/>
          </a:blip>
          <a:srcRect b="23264" l="30168" r="33901" t="43391"/>
          <a:stretch/>
        </p:blipFill>
        <p:spPr>
          <a:xfrm>
            <a:off x="1757275" y="2054320"/>
            <a:ext cx="68049" cy="63154"/>
          </a:xfrm>
          <a:prstGeom prst="rect">
            <a:avLst/>
          </a:prstGeom>
          <a:noFill/>
          <a:ln>
            <a:noFill/>
          </a:ln>
        </p:spPr>
      </p:pic>
      <p:pic>
        <p:nvPicPr>
          <p:cNvPr id="130" name="Google Shape;130;p19"/>
          <p:cNvPicPr preferRelativeResize="0"/>
          <p:nvPr/>
        </p:nvPicPr>
        <p:blipFill rotWithShape="1">
          <a:blip r:embed="rId7">
            <a:alphaModFix/>
          </a:blip>
          <a:srcRect b="23264" l="30168" r="33901" t="43391"/>
          <a:stretch/>
        </p:blipFill>
        <p:spPr>
          <a:xfrm>
            <a:off x="2209800" y="2054320"/>
            <a:ext cx="68049" cy="63154"/>
          </a:xfrm>
          <a:prstGeom prst="rect">
            <a:avLst/>
          </a:prstGeom>
          <a:noFill/>
          <a:ln>
            <a:noFill/>
          </a:ln>
        </p:spPr>
      </p:pic>
      <p:pic>
        <p:nvPicPr>
          <p:cNvPr id="131" name="Google Shape;131;p19"/>
          <p:cNvPicPr preferRelativeResize="0"/>
          <p:nvPr/>
        </p:nvPicPr>
        <p:blipFill rotWithShape="1">
          <a:blip r:embed="rId7">
            <a:alphaModFix/>
          </a:blip>
          <a:srcRect b="23264" l="30168" r="33901" t="43391"/>
          <a:stretch/>
        </p:blipFill>
        <p:spPr>
          <a:xfrm>
            <a:off x="2420400" y="1960970"/>
            <a:ext cx="68049" cy="6315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We met </a:t>
            </a:r>
            <a:endParaRPr/>
          </a:p>
        </p:txBody>
      </p:sp>
      <p:sp>
        <p:nvSpPr>
          <p:cNvPr id="137" name="Google Shape;137;p20"/>
          <p:cNvSpPr txBox="1"/>
          <p:nvPr>
            <p:ph idx="1" type="body"/>
          </p:nvPr>
        </p:nvSpPr>
        <p:spPr>
          <a:xfrm>
            <a:off x="91000" y="5380650"/>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2800">
                <a:solidFill>
                  <a:schemeClr val="dk1"/>
                </a:solidFill>
              </a:rPr>
              <a:t>Why were they chosen? </a:t>
            </a:r>
            <a:endParaRPr sz="2800">
              <a:solidFill>
                <a:schemeClr val="dk1"/>
              </a:solidFill>
            </a:endParaRPr>
          </a:p>
          <a:p>
            <a:pPr indent="0" lvl="0" marL="0" rtl="0" algn="l">
              <a:lnSpc>
                <a:spcPct val="100000"/>
              </a:lnSpc>
              <a:spcBef>
                <a:spcPts val="0"/>
              </a:spcBef>
              <a:spcAft>
                <a:spcPts val="0"/>
              </a:spcAft>
              <a:buNone/>
            </a:pPr>
            <a:r>
              <a:rPr lang="en" sz="2800">
                <a:solidFill>
                  <a:schemeClr val="dk1"/>
                </a:solidFill>
              </a:rPr>
              <a:t>Why are they appropriate? </a:t>
            </a:r>
            <a:endParaRPr sz="2800">
              <a:solidFill>
                <a:schemeClr val="dk1"/>
              </a:solidFill>
            </a:endParaRPr>
          </a:p>
          <a:p>
            <a:pPr indent="0" lvl="0" marL="0" rtl="0" algn="l">
              <a:lnSpc>
                <a:spcPct val="100000"/>
              </a:lnSpc>
              <a:spcBef>
                <a:spcPts val="0"/>
              </a:spcBef>
              <a:spcAft>
                <a:spcPts val="0"/>
              </a:spcAft>
              <a:buNone/>
            </a:pPr>
            <a:r>
              <a:rPr lang="en" sz="2800">
                <a:solidFill>
                  <a:schemeClr val="dk1"/>
                </a:solidFill>
              </a:rPr>
              <a:t>How were they recruited/compensated?</a:t>
            </a:r>
            <a:endParaRPr sz="28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2800">
                <a:solidFill>
                  <a:schemeClr val="dk1"/>
                </a:solidFill>
              </a:rPr>
              <a:t>Where were the interviews conducted?</a:t>
            </a:r>
            <a:endParaRPr sz="2800">
              <a:solidFill>
                <a:schemeClr val="dk1"/>
              </a:solidFill>
            </a:endParaRPr>
          </a:p>
        </p:txBody>
      </p:sp>
      <p:pic>
        <p:nvPicPr>
          <p:cNvPr id="138" name="Google Shape;138;p20"/>
          <p:cNvPicPr preferRelativeResize="0"/>
          <p:nvPr/>
        </p:nvPicPr>
        <p:blipFill>
          <a:blip r:embed="rId3">
            <a:alphaModFix/>
          </a:blip>
          <a:stretch>
            <a:fillRect/>
          </a:stretch>
        </p:blipFill>
        <p:spPr>
          <a:xfrm>
            <a:off x="7783600" y="1853473"/>
            <a:ext cx="1209236" cy="1657641"/>
          </a:xfrm>
          <a:prstGeom prst="rect">
            <a:avLst/>
          </a:prstGeom>
          <a:noFill/>
          <a:ln>
            <a:noFill/>
          </a:ln>
        </p:spPr>
      </p:pic>
      <p:sp>
        <p:nvSpPr>
          <p:cNvPr id="139" name="Google Shape;139;p20"/>
          <p:cNvSpPr txBox="1"/>
          <p:nvPr>
            <p:ph type="title"/>
          </p:nvPr>
        </p:nvSpPr>
        <p:spPr>
          <a:xfrm>
            <a:off x="7703386" y="3500149"/>
            <a:ext cx="1369800" cy="700800"/>
          </a:xfrm>
          <a:prstGeom prst="rect">
            <a:avLst/>
          </a:prstGeom>
        </p:spPr>
        <p:txBody>
          <a:bodyPr anchorCtr="0" anchor="t" bIns="72925" lIns="72925" spcFirstLastPara="1" rIns="72925" wrap="square" tIns="72925">
            <a:noAutofit/>
          </a:bodyPr>
          <a:lstStyle/>
          <a:p>
            <a:pPr indent="0" lvl="0" marL="0" rtl="0" algn="ctr">
              <a:spcBef>
                <a:spcPts val="0"/>
              </a:spcBef>
              <a:spcAft>
                <a:spcPts val="0"/>
              </a:spcAft>
              <a:buSzPts val="790"/>
              <a:buNone/>
            </a:pPr>
            <a:r>
              <a:rPr i="1" lang="en" sz="1200"/>
              <a:t>An artist balancing livelihood and discovery</a:t>
            </a:r>
            <a:endParaRPr i="1" sz="1200"/>
          </a:p>
        </p:txBody>
      </p:sp>
      <p:cxnSp>
        <p:nvCxnSpPr>
          <p:cNvPr id="140" name="Google Shape;140;p20"/>
          <p:cNvCxnSpPr/>
          <p:nvPr/>
        </p:nvCxnSpPr>
        <p:spPr>
          <a:xfrm>
            <a:off x="442927" y="1599600"/>
            <a:ext cx="8237400" cy="24900"/>
          </a:xfrm>
          <a:prstGeom prst="straightConnector1">
            <a:avLst/>
          </a:prstGeom>
          <a:noFill/>
          <a:ln cap="flat" cmpd="sng" w="9525">
            <a:solidFill>
              <a:schemeClr val="dk1"/>
            </a:solidFill>
            <a:prstDash val="solid"/>
            <a:round/>
            <a:headEnd len="med" w="med" type="none"/>
            <a:tailEnd len="med" w="med" type="none"/>
          </a:ln>
        </p:spPr>
      </p:cxnSp>
      <p:sp>
        <p:nvSpPr>
          <p:cNvPr id="141" name="Google Shape;141;p20"/>
          <p:cNvSpPr txBox="1"/>
          <p:nvPr>
            <p:ph type="title"/>
          </p:nvPr>
        </p:nvSpPr>
        <p:spPr>
          <a:xfrm>
            <a:off x="7309325" y="1208650"/>
            <a:ext cx="1371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69718"/>
              <a:buNone/>
            </a:pPr>
            <a:r>
              <a:rPr lang="en" sz="1420"/>
              <a:t>extreme crafters</a:t>
            </a:r>
            <a:endParaRPr sz="1150"/>
          </a:p>
        </p:txBody>
      </p:sp>
      <p:sp>
        <p:nvSpPr>
          <p:cNvPr id="142" name="Google Shape;142;p20"/>
          <p:cNvSpPr txBox="1"/>
          <p:nvPr>
            <p:ph type="title"/>
          </p:nvPr>
        </p:nvSpPr>
        <p:spPr>
          <a:xfrm>
            <a:off x="4562390" y="3456532"/>
            <a:ext cx="1369800" cy="700800"/>
          </a:xfrm>
          <a:prstGeom prst="rect">
            <a:avLst/>
          </a:prstGeom>
        </p:spPr>
        <p:txBody>
          <a:bodyPr anchorCtr="0" anchor="t" bIns="72925" lIns="72925" spcFirstLastPara="1" rIns="72925" wrap="square" tIns="72925">
            <a:normAutofit/>
          </a:bodyPr>
          <a:lstStyle/>
          <a:p>
            <a:pPr indent="0" lvl="0" marL="0" rtl="0" algn="ctr">
              <a:spcBef>
                <a:spcPts val="0"/>
              </a:spcBef>
              <a:spcAft>
                <a:spcPts val="0"/>
              </a:spcAft>
              <a:buSzPts val="790"/>
              <a:buNone/>
            </a:pPr>
            <a:r>
              <a:rPr i="1" lang="en" sz="1200"/>
              <a:t>A crafter who protects room for play</a:t>
            </a:r>
            <a:endParaRPr i="1" sz="1200"/>
          </a:p>
        </p:txBody>
      </p:sp>
      <p:sp>
        <p:nvSpPr>
          <p:cNvPr id="143" name="Google Shape;143;p20"/>
          <p:cNvSpPr txBox="1"/>
          <p:nvPr>
            <p:ph type="title"/>
          </p:nvPr>
        </p:nvSpPr>
        <p:spPr>
          <a:xfrm>
            <a:off x="6133000" y="3457525"/>
            <a:ext cx="1369800" cy="1071900"/>
          </a:xfrm>
          <a:prstGeom prst="rect">
            <a:avLst/>
          </a:prstGeom>
        </p:spPr>
        <p:txBody>
          <a:bodyPr anchorCtr="0" anchor="t" bIns="72925" lIns="72925" spcFirstLastPara="1" rIns="72925" wrap="square" tIns="72925">
            <a:normAutofit/>
          </a:bodyPr>
          <a:lstStyle/>
          <a:p>
            <a:pPr indent="0" lvl="0" marL="0" rtl="0" algn="ctr">
              <a:spcBef>
                <a:spcPts val="0"/>
              </a:spcBef>
              <a:spcAft>
                <a:spcPts val="0"/>
              </a:spcAft>
              <a:buSzPts val="790"/>
              <a:buNone/>
            </a:pPr>
            <a:r>
              <a:rPr i="1" lang="en" sz="1200"/>
              <a:t>An artist who teaches and performs</a:t>
            </a:r>
            <a:endParaRPr i="1" sz="1200"/>
          </a:p>
        </p:txBody>
      </p:sp>
      <p:pic>
        <p:nvPicPr>
          <p:cNvPr id="144" name="Google Shape;144;p20"/>
          <p:cNvPicPr preferRelativeResize="0"/>
          <p:nvPr/>
        </p:nvPicPr>
        <p:blipFill>
          <a:blip r:embed="rId4">
            <a:alphaModFix/>
          </a:blip>
          <a:stretch>
            <a:fillRect/>
          </a:stretch>
        </p:blipFill>
        <p:spPr>
          <a:xfrm>
            <a:off x="4585718" y="1897070"/>
            <a:ext cx="1346592" cy="1549810"/>
          </a:xfrm>
          <a:prstGeom prst="rect">
            <a:avLst/>
          </a:prstGeom>
          <a:noFill/>
          <a:ln>
            <a:noFill/>
          </a:ln>
        </p:spPr>
      </p:pic>
      <p:pic>
        <p:nvPicPr>
          <p:cNvPr id="145" name="Google Shape;145;p20"/>
          <p:cNvPicPr preferRelativeResize="0"/>
          <p:nvPr/>
        </p:nvPicPr>
        <p:blipFill>
          <a:blip r:embed="rId5">
            <a:alphaModFix/>
          </a:blip>
          <a:stretch>
            <a:fillRect/>
          </a:stretch>
        </p:blipFill>
        <p:spPr>
          <a:xfrm>
            <a:off x="6037598" y="1896083"/>
            <a:ext cx="1560488" cy="1553761"/>
          </a:xfrm>
          <a:prstGeom prst="rect">
            <a:avLst/>
          </a:prstGeom>
          <a:noFill/>
          <a:ln>
            <a:noFill/>
          </a:ln>
        </p:spPr>
      </p:pic>
      <p:pic>
        <p:nvPicPr>
          <p:cNvPr id="146" name="Google Shape;146;p20"/>
          <p:cNvPicPr preferRelativeResize="0"/>
          <p:nvPr/>
        </p:nvPicPr>
        <p:blipFill>
          <a:blip r:embed="rId6">
            <a:alphaModFix/>
          </a:blip>
          <a:stretch>
            <a:fillRect/>
          </a:stretch>
        </p:blipFill>
        <p:spPr>
          <a:xfrm>
            <a:off x="3121710" y="1879609"/>
            <a:ext cx="1209227" cy="1553069"/>
          </a:xfrm>
          <a:prstGeom prst="rect">
            <a:avLst/>
          </a:prstGeom>
          <a:noFill/>
          <a:ln>
            <a:noFill/>
          </a:ln>
        </p:spPr>
      </p:pic>
      <p:sp>
        <p:nvSpPr>
          <p:cNvPr id="147" name="Google Shape;147;p20"/>
          <p:cNvSpPr txBox="1"/>
          <p:nvPr>
            <p:ph type="title"/>
          </p:nvPr>
        </p:nvSpPr>
        <p:spPr>
          <a:xfrm>
            <a:off x="2991755" y="3474003"/>
            <a:ext cx="1369800" cy="700800"/>
          </a:xfrm>
          <a:prstGeom prst="rect">
            <a:avLst/>
          </a:prstGeom>
        </p:spPr>
        <p:txBody>
          <a:bodyPr anchorCtr="0" anchor="t" bIns="72925" lIns="72925" spcFirstLastPara="1" rIns="72925" wrap="square" tIns="72925">
            <a:normAutofit/>
          </a:bodyPr>
          <a:lstStyle/>
          <a:p>
            <a:pPr indent="0" lvl="0" marL="0" rtl="0" algn="ctr">
              <a:spcBef>
                <a:spcPts val="0"/>
              </a:spcBef>
              <a:spcAft>
                <a:spcPts val="0"/>
              </a:spcAft>
              <a:buSzPts val="790"/>
              <a:buNone/>
            </a:pPr>
            <a:r>
              <a:rPr i="1" lang="en" sz="1200"/>
              <a:t>An experienced crafter choosing to begin again</a:t>
            </a:r>
            <a:endParaRPr i="1" sz="1200"/>
          </a:p>
        </p:txBody>
      </p:sp>
      <p:pic>
        <p:nvPicPr>
          <p:cNvPr id="148" name="Google Shape;148;p20"/>
          <p:cNvPicPr preferRelativeResize="0"/>
          <p:nvPr/>
        </p:nvPicPr>
        <p:blipFill>
          <a:blip r:embed="rId7">
            <a:alphaModFix/>
          </a:blip>
          <a:stretch>
            <a:fillRect/>
          </a:stretch>
        </p:blipFill>
        <p:spPr>
          <a:xfrm>
            <a:off x="1701463" y="1879599"/>
            <a:ext cx="1210913" cy="1553766"/>
          </a:xfrm>
          <a:prstGeom prst="rect">
            <a:avLst/>
          </a:prstGeom>
          <a:noFill/>
          <a:ln>
            <a:noFill/>
          </a:ln>
        </p:spPr>
      </p:pic>
      <p:sp>
        <p:nvSpPr>
          <p:cNvPr id="149" name="Google Shape;149;p20"/>
          <p:cNvSpPr txBox="1"/>
          <p:nvPr>
            <p:ph type="title"/>
          </p:nvPr>
        </p:nvSpPr>
        <p:spPr>
          <a:xfrm>
            <a:off x="1622086" y="3474003"/>
            <a:ext cx="1369800" cy="700800"/>
          </a:xfrm>
          <a:prstGeom prst="rect">
            <a:avLst/>
          </a:prstGeom>
        </p:spPr>
        <p:txBody>
          <a:bodyPr anchorCtr="0" anchor="t" bIns="72925" lIns="72925" spcFirstLastPara="1" rIns="72925" wrap="square" tIns="72925">
            <a:noAutofit/>
          </a:bodyPr>
          <a:lstStyle/>
          <a:p>
            <a:pPr indent="0" lvl="0" marL="0" rtl="0" algn="ctr">
              <a:spcBef>
                <a:spcPts val="0"/>
              </a:spcBef>
              <a:spcAft>
                <a:spcPts val="0"/>
              </a:spcAft>
              <a:buSzPts val="790"/>
              <a:buNone/>
            </a:pPr>
            <a:r>
              <a:rPr i="1" lang="en" sz="1200"/>
              <a:t>A hobbyist creating to unwind and connect</a:t>
            </a:r>
            <a:endParaRPr i="1" sz="1200"/>
          </a:p>
        </p:txBody>
      </p:sp>
      <p:sp>
        <p:nvSpPr>
          <p:cNvPr id="150" name="Google Shape;150;p20"/>
          <p:cNvSpPr txBox="1"/>
          <p:nvPr>
            <p:ph type="title"/>
          </p:nvPr>
        </p:nvSpPr>
        <p:spPr>
          <a:xfrm>
            <a:off x="252268" y="3474011"/>
            <a:ext cx="1369800" cy="700800"/>
          </a:xfrm>
          <a:prstGeom prst="rect">
            <a:avLst/>
          </a:prstGeom>
        </p:spPr>
        <p:txBody>
          <a:bodyPr anchorCtr="0" anchor="t" bIns="72925" lIns="72925" spcFirstLastPara="1" rIns="72925" wrap="square" tIns="72925">
            <a:normAutofit/>
          </a:bodyPr>
          <a:lstStyle/>
          <a:p>
            <a:pPr indent="0" lvl="0" marL="0" rtl="0" algn="ctr">
              <a:spcBef>
                <a:spcPts val="0"/>
              </a:spcBef>
              <a:spcAft>
                <a:spcPts val="0"/>
              </a:spcAft>
              <a:buSzPts val="790"/>
              <a:buNone/>
            </a:pPr>
            <a:r>
              <a:rPr i="1" lang="en" sz="1200"/>
              <a:t>An admirer becoming a maker</a:t>
            </a:r>
            <a:endParaRPr i="1" sz="1200"/>
          </a:p>
        </p:txBody>
      </p:sp>
      <p:pic>
        <p:nvPicPr>
          <p:cNvPr id="151" name="Google Shape;151;p20"/>
          <p:cNvPicPr preferRelativeResize="0"/>
          <p:nvPr/>
        </p:nvPicPr>
        <p:blipFill>
          <a:blip r:embed="rId8">
            <a:alphaModFix/>
          </a:blip>
          <a:stretch>
            <a:fillRect/>
          </a:stretch>
        </p:blipFill>
        <p:spPr>
          <a:xfrm>
            <a:off x="331645" y="1879607"/>
            <a:ext cx="1210913" cy="1553090"/>
          </a:xfrm>
          <a:prstGeom prst="rect">
            <a:avLst/>
          </a:prstGeom>
          <a:noFill/>
          <a:ln>
            <a:noFill/>
          </a:ln>
        </p:spPr>
      </p:pic>
      <p:sp>
        <p:nvSpPr>
          <p:cNvPr id="152" name="Google Shape;152;p20"/>
          <p:cNvSpPr txBox="1"/>
          <p:nvPr>
            <p:ph type="title"/>
          </p:nvPr>
        </p:nvSpPr>
        <p:spPr>
          <a:xfrm>
            <a:off x="384300" y="1162300"/>
            <a:ext cx="1371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250"/>
              <a:t>beginner crafter</a:t>
            </a:r>
            <a:endParaRPr sz="1250"/>
          </a:p>
        </p:txBody>
      </p:sp>
      <p:pic>
        <p:nvPicPr>
          <p:cNvPr id="153" name="Google Shape;153;p20"/>
          <p:cNvPicPr preferRelativeResize="0"/>
          <p:nvPr/>
        </p:nvPicPr>
        <p:blipFill>
          <a:blip r:embed="rId9">
            <a:alphaModFix/>
          </a:blip>
          <a:stretch>
            <a:fillRect/>
          </a:stretch>
        </p:blipFill>
        <p:spPr>
          <a:xfrm rot="1048187">
            <a:off x="666252" y="2123752"/>
            <a:ext cx="686818" cy="686800"/>
          </a:xfrm>
          <a:prstGeom prst="rect">
            <a:avLst/>
          </a:prstGeom>
          <a:noFill/>
          <a:ln>
            <a:noFill/>
          </a:ln>
        </p:spPr>
      </p:pic>
      <p:pic>
        <p:nvPicPr>
          <p:cNvPr id="154" name="Google Shape;154;p20"/>
          <p:cNvPicPr preferRelativeResize="0"/>
          <p:nvPr/>
        </p:nvPicPr>
        <p:blipFill>
          <a:blip r:embed="rId9">
            <a:alphaModFix/>
          </a:blip>
          <a:stretch>
            <a:fillRect/>
          </a:stretch>
        </p:blipFill>
        <p:spPr>
          <a:xfrm rot="694688">
            <a:off x="3305967" y="2142380"/>
            <a:ext cx="741361" cy="741341"/>
          </a:xfrm>
          <a:prstGeom prst="rect">
            <a:avLst/>
          </a:prstGeom>
          <a:noFill/>
          <a:ln>
            <a:noFill/>
          </a:ln>
        </p:spPr>
      </p:pic>
      <p:pic>
        <p:nvPicPr>
          <p:cNvPr id="155" name="Google Shape;155;p20"/>
          <p:cNvPicPr preferRelativeResize="0"/>
          <p:nvPr/>
        </p:nvPicPr>
        <p:blipFill>
          <a:blip r:embed="rId9">
            <a:alphaModFix/>
          </a:blip>
          <a:stretch>
            <a:fillRect/>
          </a:stretch>
        </p:blipFill>
        <p:spPr>
          <a:xfrm rot="834402">
            <a:off x="4851005" y="2163740"/>
            <a:ext cx="816018" cy="816022"/>
          </a:xfrm>
          <a:prstGeom prst="rect">
            <a:avLst/>
          </a:prstGeom>
          <a:noFill/>
          <a:ln>
            <a:noFill/>
          </a:ln>
        </p:spPr>
      </p:pic>
      <p:pic>
        <p:nvPicPr>
          <p:cNvPr id="156" name="Google Shape;156;p20"/>
          <p:cNvPicPr preferRelativeResize="0"/>
          <p:nvPr/>
        </p:nvPicPr>
        <p:blipFill rotWithShape="1">
          <a:blip r:embed="rId9">
            <a:alphaModFix/>
          </a:blip>
          <a:srcRect b="11614" l="72770" r="0" t="0"/>
          <a:stretch/>
        </p:blipFill>
        <p:spPr>
          <a:xfrm rot="62">
            <a:off x="3147793" y="1971637"/>
            <a:ext cx="233756" cy="758730"/>
          </a:xfrm>
          <a:prstGeom prst="rect">
            <a:avLst/>
          </a:prstGeom>
          <a:noFill/>
          <a:ln>
            <a:noFill/>
          </a:ln>
        </p:spPr>
      </p:pic>
      <p:pic>
        <p:nvPicPr>
          <p:cNvPr id="157" name="Google Shape;157;p20"/>
          <p:cNvPicPr preferRelativeResize="0"/>
          <p:nvPr/>
        </p:nvPicPr>
        <p:blipFill>
          <a:blip r:embed="rId9">
            <a:alphaModFix/>
          </a:blip>
          <a:stretch>
            <a:fillRect/>
          </a:stretch>
        </p:blipFill>
        <p:spPr>
          <a:xfrm rot="143232">
            <a:off x="6414974" y="1982747"/>
            <a:ext cx="545803" cy="545787"/>
          </a:xfrm>
          <a:prstGeom prst="rect">
            <a:avLst/>
          </a:prstGeom>
          <a:noFill/>
          <a:ln>
            <a:noFill/>
          </a:ln>
        </p:spPr>
      </p:pic>
      <p:pic>
        <p:nvPicPr>
          <p:cNvPr id="158" name="Google Shape;158;p20"/>
          <p:cNvPicPr preferRelativeResize="0"/>
          <p:nvPr/>
        </p:nvPicPr>
        <p:blipFill>
          <a:blip r:embed="rId9">
            <a:alphaModFix/>
          </a:blip>
          <a:stretch>
            <a:fillRect/>
          </a:stretch>
        </p:blipFill>
        <p:spPr>
          <a:xfrm rot="761137">
            <a:off x="8129504" y="2092246"/>
            <a:ext cx="517543" cy="5175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We met </a:t>
            </a:r>
            <a:endParaRPr/>
          </a:p>
        </p:txBody>
      </p:sp>
      <p:sp>
        <p:nvSpPr>
          <p:cNvPr id="164" name="Google Shape;164;p21"/>
          <p:cNvSpPr txBox="1"/>
          <p:nvPr>
            <p:ph idx="1" type="body"/>
          </p:nvPr>
        </p:nvSpPr>
        <p:spPr>
          <a:xfrm>
            <a:off x="91000" y="5380650"/>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2800">
                <a:solidFill>
                  <a:schemeClr val="dk1"/>
                </a:solidFill>
              </a:rPr>
              <a:t>Why were they chosen? </a:t>
            </a:r>
            <a:endParaRPr sz="2800">
              <a:solidFill>
                <a:schemeClr val="dk1"/>
              </a:solidFill>
            </a:endParaRPr>
          </a:p>
          <a:p>
            <a:pPr indent="0" lvl="0" marL="0" rtl="0" algn="l">
              <a:lnSpc>
                <a:spcPct val="100000"/>
              </a:lnSpc>
              <a:spcBef>
                <a:spcPts val="0"/>
              </a:spcBef>
              <a:spcAft>
                <a:spcPts val="0"/>
              </a:spcAft>
              <a:buNone/>
            </a:pPr>
            <a:r>
              <a:rPr lang="en" sz="2800">
                <a:solidFill>
                  <a:schemeClr val="dk1"/>
                </a:solidFill>
              </a:rPr>
              <a:t>Why are they appropriate? </a:t>
            </a:r>
            <a:endParaRPr sz="2800">
              <a:solidFill>
                <a:schemeClr val="dk1"/>
              </a:solidFill>
            </a:endParaRPr>
          </a:p>
          <a:p>
            <a:pPr indent="0" lvl="0" marL="0" rtl="0" algn="l">
              <a:lnSpc>
                <a:spcPct val="100000"/>
              </a:lnSpc>
              <a:spcBef>
                <a:spcPts val="0"/>
              </a:spcBef>
              <a:spcAft>
                <a:spcPts val="0"/>
              </a:spcAft>
              <a:buNone/>
            </a:pPr>
            <a:r>
              <a:rPr lang="en" sz="2800">
                <a:solidFill>
                  <a:schemeClr val="dk1"/>
                </a:solidFill>
              </a:rPr>
              <a:t>How were they recruited/compensated?</a:t>
            </a:r>
            <a:endParaRPr sz="28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2800">
                <a:solidFill>
                  <a:schemeClr val="dk1"/>
                </a:solidFill>
              </a:rPr>
              <a:t>Where were the interviews conducted?</a:t>
            </a:r>
            <a:endParaRPr sz="2800">
              <a:solidFill>
                <a:schemeClr val="dk1"/>
              </a:solidFill>
            </a:endParaRPr>
          </a:p>
        </p:txBody>
      </p:sp>
      <p:pic>
        <p:nvPicPr>
          <p:cNvPr id="165" name="Google Shape;165;p21"/>
          <p:cNvPicPr preferRelativeResize="0"/>
          <p:nvPr/>
        </p:nvPicPr>
        <p:blipFill>
          <a:blip r:embed="rId3">
            <a:alphaModFix/>
          </a:blip>
          <a:stretch>
            <a:fillRect/>
          </a:stretch>
        </p:blipFill>
        <p:spPr>
          <a:xfrm>
            <a:off x="7783600" y="1853473"/>
            <a:ext cx="1209236" cy="1657641"/>
          </a:xfrm>
          <a:prstGeom prst="rect">
            <a:avLst/>
          </a:prstGeom>
          <a:noFill/>
          <a:ln>
            <a:noFill/>
          </a:ln>
        </p:spPr>
      </p:pic>
      <p:sp>
        <p:nvSpPr>
          <p:cNvPr id="166" name="Google Shape;166;p21"/>
          <p:cNvSpPr txBox="1"/>
          <p:nvPr>
            <p:ph type="title"/>
          </p:nvPr>
        </p:nvSpPr>
        <p:spPr>
          <a:xfrm>
            <a:off x="7703386" y="3500149"/>
            <a:ext cx="1369800" cy="700800"/>
          </a:xfrm>
          <a:prstGeom prst="rect">
            <a:avLst/>
          </a:prstGeom>
        </p:spPr>
        <p:txBody>
          <a:bodyPr anchorCtr="0" anchor="t" bIns="72925" lIns="72925" spcFirstLastPara="1" rIns="72925" wrap="square" tIns="72925">
            <a:noAutofit/>
          </a:bodyPr>
          <a:lstStyle/>
          <a:p>
            <a:pPr indent="0" lvl="0" marL="0" rtl="0" algn="ctr">
              <a:spcBef>
                <a:spcPts val="0"/>
              </a:spcBef>
              <a:spcAft>
                <a:spcPts val="0"/>
              </a:spcAft>
              <a:buSzPts val="790"/>
              <a:buNone/>
            </a:pPr>
            <a:r>
              <a:rPr i="1" lang="en" sz="1200"/>
              <a:t>An artist balancing livelihood and discovery</a:t>
            </a:r>
            <a:endParaRPr i="1" sz="1200"/>
          </a:p>
        </p:txBody>
      </p:sp>
      <p:cxnSp>
        <p:nvCxnSpPr>
          <p:cNvPr id="167" name="Google Shape;167;p21"/>
          <p:cNvCxnSpPr/>
          <p:nvPr/>
        </p:nvCxnSpPr>
        <p:spPr>
          <a:xfrm>
            <a:off x="442927" y="1599600"/>
            <a:ext cx="8237400" cy="24900"/>
          </a:xfrm>
          <a:prstGeom prst="straightConnector1">
            <a:avLst/>
          </a:prstGeom>
          <a:noFill/>
          <a:ln cap="flat" cmpd="sng" w="9525">
            <a:solidFill>
              <a:schemeClr val="dk1"/>
            </a:solidFill>
            <a:prstDash val="solid"/>
            <a:round/>
            <a:headEnd len="med" w="med" type="none"/>
            <a:tailEnd len="med" w="med" type="none"/>
          </a:ln>
        </p:spPr>
      </p:cxnSp>
      <p:sp>
        <p:nvSpPr>
          <p:cNvPr id="168" name="Google Shape;168;p21"/>
          <p:cNvSpPr txBox="1"/>
          <p:nvPr>
            <p:ph type="title"/>
          </p:nvPr>
        </p:nvSpPr>
        <p:spPr>
          <a:xfrm>
            <a:off x="7309325" y="1208650"/>
            <a:ext cx="1371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SzPct val="69718"/>
              <a:buNone/>
            </a:pPr>
            <a:r>
              <a:rPr lang="en" sz="1420"/>
              <a:t>extreme crafters</a:t>
            </a:r>
            <a:endParaRPr sz="1150"/>
          </a:p>
        </p:txBody>
      </p:sp>
      <p:sp>
        <p:nvSpPr>
          <p:cNvPr id="169" name="Google Shape;169;p21"/>
          <p:cNvSpPr txBox="1"/>
          <p:nvPr>
            <p:ph type="title"/>
          </p:nvPr>
        </p:nvSpPr>
        <p:spPr>
          <a:xfrm>
            <a:off x="4562390" y="3456532"/>
            <a:ext cx="1369800" cy="700800"/>
          </a:xfrm>
          <a:prstGeom prst="rect">
            <a:avLst/>
          </a:prstGeom>
        </p:spPr>
        <p:txBody>
          <a:bodyPr anchorCtr="0" anchor="t" bIns="72925" lIns="72925" spcFirstLastPara="1" rIns="72925" wrap="square" tIns="72925">
            <a:normAutofit/>
          </a:bodyPr>
          <a:lstStyle/>
          <a:p>
            <a:pPr indent="0" lvl="0" marL="0" rtl="0" algn="ctr">
              <a:spcBef>
                <a:spcPts val="0"/>
              </a:spcBef>
              <a:spcAft>
                <a:spcPts val="0"/>
              </a:spcAft>
              <a:buSzPts val="790"/>
              <a:buNone/>
            </a:pPr>
            <a:r>
              <a:rPr i="1" lang="en" sz="1200"/>
              <a:t>A crafter who protects room for play</a:t>
            </a:r>
            <a:endParaRPr i="1" sz="1200"/>
          </a:p>
        </p:txBody>
      </p:sp>
      <p:sp>
        <p:nvSpPr>
          <p:cNvPr id="170" name="Google Shape;170;p21"/>
          <p:cNvSpPr txBox="1"/>
          <p:nvPr>
            <p:ph type="title"/>
          </p:nvPr>
        </p:nvSpPr>
        <p:spPr>
          <a:xfrm>
            <a:off x="6133000" y="3457525"/>
            <a:ext cx="1369800" cy="1071900"/>
          </a:xfrm>
          <a:prstGeom prst="rect">
            <a:avLst/>
          </a:prstGeom>
        </p:spPr>
        <p:txBody>
          <a:bodyPr anchorCtr="0" anchor="t" bIns="72925" lIns="72925" spcFirstLastPara="1" rIns="72925" wrap="square" tIns="72925">
            <a:normAutofit/>
          </a:bodyPr>
          <a:lstStyle/>
          <a:p>
            <a:pPr indent="0" lvl="0" marL="0" rtl="0" algn="ctr">
              <a:spcBef>
                <a:spcPts val="0"/>
              </a:spcBef>
              <a:spcAft>
                <a:spcPts val="0"/>
              </a:spcAft>
              <a:buSzPts val="790"/>
              <a:buNone/>
            </a:pPr>
            <a:r>
              <a:rPr i="1" lang="en" sz="1200"/>
              <a:t>An artist who teaches and performs</a:t>
            </a:r>
            <a:endParaRPr i="1" sz="1200"/>
          </a:p>
        </p:txBody>
      </p:sp>
      <p:pic>
        <p:nvPicPr>
          <p:cNvPr id="171" name="Google Shape;171;p21"/>
          <p:cNvPicPr preferRelativeResize="0"/>
          <p:nvPr/>
        </p:nvPicPr>
        <p:blipFill>
          <a:blip r:embed="rId4">
            <a:alphaModFix/>
          </a:blip>
          <a:stretch>
            <a:fillRect/>
          </a:stretch>
        </p:blipFill>
        <p:spPr>
          <a:xfrm>
            <a:off x="4585718" y="1897070"/>
            <a:ext cx="1346592" cy="1549810"/>
          </a:xfrm>
          <a:prstGeom prst="rect">
            <a:avLst/>
          </a:prstGeom>
          <a:noFill/>
          <a:ln>
            <a:noFill/>
          </a:ln>
        </p:spPr>
      </p:pic>
      <p:pic>
        <p:nvPicPr>
          <p:cNvPr id="172" name="Google Shape;172;p21"/>
          <p:cNvPicPr preferRelativeResize="0"/>
          <p:nvPr/>
        </p:nvPicPr>
        <p:blipFill>
          <a:blip r:embed="rId5">
            <a:alphaModFix/>
          </a:blip>
          <a:stretch>
            <a:fillRect/>
          </a:stretch>
        </p:blipFill>
        <p:spPr>
          <a:xfrm>
            <a:off x="6037598" y="1896083"/>
            <a:ext cx="1560488" cy="1553761"/>
          </a:xfrm>
          <a:prstGeom prst="rect">
            <a:avLst/>
          </a:prstGeom>
          <a:noFill/>
          <a:ln>
            <a:noFill/>
          </a:ln>
        </p:spPr>
      </p:pic>
      <p:pic>
        <p:nvPicPr>
          <p:cNvPr id="173" name="Google Shape;173;p21"/>
          <p:cNvPicPr preferRelativeResize="0"/>
          <p:nvPr/>
        </p:nvPicPr>
        <p:blipFill>
          <a:blip r:embed="rId6">
            <a:alphaModFix/>
          </a:blip>
          <a:stretch>
            <a:fillRect/>
          </a:stretch>
        </p:blipFill>
        <p:spPr>
          <a:xfrm>
            <a:off x="3121710" y="1879609"/>
            <a:ext cx="1209227" cy="1553069"/>
          </a:xfrm>
          <a:prstGeom prst="rect">
            <a:avLst/>
          </a:prstGeom>
          <a:noFill/>
          <a:ln>
            <a:noFill/>
          </a:ln>
        </p:spPr>
      </p:pic>
      <p:sp>
        <p:nvSpPr>
          <p:cNvPr id="174" name="Google Shape;174;p21"/>
          <p:cNvSpPr txBox="1"/>
          <p:nvPr>
            <p:ph type="title"/>
          </p:nvPr>
        </p:nvSpPr>
        <p:spPr>
          <a:xfrm>
            <a:off x="2991755" y="3474003"/>
            <a:ext cx="1369800" cy="700800"/>
          </a:xfrm>
          <a:prstGeom prst="rect">
            <a:avLst/>
          </a:prstGeom>
        </p:spPr>
        <p:txBody>
          <a:bodyPr anchorCtr="0" anchor="t" bIns="72925" lIns="72925" spcFirstLastPara="1" rIns="72925" wrap="square" tIns="72925">
            <a:normAutofit/>
          </a:bodyPr>
          <a:lstStyle/>
          <a:p>
            <a:pPr indent="0" lvl="0" marL="0" rtl="0" algn="ctr">
              <a:spcBef>
                <a:spcPts val="0"/>
              </a:spcBef>
              <a:spcAft>
                <a:spcPts val="0"/>
              </a:spcAft>
              <a:buSzPts val="790"/>
              <a:buNone/>
            </a:pPr>
            <a:r>
              <a:rPr i="1" lang="en" sz="1200"/>
              <a:t>An experienced crafter choosing to begin again</a:t>
            </a:r>
            <a:endParaRPr i="1" sz="1200"/>
          </a:p>
        </p:txBody>
      </p:sp>
      <p:pic>
        <p:nvPicPr>
          <p:cNvPr id="175" name="Google Shape;175;p21"/>
          <p:cNvPicPr preferRelativeResize="0"/>
          <p:nvPr/>
        </p:nvPicPr>
        <p:blipFill>
          <a:blip r:embed="rId7">
            <a:alphaModFix/>
          </a:blip>
          <a:stretch>
            <a:fillRect/>
          </a:stretch>
        </p:blipFill>
        <p:spPr>
          <a:xfrm>
            <a:off x="1701463" y="1879599"/>
            <a:ext cx="1210913" cy="1553766"/>
          </a:xfrm>
          <a:prstGeom prst="rect">
            <a:avLst/>
          </a:prstGeom>
          <a:noFill/>
          <a:ln>
            <a:noFill/>
          </a:ln>
        </p:spPr>
      </p:pic>
      <p:sp>
        <p:nvSpPr>
          <p:cNvPr id="176" name="Google Shape;176;p21"/>
          <p:cNvSpPr txBox="1"/>
          <p:nvPr>
            <p:ph type="title"/>
          </p:nvPr>
        </p:nvSpPr>
        <p:spPr>
          <a:xfrm>
            <a:off x="1622086" y="3474003"/>
            <a:ext cx="1369800" cy="700800"/>
          </a:xfrm>
          <a:prstGeom prst="rect">
            <a:avLst/>
          </a:prstGeom>
        </p:spPr>
        <p:txBody>
          <a:bodyPr anchorCtr="0" anchor="t" bIns="72925" lIns="72925" spcFirstLastPara="1" rIns="72925" wrap="square" tIns="72925">
            <a:noAutofit/>
          </a:bodyPr>
          <a:lstStyle/>
          <a:p>
            <a:pPr indent="0" lvl="0" marL="0" rtl="0" algn="ctr">
              <a:spcBef>
                <a:spcPts val="0"/>
              </a:spcBef>
              <a:spcAft>
                <a:spcPts val="0"/>
              </a:spcAft>
              <a:buSzPts val="790"/>
              <a:buNone/>
            </a:pPr>
            <a:r>
              <a:rPr i="1" lang="en" sz="1200"/>
              <a:t>A hobbyist creating to unwind and connect</a:t>
            </a:r>
            <a:endParaRPr i="1" sz="1200"/>
          </a:p>
        </p:txBody>
      </p:sp>
      <p:sp>
        <p:nvSpPr>
          <p:cNvPr id="177" name="Google Shape;177;p21"/>
          <p:cNvSpPr txBox="1"/>
          <p:nvPr>
            <p:ph type="title"/>
          </p:nvPr>
        </p:nvSpPr>
        <p:spPr>
          <a:xfrm>
            <a:off x="252268" y="3474011"/>
            <a:ext cx="1369800" cy="700800"/>
          </a:xfrm>
          <a:prstGeom prst="rect">
            <a:avLst/>
          </a:prstGeom>
        </p:spPr>
        <p:txBody>
          <a:bodyPr anchorCtr="0" anchor="t" bIns="72925" lIns="72925" spcFirstLastPara="1" rIns="72925" wrap="square" tIns="72925">
            <a:normAutofit/>
          </a:bodyPr>
          <a:lstStyle/>
          <a:p>
            <a:pPr indent="0" lvl="0" marL="0" rtl="0" algn="ctr">
              <a:spcBef>
                <a:spcPts val="0"/>
              </a:spcBef>
              <a:spcAft>
                <a:spcPts val="0"/>
              </a:spcAft>
              <a:buSzPts val="790"/>
              <a:buNone/>
            </a:pPr>
            <a:r>
              <a:rPr i="1" lang="en" sz="1200"/>
              <a:t>An admirer becoming a maker</a:t>
            </a:r>
            <a:endParaRPr i="1" sz="1200"/>
          </a:p>
        </p:txBody>
      </p:sp>
      <p:pic>
        <p:nvPicPr>
          <p:cNvPr id="178" name="Google Shape;178;p21"/>
          <p:cNvPicPr preferRelativeResize="0"/>
          <p:nvPr/>
        </p:nvPicPr>
        <p:blipFill>
          <a:blip r:embed="rId8">
            <a:alphaModFix/>
          </a:blip>
          <a:stretch>
            <a:fillRect/>
          </a:stretch>
        </p:blipFill>
        <p:spPr>
          <a:xfrm>
            <a:off x="331645" y="1879607"/>
            <a:ext cx="1210913" cy="1553090"/>
          </a:xfrm>
          <a:prstGeom prst="rect">
            <a:avLst/>
          </a:prstGeom>
          <a:noFill/>
          <a:ln>
            <a:noFill/>
          </a:ln>
        </p:spPr>
      </p:pic>
      <p:sp>
        <p:nvSpPr>
          <p:cNvPr id="179" name="Google Shape;179;p21"/>
          <p:cNvSpPr txBox="1"/>
          <p:nvPr>
            <p:ph type="title"/>
          </p:nvPr>
        </p:nvSpPr>
        <p:spPr>
          <a:xfrm>
            <a:off x="384300" y="1162300"/>
            <a:ext cx="1371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1250"/>
              <a:t>beginner crafter</a:t>
            </a:r>
            <a:endParaRPr sz="1250"/>
          </a:p>
        </p:txBody>
      </p:sp>
      <p:pic>
        <p:nvPicPr>
          <p:cNvPr id="180" name="Google Shape;180;p21"/>
          <p:cNvPicPr preferRelativeResize="0"/>
          <p:nvPr/>
        </p:nvPicPr>
        <p:blipFill>
          <a:blip r:embed="rId9">
            <a:alphaModFix/>
          </a:blip>
          <a:stretch>
            <a:fillRect/>
          </a:stretch>
        </p:blipFill>
        <p:spPr>
          <a:xfrm rot="1048187">
            <a:off x="666252" y="2123752"/>
            <a:ext cx="686818" cy="686800"/>
          </a:xfrm>
          <a:prstGeom prst="rect">
            <a:avLst/>
          </a:prstGeom>
          <a:noFill/>
          <a:ln>
            <a:noFill/>
          </a:ln>
        </p:spPr>
      </p:pic>
      <p:pic>
        <p:nvPicPr>
          <p:cNvPr id="181" name="Google Shape;181;p21"/>
          <p:cNvPicPr preferRelativeResize="0"/>
          <p:nvPr/>
        </p:nvPicPr>
        <p:blipFill>
          <a:blip r:embed="rId9">
            <a:alphaModFix/>
          </a:blip>
          <a:stretch>
            <a:fillRect/>
          </a:stretch>
        </p:blipFill>
        <p:spPr>
          <a:xfrm rot="694688">
            <a:off x="3305967" y="2142380"/>
            <a:ext cx="741361" cy="741341"/>
          </a:xfrm>
          <a:prstGeom prst="rect">
            <a:avLst/>
          </a:prstGeom>
          <a:noFill/>
          <a:ln>
            <a:noFill/>
          </a:ln>
        </p:spPr>
      </p:pic>
      <p:pic>
        <p:nvPicPr>
          <p:cNvPr id="182" name="Google Shape;182;p21"/>
          <p:cNvPicPr preferRelativeResize="0"/>
          <p:nvPr/>
        </p:nvPicPr>
        <p:blipFill>
          <a:blip r:embed="rId9">
            <a:alphaModFix/>
          </a:blip>
          <a:stretch>
            <a:fillRect/>
          </a:stretch>
        </p:blipFill>
        <p:spPr>
          <a:xfrm rot="834402">
            <a:off x="4851005" y="2163740"/>
            <a:ext cx="816018" cy="816022"/>
          </a:xfrm>
          <a:prstGeom prst="rect">
            <a:avLst/>
          </a:prstGeom>
          <a:noFill/>
          <a:ln>
            <a:noFill/>
          </a:ln>
        </p:spPr>
      </p:pic>
      <p:pic>
        <p:nvPicPr>
          <p:cNvPr id="183" name="Google Shape;183;p21"/>
          <p:cNvPicPr preferRelativeResize="0"/>
          <p:nvPr/>
        </p:nvPicPr>
        <p:blipFill rotWithShape="1">
          <a:blip r:embed="rId9">
            <a:alphaModFix/>
          </a:blip>
          <a:srcRect b="11614" l="72770" r="0" t="0"/>
          <a:stretch/>
        </p:blipFill>
        <p:spPr>
          <a:xfrm rot="62">
            <a:off x="3147793" y="1971637"/>
            <a:ext cx="233756" cy="758730"/>
          </a:xfrm>
          <a:prstGeom prst="rect">
            <a:avLst/>
          </a:prstGeom>
          <a:noFill/>
          <a:ln>
            <a:noFill/>
          </a:ln>
        </p:spPr>
      </p:pic>
      <p:pic>
        <p:nvPicPr>
          <p:cNvPr id="184" name="Google Shape;184;p21"/>
          <p:cNvPicPr preferRelativeResize="0"/>
          <p:nvPr/>
        </p:nvPicPr>
        <p:blipFill>
          <a:blip r:embed="rId9">
            <a:alphaModFix/>
          </a:blip>
          <a:stretch>
            <a:fillRect/>
          </a:stretch>
        </p:blipFill>
        <p:spPr>
          <a:xfrm rot="143232">
            <a:off x="6414974" y="1982747"/>
            <a:ext cx="545803" cy="545787"/>
          </a:xfrm>
          <a:prstGeom prst="rect">
            <a:avLst/>
          </a:prstGeom>
          <a:noFill/>
          <a:ln>
            <a:noFill/>
          </a:ln>
        </p:spPr>
      </p:pic>
      <p:pic>
        <p:nvPicPr>
          <p:cNvPr id="185" name="Google Shape;185;p21"/>
          <p:cNvPicPr preferRelativeResize="0"/>
          <p:nvPr/>
        </p:nvPicPr>
        <p:blipFill>
          <a:blip r:embed="rId9">
            <a:alphaModFix/>
          </a:blip>
          <a:stretch>
            <a:fillRect/>
          </a:stretch>
        </p:blipFill>
        <p:spPr>
          <a:xfrm rot="761137">
            <a:off x="8129504" y="2092246"/>
            <a:ext cx="517543" cy="517508"/>
          </a:xfrm>
          <a:prstGeom prst="rect">
            <a:avLst/>
          </a:prstGeom>
          <a:noFill/>
          <a:ln>
            <a:noFill/>
          </a:ln>
        </p:spPr>
      </p:pic>
      <p:sp>
        <p:nvSpPr>
          <p:cNvPr id="186" name="Google Shape;186;p21"/>
          <p:cNvSpPr/>
          <p:nvPr/>
        </p:nvSpPr>
        <p:spPr>
          <a:xfrm>
            <a:off x="1551825" y="1879601"/>
            <a:ext cx="1560600" cy="2458500"/>
          </a:xfrm>
          <a:prstGeom prst="rect">
            <a:avLst/>
          </a:prstGeom>
          <a:solidFill>
            <a:srgbClr val="FFFFFF">
              <a:alpha val="778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21"/>
          <p:cNvSpPr/>
          <p:nvPr/>
        </p:nvSpPr>
        <p:spPr>
          <a:xfrm>
            <a:off x="6037500" y="1781350"/>
            <a:ext cx="1560600" cy="2393400"/>
          </a:xfrm>
          <a:prstGeom prst="rect">
            <a:avLst/>
          </a:prstGeom>
          <a:solidFill>
            <a:srgbClr val="FFFFFF">
              <a:alpha val="778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and asked them</a:t>
            </a:r>
            <a:endParaRPr/>
          </a:p>
        </p:txBody>
      </p:sp>
      <p:pic>
        <p:nvPicPr>
          <p:cNvPr id="193" name="Google Shape;193;p22"/>
          <p:cNvPicPr preferRelativeResize="0"/>
          <p:nvPr/>
        </p:nvPicPr>
        <p:blipFill>
          <a:blip r:embed="rId3">
            <a:alphaModFix/>
          </a:blip>
          <a:stretch>
            <a:fillRect/>
          </a:stretch>
        </p:blipFill>
        <p:spPr>
          <a:xfrm>
            <a:off x="1008247" y="120625"/>
            <a:ext cx="7436902" cy="490225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type="title"/>
          </p:nvPr>
        </p:nvSpPr>
        <p:spPr>
          <a:xfrm>
            <a:off x="4212325" y="1056600"/>
            <a:ext cx="3877800" cy="403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Eddy</a:t>
            </a:r>
            <a:endParaRPr sz="1600"/>
          </a:p>
          <a:p>
            <a:pPr indent="0" lvl="0" marL="0" rtl="0" algn="l">
              <a:spcBef>
                <a:spcPts val="0"/>
              </a:spcBef>
              <a:spcAft>
                <a:spcPts val="0"/>
              </a:spcAft>
              <a:buNone/>
            </a:pPr>
            <a:r>
              <a:t/>
            </a:r>
            <a:endParaRPr b="1" sz="1600"/>
          </a:p>
          <a:p>
            <a:pPr indent="0" lvl="0" marL="0" rtl="0" algn="l">
              <a:spcBef>
                <a:spcPts val="0"/>
              </a:spcBef>
              <a:spcAft>
                <a:spcPts val="0"/>
              </a:spcAft>
              <a:buNone/>
            </a:pPr>
            <a:r>
              <a:rPr b="1" lang="en" sz="1600"/>
              <a:t>An admirer becoming a maker</a:t>
            </a:r>
            <a:endParaRPr b="1" sz="1600"/>
          </a:p>
          <a:p>
            <a:pPr indent="0" lvl="0" marL="0" rtl="0" algn="l">
              <a:spcBef>
                <a:spcPts val="0"/>
              </a:spcBef>
              <a:spcAft>
                <a:spcPts val="0"/>
              </a:spcAft>
              <a:buNone/>
            </a:pPr>
            <a:r>
              <a:t/>
            </a:r>
            <a:endParaRPr b="1" sz="1600"/>
          </a:p>
          <a:p>
            <a:pPr indent="-330200" lvl="0" marL="457200" rtl="0" algn="l">
              <a:spcBef>
                <a:spcPts val="0"/>
              </a:spcBef>
              <a:spcAft>
                <a:spcPts val="0"/>
              </a:spcAft>
              <a:buSzPts val="1600"/>
              <a:buChar char="●"/>
            </a:pPr>
            <a:r>
              <a:rPr lang="en" sz="1600"/>
              <a:t>Recently retired software professional</a:t>
            </a:r>
            <a:endParaRPr sz="1600"/>
          </a:p>
          <a:p>
            <a:pPr indent="-330200" lvl="0" marL="457200" rtl="0" algn="l">
              <a:spcBef>
                <a:spcPts val="0"/>
              </a:spcBef>
              <a:spcAft>
                <a:spcPts val="0"/>
              </a:spcAft>
              <a:buSzPts val="1600"/>
              <a:buChar char="●"/>
            </a:pPr>
            <a:r>
              <a:rPr lang="en" sz="1600"/>
              <a:t>Has admired and collected glass for decades</a:t>
            </a:r>
            <a:endParaRPr sz="1600"/>
          </a:p>
          <a:p>
            <a:pPr indent="-330200" lvl="0" marL="457200" rtl="0" algn="l">
              <a:spcBef>
                <a:spcPts val="0"/>
              </a:spcBef>
              <a:spcAft>
                <a:spcPts val="0"/>
              </a:spcAft>
              <a:buSzPts val="1600"/>
              <a:buChar char="●"/>
            </a:pPr>
            <a:r>
              <a:rPr lang="en" sz="1600"/>
              <a:t>Taken two glassblowing classes while traveling</a:t>
            </a:r>
            <a:endParaRPr sz="1600"/>
          </a:p>
          <a:p>
            <a:pPr indent="0" lvl="0" marL="457200" rtl="0" algn="l">
              <a:spcBef>
                <a:spcPts val="0"/>
              </a:spcBef>
              <a:spcAft>
                <a:spcPts val="0"/>
              </a:spcAft>
              <a:buNone/>
            </a:pPr>
            <a:r>
              <a:t/>
            </a:r>
            <a:endParaRPr sz="1600"/>
          </a:p>
          <a:p>
            <a:pPr indent="0" lvl="0" marL="0" rtl="0" algn="l">
              <a:spcBef>
                <a:spcPts val="0"/>
              </a:spcBef>
              <a:spcAft>
                <a:spcPts val="0"/>
              </a:spcAft>
              <a:buNone/>
            </a:pPr>
            <a:r>
              <a:rPr lang="en" sz="1600"/>
              <a:t>“It’s an opportunity to do something new and fun”</a:t>
            </a:r>
            <a:endParaRPr sz="1600"/>
          </a:p>
        </p:txBody>
      </p:sp>
      <p:pic>
        <p:nvPicPr>
          <p:cNvPr id="199" name="Google Shape;199;p23"/>
          <p:cNvPicPr preferRelativeResize="0"/>
          <p:nvPr/>
        </p:nvPicPr>
        <p:blipFill>
          <a:blip r:embed="rId3">
            <a:alphaModFix/>
          </a:blip>
          <a:stretch>
            <a:fillRect/>
          </a:stretch>
        </p:blipFill>
        <p:spPr>
          <a:xfrm>
            <a:off x="1208031" y="1056592"/>
            <a:ext cx="2547287" cy="3267151"/>
          </a:xfrm>
          <a:prstGeom prst="rect">
            <a:avLst/>
          </a:prstGeom>
          <a:noFill/>
          <a:ln>
            <a:noFill/>
          </a:ln>
        </p:spPr>
      </p:pic>
      <p:pic>
        <p:nvPicPr>
          <p:cNvPr id="200" name="Google Shape;200;p23"/>
          <p:cNvPicPr preferRelativeResize="0"/>
          <p:nvPr/>
        </p:nvPicPr>
        <p:blipFill>
          <a:blip r:embed="rId4">
            <a:alphaModFix/>
          </a:blip>
          <a:stretch>
            <a:fillRect/>
          </a:stretch>
        </p:blipFill>
        <p:spPr>
          <a:xfrm rot="1048185">
            <a:off x="1911915" y="1570181"/>
            <a:ext cx="1444797" cy="144475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24"/>
          <p:cNvPicPr preferRelativeResize="0"/>
          <p:nvPr/>
        </p:nvPicPr>
        <p:blipFill rotWithShape="1">
          <a:blip r:embed="rId3">
            <a:alphaModFix/>
          </a:blip>
          <a:srcRect b="0" l="1791" r="1897" t="2306"/>
          <a:stretch/>
        </p:blipFill>
        <p:spPr>
          <a:xfrm>
            <a:off x="1302975" y="82325"/>
            <a:ext cx="6398551" cy="4883783"/>
          </a:xfrm>
          <a:prstGeom prst="rect">
            <a:avLst/>
          </a:prstGeom>
          <a:noFill/>
          <a:ln>
            <a:noFill/>
          </a:ln>
        </p:spPr>
      </p:pic>
      <p:pic>
        <p:nvPicPr>
          <p:cNvPr id="206" name="Google Shape;206;p24"/>
          <p:cNvPicPr preferRelativeResize="0"/>
          <p:nvPr/>
        </p:nvPicPr>
        <p:blipFill rotWithShape="1">
          <a:blip r:embed="rId4">
            <a:alphaModFix/>
          </a:blip>
          <a:srcRect b="1416" l="1378" r="1582" t="2899"/>
          <a:stretch/>
        </p:blipFill>
        <p:spPr>
          <a:xfrm>
            <a:off x="1046775" y="0"/>
            <a:ext cx="6933059" cy="5143500"/>
          </a:xfrm>
          <a:prstGeom prst="rect">
            <a:avLst/>
          </a:prstGeom>
          <a:noFill/>
          <a:ln>
            <a:noFill/>
          </a:ln>
        </p:spPr>
      </p:pic>
      <p:pic>
        <p:nvPicPr>
          <p:cNvPr id="207" name="Google Shape;207;p24"/>
          <p:cNvPicPr preferRelativeResize="0"/>
          <p:nvPr/>
        </p:nvPicPr>
        <p:blipFill>
          <a:blip r:embed="rId5">
            <a:alphaModFix/>
          </a:blip>
          <a:stretch>
            <a:fillRect/>
          </a:stretch>
        </p:blipFill>
        <p:spPr>
          <a:xfrm rot="1048184">
            <a:off x="4534084" y="1754232"/>
            <a:ext cx="687255" cy="68723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25"/>
          <p:cNvPicPr preferRelativeResize="0"/>
          <p:nvPr/>
        </p:nvPicPr>
        <p:blipFill rotWithShape="1">
          <a:blip r:embed="rId3">
            <a:alphaModFix/>
          </a:blip>
          <a:srcRect b="0" l="1791" r="1897" t="2306"/>
          <a:stretch/>
        </p:blipFill>
        <p:spPr>
          <a:xfrm>
            <a:off x="3360450" y="687137"/>
            <a:ext cx="5275136" cy="4026321"/>
          </a:xfrm>
          <a:prstGeom prst="rect">
            <a:avLst/>
          </a:prstGeom>
          <a:noFill/>
          <a:ln>
            <a:noFill/>
          </a:ln>
        </p:spPr>
      </p:pic>
      <p:pic>
        <p:nvPicPr>
          <p:cNvPr id="213" name="Google Shape;213;p25"/>
          <p:cNvPicPr preferRelativeResize="0"/>
          <p:nvPr/>
        </p:nvPicPr>
        <p:blipFill rotWithShape="1">
          <a:blip r:embed="rId4">
            <a:alphaModFix/>
          </a:blip>
          <a:srcRect b="1416" l="1378" r="1582" t="2899"/>
          <a:stretch/>
        </p:blipFill>
        <p:spPr>
          <a:xfrm>
            <a:off x="3360450" y="687117"/>
            <a:ext cx="5540101" cy="4110082"/>
          </a:xfrm>
          <a:prstGeom prst="rect">
            <a:avLst/>
          </a:prstGeom>
          <a:noFill/>
          <a:ln>
            <a:noFill/>
          </a:ln>
        </p:spPr>
      </p:pic>
      <p:pic>
        <p:nvPicPr>
          <p:cNvPr id="214" name="Google Shape;214;p25"/>
          <p:cNvPicPr preferRelativeResize="0"/>
          <p:nvPr/>
        </p:nvPicPr>
        <p:blipFill>
          <a:blip r:embed="rId5">
            <a:alphaModFix/>
          </a:blip>
          <a:stretch>
            <a:fillRect/>
          </a:stretch>
        </p:blipFill>
        <p:spPr>
          <a:xfrm rot="1048220">
            <a:off x="6147346" y="2056197"/>
            <a:ext cx="562185" cy="562184"/>
          </a:xfrm>
          <a:prstGeom prst="rect">
            <a:avLst/>
          </a:prstGeom>
          <a:noFill/>
          <a:ln>
            <a:noFill/>
          </a:ln>
        </p:spPr>
      </p:pic>
      <p:sp>
        <p:nvSpPr>
          <p:cNvPr id="215" name="Google Shape;215;p25"/>
          <p:cNvSpPr/>
          <p:nvPr/>
        </p:nvSpPr>
        <p:spPr>
          <a:xfrm>
            <a:off x="3360450" y="660075"/>
            <a:ext cx="5540100" cy="4080300"/>
          </a:xfrm>
          <a:prstGeom prst="rect">
            <a:avLst/>
          </a:prstGeom>
          <a:solidFill>
            <a:srgbClr val="FFFFFF">
              <a:alpha val="66460"/>
            </a:srgbClr>
          </a:solidFill>
          <a:ln>
            <a:noFill/>
          </a:ln>
        </p:spPr>
        <p:txBody>
          <a:bodyPr anchorCtr="0" anchor="ctr" bIns="75375" lIns="75375" spcFirstLastPara="1" rIns="75375" wrap="square" tIns="75375">
            <a:noAutofit/>
          </a:bodyPr>
          <a:lstStyle/>
          <a:p>
            <a:pPr indent="0" lvl="0" marL="0" rtl="0" algn="ctr">
              <a:spcBef>
                <a:spcPts val="0"/>
              </a:spcBef>
              <a:spcAft>
                <a:spcPts val="0"/>
              </a:spcAft>
              <a:buNone/>
            </a:pPr>
            <a:r>
              <a:t/>
            </a:r>
            <a:endParaRPr sz="1154"/>
          </a:p>
        </p:txBody>
      </p:sp>
      <p:pic>
        <p:nvPicPr>
          <p:cNvPr id="216" name="Google Shape;216;p25"/>
          <p:cNvPicPr preferRelativeResize="0"/>
          <p:nvPr/>
        </p:nvPicPr>
        <p:blipFill>
          <a:blip r:embed="rId6">
            <a:alphaModFix/>
          </a:blip>
          <a:stretch>
            <a:fillRect/>
          </a:stretch>
        </p:blipFill>
        <p:spPr>
          <a:xfrm>
            <a:off x="7049313" y="3051425"/>
            <a:ext cx="1055397" cy="1055397"/>
          </a:xfrm>
          <a:prstGeom prst="rect">
            <a:avLst/>
          </a:prstGeom>
          <a:noFill/>
          <a:ln>
            <a:noFill/>
          </a:ln>
        </p:spPr>
      </p:pic>
      <p:pic>
        <p:nvPicPr>
          <p:cNvPr id="217" name="Google Shape;217;p25"/>
          <p:cNvPicPr preferRelativeResize="0"/>
          <p:nvPr/>
        </p:nvPicPr>
        <p:blipFill>
          <a:blip r:embed="rId7">
            <a:alphaModFix/>
          </a:blip>
          <a:stretch>
            <a:fillRect/>
          </a:stretch>
        </p:blipFill>
        <p:spPr>
          <a:xfrm>
            <a:off x="4114696" y="1028570"/>
            <a:ext cx="1055397" cy="1213707"/>
          </a:xfrm>
          <a:prstGeom prst="rect">
            <a:avLst/>
          </a:prstGeom>
          <a:noFill/>
          <a:ln>
            <a:noFill/>
          </a:ln>
        </p:spPr>
      </p:pic>
      <p:pic>
        <p:nvPicPr>
          <p:cNvPr id="218" name="Google Shape;218;p25"/>
          <p:cNvPicPr preferRelativeResize="0"/>
          <p:nvPr/>
        </p:nvPicPr>
        <p:blipFill>
          <a:blip r:embed="rId8">
            <a:alphaModFix/>
          </a:blip>
          <a:stretch>
            <a:fillRect/>
          </a:stretch>
        </p:blipFill>
        <p:spPr>
          <a:xfrm>
            <a:off x="4060005" y="3051425"/>
            <a:ext cx="1055397" cy="1055397"/>
          </a:xfrm>
          <a:prstGeom prst="rect">
            <a:avLst/>
          </a:prstGeom>
          <a:noFill/>
          <a:ln>
            <a:noFill/>
          </a:ln>
        </p:spPr>
      </p:pic>
      <p:pic>
        <p:nvPicPr>
          <p:cNvPr id="219" name="Google Shape;219;p25"/>
          <p:cNvPicPr preferRelativeResize="0"/>
          <p:nvPr/>
        </p:nvPicPr>
        <p:blipFill>
          <a:blip r:embed="rId9">
            <a:alphaModFix/>
          </a:blip>
          <a:stretch>
            <a:fillRect/>
          </a:stretch>
        </p:blipFill>
        <p:spPr>
          <a:xfrm>
            <a:off x="6954710" y="1186881"/>
            <a:ext cx="1055397" cy="1055397"/>
          </a:xfrm>
          <a:prstGeom prst="rect">
            <a:avLst/>
          </a:prstGeom>
          <a:solidFill>
            <a:srgbClr val="FFFFFF">
              <a:alpha val="66460"/>
            </a:srgbClr>
          </a:solidFill>
          <a:ln>
            <a:noFill/>
          </a:ln>
        </p:spPr>
      </p:pic>
      <p:sp>
        <p:nvSpPr>
          <p:cNvPr id="220" name="Google Shape;220;p25"/>
          <p:cNvSpPr txBox="1"/>
          <p:nvPr>
            <p:ph idx="1" type="body"/>
          </p:nvPr>
        </p:nvSpPr>
        <p:spPr>
          <a:xfrm>
            <a:off x="360550" y="1247950"/>
            <a:ext cx="2632500" cy="33876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600">
                <a:solidFill>
                  <a:schemeClr val="dk1"/>
                </a:solidFill>
              </a:rPr>
              <a:t>Eddy tries crafting while traveling, yet hasn’t made it part of his life back home</a:t>
            </a:r>
            <a:endParaRPr sz="1600">
              <a:solidFill>
                <a:schemeClr val="dk1"/>
              </a:solidFill>
            </a:endParaRPr>
          </a:p>
          <a:p>
            <a:pPr indent="0" lvl="0" marL="0" rtl="0" algn="l">
              <a:lnSpc>
                <a:spcPct val="95000"/>
              </a:lnSpc>
              <a:spcBef>
                <a:spcPts val="1200"/>
              </a:spcBef>
              <a:spcAft>
                <a:spcPts val="0"/>
              </a:spcAft>
              <a:buNone/>
            </a:pPr>
            <a:r>
              <a:t/>
            </a:r>
            <a:endParaRPr sz="1600">
              <a:solidFill>
                <a:schemeClr val="dk1"/>
              </a:solidFill>
            </a:endParaRPr>
          </a:p>
          <a:p>
            <a:pPr indent="0" lvl="0" marL="0" rtl="0" algn="l">
              <a:lnSpc>
                <a:spcPct val="95000"/>
              </a:lnSpc>
              <a:spcBef>
                <a:spcPts val="1200"/>
              </a:spcBef>
              <a:spcAft>
                <a:spcPts val="0"/>
              </a:spcAft>
              <a:buNone/>
            </a:pPr>
            <a:r>
              <a:rPr i="1" lang="en" sz="1600">
                <a:solidFill>
                  <a:schemeClr val="dk1"/>
                </a:solidFill>
              </a:rPr>
              <a:t>“I’m still stalking them [local glass blowing classes]”</a:t>
            </a:r>
            <a:endParaRPr i="1" sz="1600">
              <a:solidFill>
                <a:schemeClr val="dk1"/>
              </a:solidFill>
            </a:endParaRPr>
          </a:p>
          <a:p>
            <a:pPr indent="0" lvl="0" marL="0" rtl="0" algn="l">
              <a:lnSpc>
                <a:spcPct val="95000"/>
              </a:lnSpc>
              <a:spcBef>
                <a:spcPts val="1200"/>
              </a:spcBef>
              <a:spcAft>
                <a:spcPts val="1200"/>
              </a:spcAft>
              <a:buNone/>
            </a:pPr>
            <a:r>
              <a:rPr i="1" lang="en" sz="1600">
                <a:solidFill>
                  <a:schemeClr val="dk1"/>
                </a:solidFill>
              </a:rPr>
              <a:t>“There’s always next week”</a:t>
            </a:r>
            <a:endParaRPr i="1" sz="1600">
              <a:solidFill>
                <a:schemeClr val="dk1"/>
              </a:solidFill>
            </a:endParaRPr>
          </a:p>
        </p:txBody>
      </p:sp>
      <p:sp>
        <p:nvSpPr>
          <p:cNvPr id="221" name="Google Shape;22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Surprised to notice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6"/>
          <p:cNvSpPr/>
          <p:nvPr/>
        </p:nvSpPr>
        <p:spPr>
          <a:xfrm>
            <a:off x="406125" y="1550075"/>
            <a:ext cx="2990100" cy="2649000"/>
          </a:xfrm>
          <a:prstGeom prst="rect">
            <a:avLst/>
          </a:prstGeom>
          <a:solidFill>
            <a:schemeClr val="lt1"/>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INSIGHT</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n">
                <a:solidFill>
                  <a:schemeClr val="dk1"/>
                </a:solidFill>
              </a:rPr>
              <a:t>Travel lets Eddy treat crafting as an </a:t>
            </a:r>
            <a:r>
              <a:rPr b="1" lang="en">
                <a:solidFill>
                  <a:schemeClr val="dk1"/>
                </a:solidFill>
              </a:rPr>
              <a:t>adventure</a:t>
            </a:r>
            <a:r>
              <a:rPr lang="en">
                <a:solidFill>
                  <a:schemeClr val="dk1"/>
                </a:solidFill>
              </a:rPr>
              <a:t> rather than a commitment to mastery. Calling himself a beginner </a:t>
            </a:r>
            <a:r>
              <a:rPr b="1" lang="en">
                <a:solidFill>
                  <a:schemeClr val="dk1"/>
                </a:solidFill>
              </a:rPr>
              <a:t>eases the pressure </a:t>
            </a:r>
            <a:r>
              <a:rPr lang="en">
                <a:solidFill>
                  <a:schemeClr val="dk1"/>
                </a:solidFill>
              </a:rPr>
              <a:t>to measure up to artists he admires</a:t>
            </a:r>
            <a:endParaRPr>
              <a:solidFill>
                <a:schemeClr val="dk1"/>
              </a:solidFill>
            </a:endParaRPr>
          </a:p>
        </p:txBody>
      </p:sp>
      <p:sp>
        <p:nvSpPr>
          <p:cNvPr id="227" name="Google Shape;22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a:t>
            </a:r>
            <a:endParaRPr/>
          </a:p>
        </p:txBody>
      </p:sp>
      <p:sp>
        <p:nvSpPr>
          <p:cNvPr id="228" name="Google Shape;228;p26"/>
          <p:cNvSpPr/>
          <p:nvPr/>
        </p:nvSpPr>
        <p:spPr>
          <a:xfrm>
            <a:off x="5753875" y="1499425"/>
            <a:ext cx="2908200" cy="2750100"/>
          </a:xfrm>
          <a:prstGeom prst="rect">
            <a:avLst/>
          </a:prstGeom>
          <a:solidFill>
            <a:schemeClr val="lt1"/>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NEED</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n">
                <a:solidFill>
                  <a:schemeClr val="dk1"/>
                </a:solidFill>
              </a:rPr>
              <a:t>To experience crafting as an </a:t>
            </a:r>
            <a:r>
              <a:rPr b="1" lang="en">
                <a:solidFill>
                  <a:schemeClr val="dk1"/>
                </a:solidFill>
              </a:rPr>
              <a:t>adventure he can try</a:t>
            </a:r>
            <a:r>
              <a:rPr lang="en">
                <a:solidFill>
                  <a:schemeClr val="dk1"/>
                </a:solidFill>
              </a:rPr>
              <a:t>, without feeling he must </a:t>
            </a:r>
            <a:r>
              <a:rPr b="1" lang="en">
                <a:solidFill>
                  <a:schemeClr val="dk1"/>
                </a:solidFill>
              </a:rPr>
              <a:t>prove</a:t>
            </a:r>
            <a:r>
              <a:rPr lang="en">
                <a:solidFill>
                  <a:schemeClr val="dk1"/>
                </a:solidFill>
              </a:rPr>
              <a:t> an identity as a maker</a:t>
            </a:r>
            <a:endParaRPr>
              <a:solidFill>
                <a:schemeClr val="dk1"/>
              </a:solidFill>
              <a:highlight>
                <a:schemeClr val="accent6"/>
              </a:highlight>
            </a:endParaRPr>
          </a:p>
        </p:txBody>
      </p:sp>
      <p:pic>
        <p:nvPicPr>
          <p:cNvPr id="229" name="Google Shape;229;p26"/>
          <p:cNvPicPr preferRelativeResize="0"/>
          <p:nvPr/>
        </p:nvPicPr>
        <p:blipFill>
          <a:blip r:embed="rId3">
            <a:alphaModFix/>
          </a:blip>
          <a:stretch>
            <a:fillRect/>
          </a:stretch>
        </p:blipFill>
        <p:spPr>
          <a:xfrm>
            <a:off x="3502901" y="1499349"/>
            <a:ext cx="2144289" cy="2750250"/>
          </a:xfrm>
          <a:prstGeom prst="rect">
            <a:avLst/>
          </a:prstGeom>
          <a:noFill/>
          <a:ln>
            <a:noFill/>
          </a:ln>
        </p:spPr>
      </p:pic>
      <p:pic>
        <p:nvPicPr>
          <p:cNvPr id="230" name="Google Shape;230;p26"/>
          <p:cNvPicPr preferRelativeResize="0"/>
          <p:nvPr/>
        </p:nvPicPr>
        <p:blipFill>
          <a:blip r:embed="rId4">
            <a:alphaModFix/>
          </a:blip>
          <a:stretch>
            <a:fillRect/>
          </a:stretch>
        </p:blipFill>
        <p:spPr>
          <a:xfrm rot="1048180">
            <a:off x="4095427" y="1931682"/>
            <a:ext cx="1216213" cy="121618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7"/>
          <p:cNvSpPr txBox="1"/>
          <p:nvPr/>
        </p:nvSpPr>
        <p:spPr>
          <a:xfrm>
            <a:off x="4144451" y="1165500"/>
            <a:ext cx="4251600" cy="302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Rosa</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An experienced crafter choosing to begin again</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rPr>
              <a:t>Retired nurse who has knitted for 60 years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Makes around 30 quilts a year for children through a charity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Became a beginner again through Japanese flower arranging</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“I always want to have a tiny adventure with, you know, three flowers in a vase”</a:t>
            </a:r>
            <a:endParaRPr>
              <a:solidFill>
                <a:schemeClr val="dk1"/>
              </a:solidFill>
            </a:endParaRPr>
          </a:p>
        </p:txBody>
      </p:sp>
      <p:pic>
        <p:nvPicPr>
          <p:cNvPr id="236" name="Google Shape;236;p27"/>
          <p:cNvPicPr preferRelativeResize="0"/>
          <p:nvPr/>
        </p:nvPicPr>
        <p:blipFill>
          <a:blip r:embed="rId3">
            <a:alphaModFix/>
          </a:blip>
          <a:stretch>
            <a:fillRect/>
          </a:stretch>
        </p:blipFill>
        <p:spPr>
          <a:xfrm>
            <a:off x="1119216" y="1090190"/>
            <a:ext cx="2667465" cy="3425976"/>
          </a:xfrm>
          <a:prstGeom prst="rect">
            <a:avLst/>
          </a:prstGeom>
          <a:noFill/>
          <a:ln>
            <a:noFill/>
          </a:ln>
        </p:spPr>
      </p:pic>
      <p:pic>
        <p:nvPicPr>
          <p:cNvPr id="237" name="Google Shape;237;p27"/>
          <p:cNvPicPr preferRelativeResize="0"/>
          <p:nvPr/>
        </p:nvPicPr>
        <p:blipFill>
          <a:blip r:embed="rId4">
            <a:alphaModFix/>
          </a:blip>
          <a:stretch>
            <a:fillRect/>
          </a:stretch>
        </p:blipFill>
        <p:spPr>
          <a:xfrm rot="694687">
            <a:off x="1525673" y="1669845"/>
            <a:ext cx="1635388" cy="1635345"/>
          </a:xfrm>
          <a:prstGeom prst="rect">
            <a:avLst/>
          </a:prstGeom>
          <a:noFill/>
          <a:ln>
            <a:noFill/>
          </a:ln>
        </p:spPr>
      </p:pic>
      <p:pic>
        <p:nvPicPr>
          <p:cNvPr id="238" name="Google Shape;238;p27"/>
          <p:cNvPicPr preferRelativeResize="0"/>
          <p:nvPr/>
        </p:nvPicPr>
        <p:blipFill rotWithShape="1">
          <a:blip r:embed="rId4">
            <a:alphaModFix/>
          </a:blip>
          <a:srcRect b="11614" l="72770" r="0" t="0"/>
          <a:stretch/>
        </p:blipFill>
        <p:spPr>
          <a:xfrm rot="56">
            <a:off x="1176753" y="1293198"/>
            <a:ext cx="515649" cy="1673715"/>
          </a:xfrm>
          <a:prstGeom prst="rect">
            <a:avLst/>
          </a:prstGeom>
          <a:noFill/>
          <a:ln>
            <a:noFill/>
          </a:ln>
        </p:spPr>
      </p:pic>
      <p:sp>
        <p:nvSpPr>
          <p:cNvPr id="239" name="Google Shape;239;p27"/>
          <p:cNvSpPr/>
          <p:nvPr/>
        </p:nvSpPr>
        <p:spPr>
          <a:xfrm rot="-955730">
            <a:off x="425109" y="868906"/>
            <a:ext cx="1425432" cy="458729"/>
          </a:xfrm>
          <a:prstGeom prst="horizontalScroll">
            <a:avLst>
              <a:gd fmla="val 12500" name="adj"/>
            </a:avLst>
          </a:prstGeom>
          <a:solidFill>
            <a:srgbClr val="F9D4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master; high</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28" title="Screenshot 2026-09-30 at 2.05.33 PM.png"/>
          <p:cNvPicPr preferRelativeResize="0"/>
          <p:nvPr/>
        </p:nvPicPr>
        <p:blipFill>
          <a:blip r:embed="rId3">
            <a:alphaModFix/>
          </a:blip>
          <a:stretch>
            <a:fillRect/>
          </a:stretch>
        </p:blipFill>
        <p:spPr>
          <a:xfrm>
            <a:off x="2263525" y="139224"/>
            <a:ext cx="4394841" cy="4865051"/>
          </a:xfrm>
          <a:prstGeom prst="rect">
            <a:avLst/>
          </a:prstGeom>
          <a:noFill/>
          <a:ln>
            <a:noFill/>
          </a:ln>
        </p:spPr>
      </p:pic>
      <p:pic>
        <p:nvPicPr>
          <p:cNvPr id="245" name="Google Shape;245;p28"/>
          <p:cNvPicPr preferRelativeResize="0"/>
          <p:nvPr/>
        </p:nvPicPr>
        <p:blipFill>
          <a:blip r:embed="rId4">
            <a:alphaModFix/>
          </a:blip>
          <a:stretch>
            <a:fillRect/>
          </a:stretch>
        </p:blipFill>
        <p:spPr>
          <a:xfrm>
            <a:off x="3817225" y="1717500"/>
            <a:ext cx="1395231" cy="1708499"/>
          </a:xfrm>
          <a:prstGeom prst="rect">
            <a:avLst/>
          </a:prstGeom>
          <a:noFill/>
          <a:ln>
            <a:noFill/>
          </a:ln>
        </p:spPr>
      </p:pic>
      <p:pic>
        <p:nvPicPr>
          <p:cNvPr id="246" name="Google Shape;246;p28"/>
          <p:cNvPicPr preferRelativeResize="0"/>
          <p:nvPr/>
        </p:nvPicPr>
        <p:blipFill>
          <a:blip r:embed="rId5">
            <a:alphaModFix/>
          </a:blip>
          <a:stretch>
            <a:fillRect/>
          </a:stretch>
        </p:blipFill>
        <p:spPr>
          <a:xfrm rot="694713">
            <a:off x="4106959" y="2021456"/>
            <a:ext cx="707984" cy="707983"/>
          </a:xfrm>
          <a:prstGeom prst="rect">
            <a:avLst/>
          </a:prstGeom>
          <a:noFill/>
          <a:ln>
            <a:noFill/>
          </a:ln>
        </p:spPr>
      </p:pic>
      <p:pic>
        <p:nvPicPr>
          <p:cNvPr id="247" name="Google Shape;247;p28"/>
          <p:cNvPicPr preferRelativeResize="0"/>
          <p:nvPr/>
        </p:nvPicPr>
        <p:blipFill rotWithShape="1">
          <a:blip r:embed="rId5">
            <a:alphaModFix/>
          </a:blip>
          <a:srcRect b="11614" l="72770" r="0" t="0"/>
          <a:stretch/>
        </p:blipFill>
        <p:spPr>
          <a:xfrm rot="56">
            <a:off x="3849759" y="1798204"/>
            <a:ext cx="257442" cy="83566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9"/>
          <p:cNvSpPr txBox="1"/>
          <p:nvPr>
            <p:ph idx="1" type="body"/>
          </p:nvPr>
        </p:nvSpPr>
        <p:spPr>
          <a:xfrm>
            <a:off x="360550" y="1381500"/>
            <a:ext cx="3267300" cy="33093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600">
                <a:solidFill>
                  <a:schemeClr val="dk1"/>
                </a:solidFill>
              </a:rPr>
              <a:t>Rules that invite Rosa into a new craft can also make her hesitate to play within it</a:t>
            </a:r>
            <a:endParaRPr sz="1600">
              <a:solidFill>
                <a:schemeClr val="dk1"/>
              </a:solidFill>
            </a:endParaRPr>
          </a:p>
          <a:p>
            <a:pPr indent="0" lvl="0" marL="0" rtl="0" algn="l">
              <a:lnSpc>
                <a:spcPct val="95000"/>
              </a:lnSpc>
              <a:spcBef>
                <a:spcPts val="1200"/>
              </a:spcBef>
              <a:spcAft>
                <a:spcPts val="0"/>
              </a:spcAft>
              <a:buNone/>
            </a:pPr>
            <a:r>
              <a:t/>
            </a:r>
            <a:endParaRPr sz="1600">
              <a:solidFill>
                <a:schemeClr val="dk1"/>
              </a:solidFill>
            </a:endParaRPr>
          </a:p>
          <a:p>
            <a:pPr indent="0" lvl="0" marL="0" rtl="0" algn="l">
              <a:lnSpc>
                <a:spcPct val="95000"/>
              </a:lnSpc>
              <a:spcBef>
                <a:spcPts val="1200"/>
              </a:spcBef>
              <a:spcAft>
                <a:spcPts val="0"/>
              </a:spcAft>
              <a:buNone/>
            </a:pPr>
            <a:r>
              <a:rPr i="1" lang="en" sz="1600">
                <a:solidFill>
                  <a:schemeClr val="dk1"/>
                </a:solidFill>
              </a:rPr>
              <a:t>“First I copy what’s right”</a:t>
            </a:r>
            <a:endParaRPr i="1" sz="1600">
              <a:solidFill>
                <a:schemeClr val="dk1"/>
              </a:solidFill>
            </a:endParaRPr>
          </a:p>
          <a:p>
            <a:pPr indent="0" lvl="0" marL="0" rtl="0" algn="l">
              <a:lnSpc>
                <a:spcPct val="95000"/>
              </a:lnSpc>
              <a:spcBef>
                <a:spcPts val="1200"/>
              </a:spcBef>
              <a:spcAft>
                <a:spcPts val="0"/>
              </a:spcAft>
              <a:buNone/>
            </a:pPr>
            <a:r>
              <a:rPr i="1" lang="en" sz="1600">
                <a:solidFill>
                  <a:schemeClr val="dk1"/>
                </a:solidFill>
              </a:rPr>
              <a:t>“Sensei will fix it for me”</a:t>
            </a:r>
            <a:endParaRPr i="1" sz="1600">
              <a:solidFill>
                <a:schemeClr val="dk1"/>
              </a:solidFill>
            </a:endParaRPr>
          </a:p>
          <a:p>
            <a:pPr indent="0" lvl="0" marL="0" rtl="0" algn="l">
              <a:lnSpc>
                <a:spcPct val="95000"/>
              </a:lnSpc>
              <a:spcBef>
                <a:spcPts val="1200"/>
              </a:spcBef>
              <a:spcAft>
                <a:spcPts val="1200"/>
              </a:spcAft>
              <a:buNone/>
            </a:pPr>
            <a:r>
              <a:rPr i="1" lang="en" sz="1600">
                <a:solidFill>
                  <a:schemeClr val="dk1"/>
                </a:solidFill>
              </a:rPr>
              <a:t>“But [the flowers] is pleasing. And then I worry, did I follow all the rules”</a:t>
            </a:r>
            <a:endParaRPr sz="1600">
              <a:solidFill>
                <a:schemeClr val="dk1"/>
              </a:solidFill>
            </a:endParaRPr>
          </a:p>
        </p:txBody>
      </p:sp>
      <p:sp>
        <p:nvSpPr>
          <p:cNvPr id="253" name="Google Shape;25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Surprised to notice</a:t>
            </a:r>
            <a:endParaRPr/>
          </a:p>
        </p:txBody>
      </p:sp>
      <p:pic>
        <p:nvPicPr>
          <p:cNvPr id="254" name="Google Shape;254;p29" title="Screenshot 2026-09-30 at 2.05.33 PM.png"/>
          <p:cNvPicPr preferRelativeResize="0"/>
          <p:nvPr/>
        </p:nvPicPr>
        <p:blipFill>
          <a:blip r:embed="rId3">
            <a:alphaModFix/>
          </a:blip>
          <a:stretch>
            <a:fillRect/>
          </a:stretch>
        </p:blipFill>
        <p:spPr>
          <a:xfrm>
            <a:off x="4515443" y="488814"/>
            <a:ext cx="3763305" cy="4165947"/>
          </a:xfrm>
          <a:prstGeom prst="rect">
            <a:avLst/>
          </a:prstGeom>
          <a:noFill/>
          <a:ln>
            <a:noFill/>
          </a:ln>
        </p:spPr>
      </p:pic>
      <p:pic>
        <p:nvPicPr>
          <p:cNvPr id="255" name="Google Shape;255;p29"/>
          <p:cNvPicPr preferRelativeResize="0"/>
          <p:nvPr/>
        </p:nvPicPr>
        <p:blipFill>
          <a:blip r:embed="rId4">
            <a:alphaModFix/>
          </a:blip>
          <a:stretch>
            <a:fillRect/>
          </a:stretch>
        </p:blipFill>
        <p:spPr>
          <a:xfrm>
            <a:off x="5845880" y="1840293"/>
            <a:ext cx="1194739" cy="1462988"/>
          </a:xfrm>
          <a:prstGeom prst="rect">
            <a:avLst/>
          </a:prstGeom>
          <a:noFill/>
          <a:ln>
            <a:noFill/>
          </a:ln>
        </p:spPr>
      </p:pic>
      <p:pic>
        <p:nvPicPr>
          <p:cNvPr id="256" name="Google Shape;256;p29"/>
          <p:cNvPicPr preferRelativeResize="0"/>
          <p:nvPr/>
        </p:nvPicPr>
        <p:blipFill>
          <a:blip r:embed="rId5">
            <a:alphaModFix/>
          </a:blip>
          <a:stretch>
            <a:fillRect/>
          </a:stretch>
        </p:blipFill>
        <p:spPr>
          <a:xfrm rot="694705">
            <a:off x="6077310" y="2085191"/>
            <a:ext cx="639589" cy="639589"/>
          </a:xfrm>
          <a:prstGeom prst="rect">
            <a:avLst/>
          </a:prstGeom>
          <a:noFill/>
          <a:ln>
            <a:noFill/>
          </a:ln>
        </p:spPr>
      </p:pic>
      <p:pic>
        <p:nvPicPr>
          <p:cNvPr id="257" name="Google Shape;257;p29"/>
          <p:cNvPicPr preferRelativeResize="0"/>
          <p:nvPr/>
        </p:nvPicPr>
        <p:blipFill rotWithShape="1">
          <a:blip r:embed="rId5">
            <a:alphaModFix/>
          </a:blip>
          <a:srcRect b="11614" l="72770" r="0" t="0"/>
          <a:stretch/>
        </p:blipFill>
        <p:spPr>
          <a:xfrm rot="62">
            <a:off x="5872664" y="1936402"/>
            <a:ext cx="232577" cy="754967"/>
          </a:xfrm>
          <a:prstGeom prst="rect">
            <a:avLst/>
          </a:prstGeom>
          <a:noFill/>
          <a:ln>
            <a:noFill/>
          </a:ln>
        </p:spPr>
      </p:pic>
      <p:sp>
        <p:nvSpPr>
          <p:cNvPr id="258" name="Google Shape;258;p29"/>
          <p:cNvSpPr/>
          <p:nvPr/>
        </p:nvSpPr>
        <p:spPr>
          <a:xfrm>
            <a:off x="3766500" y="452700"/>
            <a:ext cx="4999200" cy="4238100"/>
          </a:xfrm>
          <a:prstGeom prst="rect">
            <a:avLst/>
          </a:prstGeom>
          <a:solidFill>
            <a:srgbClr val="FFFFFF">
              <a:alpha val="66460"/>
            </a:srgbClr>
          </a:solidFill>
          <a:ln>
            <a:noFill/>
          </a:ln>
        </p:spPr>
        <p:txBody>
          <a:bodyPr anchorCtr="0" anchor="ctr" bIns="78275" lIns="78275" spcFirstLastPara="1" rIns="78275" wrap="square" tIns="78275">
            <a:noAutofit/>
          </a:bodyPr>
          <a:lstStyle/>
          <a:p>
            <a:pPr indent="0" lvl="0" marL="0" rtl="0" algn="ctr">
              <a:spcBef>
                <a:spcPts val="0"/>
              </a:spcBef>
              <a:spcAft>
                <a:spcPts val="0"/>
              </a:spcAft>
              <a:buNone/>
            </a:pPr>
            <a:r>
              <a:t/>
            </a:r>
            <a:endParaRPr sz="1199"/>
          </a:p>
        </p:txBody>
      </p:sp>
      <p:pic>
        <p:nvPicPr>
          <p:cNvPr id="259" name="Google Shape;259;p29"/>
          <p:cNvPicPr preferRelativeResize="0"/>
          <p:nvPr/>
        </p:nvPicPr>
        <p:blipFill>
          <a:blip r:embed="rId6">
            <a:alphaModFix/>
          </a:blip>
          <a:stretch>
            <a:fillRect/>
          </a:stretch>
        </p:blipFill>
        <p:spPr>
          <a:xfrm>
            <a:off x="7103296" y="920797"/>
            <a:ext cx="1106726" cy="1106726"/>
          </a:xfrm>
          <a:prstGeom prst="rect">
            <a:avLst/>
          </a:prstGeom>
          <a:noFill/>
          <a:ln>
            <a:noFill/>
          </a:ln>
        </p:spPr>
      </p:pic>
      <p:pic>
        <p:nvPicPr>
          <p:cNvPr id="260" name="Google Shape;260;p29"/>
          <p:cNvPicPr preferRelativeResize="0"/>
          <p:nvPr/>
        </p:nvPicPr>
        <p:blipFill>
          <a:blip r:embed="rId7">
            <a:alphaModFix/>
          </a:blip>
          <a:stretch>
            <a:fillRect/>
          </a:stretch>
        </p:blipFill>
        <p:spPr>
          <a:xfrm>
            <a:off x="4723204" y="3009657"/>
            <a:ext cx="1106726" cy="1106726"/>
          </a:xfrm>
          <a:prstGeom prst="rect">
            <a:avLst/>
          </a:prstGeom>
          <a:noFill/>
          <a:ln>
            <a:noFill/>
          </a:ln>
        </p:spPr>
      </p:pic>
      <p:pic>
        <p:nvPicPr>
          <p:cNvPr id="261" name="Google Shape;261;p29"/>
          <p:cNvPicPr preferRelativeResize="0"/>
          <p:nvPr/>
        </p:nvPicPr>
        <p:blipFill>
          <a:blip r:embed="rId8">
            <a:alphaModFix/>
          </a:blip>
          <a:stretch>
            <a:fillRect/>
          </a:stretch>
        </p:blipFill>
        <p:spPr>
          <a:xfrm>
            <a:off x="7024666" y="3009657"/>
            <a:ext cx="1106726" cy="1106726"/>
          </a:xfrm>
          <a:prstGeom prst="rect">
            <a:avLst/>
          </a:prstGeom>
          <a:noFill/>
          <a:ln>
            <a:noFill/>
          </a:ln>
        </p:spPr>
      </p:pic>
      <p:pic>
        <p:nvPicPr>
          <p:cNvPr id="262" name="Google Shape;262;p29"/>
          <p:cNvPicPr preferRelativeResize="0"/>
          <p:nvPr/>
        </p:nvPicPr>
        <p:blipFill>
          <a:blip r:embed="rId9">
            <a:alphaModFix/>
          </a:blip>
          <a:stretch>
            <a:fillRect/>
          </a:stretch>
        </p:blipFill>
        <p:spPr>
          <a:xfrm>
            <a:off x="4582278" y="920797"/>
            <a:ext cx="1106725" cy="11067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a:t>
            </a:r>
            <a:endParaRPr/>
          </a:p>
        </p:txBody>
      </p:sp>
      <p:sp>
        <p:nvSpPr>
          <p:cNvPr id="268" name="Google Shape;268;p30"/>
          <p:cNvSpPr/>
          <p:nvPr/>
        </p:nvSpPr>
        <p:spPr>
          <a:xfrm>
            <a:off x="5753875" y="1499425"/>
            <a:ext cx="2908200" cy="2750100"/>
          </a:xfrm>
          <a:prstGeom prst="rect">
            <a:avLst/>
          </a:prstGeom>
          <a:solidFill>
            <a:schemeClr val="lt1"/>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NEED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n">
                <a:solidFill>
                  <a:schemeClr val="dk1"/>
                </a:solidFill>
              </a:rPr>
              <a:t>To feel that </a:t>
            </a:r>
            <a:r>
              <a:rPr b="1" lang="en">
                <a:solidFill>
                  <a:schemeClr val="dk1"/>
                </a:solidFill>
              </a:rPr>
              <a:t>creative freedom is hers to explore before mastery,</a:t>
            </a:r>
            <a:r>
              <a:rPr lang="en">
                <a:solidFill>
                  <a:schemeClr val="dk1"/>
                </a:solidFill>
              </a:rPr>
              <a:t> rather than a privilege she has to earn</a:t>
            </a:r>
            <a:endParaRPr>
              <a:solidFill>
                <a:schemeClr val="dk1"/>
              </a:solidFill>
            </a:endParaRPr>
          </a:p>
          <a:p>
            <a:pPr indent="0" lvl="0" marL="0" rtl="0" algn="l">
              <a:spcBef>
                <a:spcPts val="0"/>
              </a:spcBef>
              <a:spcAft>
                <a:spcPts val="0"/>
              </a:spcAft>
              <a:buNone/>
            </a:pPr>
            <a:r>
              <a:t/>
            </a:r>
            <a:endParaRPr>
              <a:solidFill>
                <a:schemeClr val="dk1"/>
              </a:solidFill>
              <a:highlight>
                <a:schemeClr val="accent6"/>
              </a:highlight>
            </a:endParaRPr>
          </a:p>
          <a:p>
            <a:pPr indent="0" lvl="0" marL="0" rtl="0" algn="l">
              <a:spcBef>
                <a:spcPts val="0"/>
              </a:spcBef>
              <a:spcAft>
                <a:spcPts val="0"/>
              </a:spcAft>
              <a:buNone/>
            </a:pPr>
            <a:r>
              <a:t/>
            </a:r>
            <a:endParaRPr>
              <a:solidFill>
                <a:schemeClr val="dk1"/>
              </a:solidFill>
              <a:highlight>
                <a:schemeClr val="accent6"/>
              </a:highlight>
            </a:endParaRPr>
          </a:p>
        </p:txBody>
      </p:sp>
      <p:sp>
        <p:nvSpPr>
          <p:cNvPr id="269" name="Google Shape;269;p30"/>
          <p:cNvSpPr/>
          <p:nvPr/>
        </p:nvSpPr>
        <p:spPr>
          <a:xfrm>
            <a:off x="406125" y="1550075"/>
            <a:ext cx="2990100" cy="2649000"/>
          </a:xfrm>
          <a:prstGeom prst="rect">
            <a:avLst/>
          </a:prstGeom>
          <a:solidFill>
            <a:schemeClr val="lt1"/>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INSIGHT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lnSpc>
                <a:spcPct val="115000"/>
              </a:lnSpc>
              <a:spcBef>
                <a:spcPts val="1200"/>
              </a:spcBef>
              <a:spcAft>
                <a:spcPts val="1200"/>
              </a:spcAft>
              <a:buNone/>
            </a:pPr>
            <a:r>
              <a:rPr lang="en">
                <a:solidFill>
                  <a:schemeClr val="dk1"/>
                </a:solidFill>
              </a:rPr>
              <a:t>Rules give Rosa a clear way into an</a:t>
            </a:r>
            <a:r>
              <a:rPr b="1" lang="en">
                <a:solidFill>
                  <a:schemeClr val="dk1"/>
                </a:solidFill>
              </a:rPr>
              <a:t> unfamiliar craft,</a:t>
            </a:r>
            <a:r>
              <a:rPr lang="en">
                <a:solidFill>
                  <a:schemeClr val="dk1"/>
                </a:solidFill>
              </a:rPr>
              <a:t> but they can shift her attention from enjoying what she discovers to checking </a:t>
            </a:r>
            <a:r>
              <a:rPr b="1" lang="en">
                <a:solidFill>
                  <a:schemeClr val="dk1"/>
                </a:solidFill>
              </a:rPr>
              <a:t>whether she did it correctly</a:t>
            </a:r>
            <a:endParaRPr b="1">
              <a:solidFill>
                <a:schemeClr val="dk1"/>
              </a:solidFill>
              <a:highlight>
                <a:schemeClr val="accent6"/>
              </a:highlight>
            </a:endParaRPr>
          </a:p>
        </p:txBody>
      </p:sp>
      <p:pic>
        <p:nvPicPr>
          <p:cNvPr id="270" name="Google Shape;270;p30"/>
          <p:cNvPicPr preferRelativeResize="0"/>
          <p:nvPr/>
        </p:nvPicPr>
        <p:blipFill>
          <a:blip r:embed="rId3">
            <a:alphaModFix/>
          </a:blip>
          <a:stretch>
            <a:fillRect/>
          </a:stretch>
        </p:blipFill>
        <p:spPr>
          <a:xfrm>
            <a:off x="3524151" y="1524836"/>
            <a:ext cx="2101800" cy="2699475"/>
          </a:xfrm>
          <a:prstGeom prst="rect">
            <a:avLst/>
          </a:prstGeom>
          <a:noFill/>
          <a:ln>
            <a:noFill/>
          </a:ln>
        </p:spPr>
      </p:pic>
      <p:pic>
        <p:nvPicPr>
          <p:cNvPr id="271" name="Google Shape;271;p30"/>
          <p:cNvPicPr preferRelativeResize="0"/>
          <p:nvPr/>
        </p:nvPicPr>
        <p:blipFill>
          <a:blip r:embed="rId4">
            <a:alphaModFix/>
          </a:blip>
          <a:stretch>
            <a:fillRect/>
          </a:stretch>
        </p:blipFill>
        <p:spPr>
          <a:xfrm rot="694689">
            <a:off x="3844415" y="1981571"/>
            <a:ext cx="1288585" cy="1288552"/>
          </a:xfrm>
          <a:prstGeom prst="rect">
            <a:avLst/>
          </a:prstGeom>
          <a:noFill/>
          <a:ln>
            <a:noFill/>
          </a:ln>
        </p:spPr>
      </p:pic>
      <p:pic>
        <p:nvPicPr>
          <p:cNvPr id="272" name="Google Shape;272;p30"/>
          <p:cNvPicPr preferRelativeResize="0"/>
          <p:nvPr/>
        </p:nvPicPr>
        <p:blipFill rotWithShape="1">
          <a:blip r:embed="rId4">
            <a:alphaModFix/>
          </a:blip>
          <a:srcRect b="11614" l="72770" r="0" t="0"/>
          <a:stretch/>
        </p:blipFill>
        <p:spPr>
          <a:xfrm rot="71">
            <a:off x="3569487" y="1684796"/>
            <a:ext cx="406299" cy="131879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31"/>
          <p:cNvPicPr preferRelativeResize="0"/>
          <p:nvPr/>
        </p:nvPicPr>
        <p:blipFill>
          <a:blip r:embed="rId3">
            <a:alphaModFix/>
          </a:blip>
          <a:stretch>
            <a:fillRect/>
          </a:stretch>
        </p:blipFill>
        <p:spPr>
          <a:xfrm>
            <a:off x="955447" y="1072725"/>
            <a:ext cx="2711200" cy="3120377"/>
          </a:xfrm>
          <a:prstGeom prst="rect">
            <a:avLst/>
          </a:prstGeom>
          <a:noFill/>
          <a:ln>
            <a:noFill/>
          </a:ln>
        </p:spPr>
      </p:pic>
      <p:sp>
        <p:nvSpPr>
          <p:cNvPr id="278" name="Google Shape;278;p31"/>
          <p:cNvSpPr txBox="1"/>
          <p:nvPr/>
        </p:nvSpPr>
        <p:spPr>
          <a:xfrm>
            <a:off x="4144451" y="1165500"/>
            <a:ext cx="4251600" cy="277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Ken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A professional who protects room for play</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rPr>
              <a:t>Professional neon artist and longtime glassblower</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Builds much of his own studio equipment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Neon work funds his glassblowing experimentation</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“I could just go in and play”</a:t>
            </a:r>
            <a:endParaRPr>
              <a:solidFill>
                <a:schemeClr val="dk1"/>
              </a:solidFill>
            </a:endParaRPr>
          </a:p>
        </p:txBody>
      </p:sp>
      <p:sp>
        <p:nvSpPr>
          <p:cNvPr id="279" name="Google Shape;279;p31"/>
          <p:cNvSpPr/>
          <p:nvPr/>
        </p:nvSpPr>
        <p:spPr>
          <a:xfrm rot="-955730">
            <a:off x="425109" y="868906"/>
            <a:ext cx="1425432" cy="458729"/>
          </a:xfrm>
          <a:prstGeom prst="horizontalScroll">
            <a:avLst>
              <a:gd fmla="val 12500" name="adj"/>
            </a:avLst>
          </a:prstGeom>
          <a:solidFill>
            <a:srgbClr val="F9D4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master, career, high, hard</a:t>
            </a:r>
            <a:endParaRPr/>
          </a:p>
        </p:txBody>
      </p:sp>
      <p:pic>
        <p:nvPicPr>
          <p:cNvPr id="280" name="Google Shape;280;p31"/>
          <p:cNvPicPr preferRelativeResize="0"/>
          <p:nvPr/>
        </p:nvPicPr>
        <p:blipFill>
          <a:blip r:embed="rId4">
            <a:alphaModFix/>
          </a:blip>
          <a:stretch>
            <a:fillRect/>
          </a:stretch>
        </p:blipFill>
        <p:spPr>
          <a:xfrm rot="716128">
            <a:off x="1476681" y="1571233"/>
            <a:ext cx="1668714" cy="166870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32"/>
          <p:cNvPicPr preferRelativeResize="0"/>
          <p:nvPr/>
        </p:nvPicPr>
        <p:blipFill>
          <a:blip r:embed="rId3">
            <a:alphaModFix/>
          </a:blip>
          <a:stretch>
            <a:fillRect/>
          </a:stretch>
        </p:blipFill>
        <p:spPr>
          <a:xfrm>
            <a:off x="1466225" y="661277"/>
            <a:ext cx="6022426" cy="4281550"/>
          </a:xfrm>
          <a:prstGeom prst="rect">
            <a:avLst/>
          </a:prstGeom>
          <a:noFill/>
          <a:ln>
            <a:noFill/>
          </a:ln>
        </p:spPr>
      </p:pic>
      <p:pic>
        <p:nvPicPr>
          <p:cNvPr id="286" name="Google Shape;286;p32"/>
          <p:cNvPicPr preferRelativeResize="0"/>
          <p:nvPr/>
        </p:nvPicPr>
        <p:blipFill>
          <a:blip r:embed="rId4">
            <a:alphaModFix/>
          </a:blip>
          <a:stretch>
            <a:fillRect/>
          </a:stretch>
        </p:blipFill>
        <p:spPr>
          <a:xfrm rot="716132">
            <a:off x="4131069" y="2390345"/>
            <a:ext cx="621736" cy="62173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3"/>
          <p:cNvSpPr txBox="1"/>
          <p:nvPr>
            <p:ph idx="1" type="body"/>
          </p:nvPr>
        </p:nvSpPr>
        <p:spPr>
          <a:xfrm>
            <a:off x="360550" y="1381500"/>
            <a:ext cx="3267300" cy="33093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600">
                <a:solidFill>
                  <a:schemeClr val="dk1"/>
                </a:solidFill>
              </a:rPr>
              <a:t>Ken makes his living through one craft, yet turns to another to feel free to play</a:t>
            </a:r>
            <a:endParaRPr sz="1600">
              <a:solidFill>
                <a:schemeClr val="dk1"/>
              </a:solidFill>
            </a:endParaRPr>
          </a:p>
          <a:p>
            <a:pPr indent="0" lvl="0" marL="0" rtl="0" algn="l">
              <a:lnSpc>
                <a:spcPct val="95000"/>
              </a:lnSpc>
              <a:spcBef>
                <a:spcPts val="1200"/>
              </a:spcBef>
              <a:spcAft>
                <a:spcPts val="0"/>
              </a:spcAft>
              <a:buNone/>
            </a:pPr>
            <a:r>
              <a:t/>
            </a:r>
            <a:endParaRPr sz="1600">
              <a:solidFill>
                <a:schemeClr val="dk1"/>
              </a:solidFill>
            </a:endParaRPr>
          </a:p>
          <a:p>
            <a:pPr indent="0" lvl="0" marL="0" rtl="0" algn="l">
              <a:lnSpc>
                <a:spcPct val="95000"/>
              </a:lnSpc>
              <a:spcBef>
                <a:spcPts val="1200"/>
              </a:spcBef>
              <a:spcAft>
                <a:spcPts val="0"/>
              </a:spcAft>
              <a:buNone/>
            </a:pPr>
            <a:r>
              <a:rPr i="1" lang="en" sz="1600">
                <a:solidFill>
                  <a:schemeClr val="dk1"/>
                </a:solidFill>
              </a:rPr>
              <a:t>“I don’t need to make every hour that I’m blowing glass successful financially.”</a:t>
            </a:r>
            <a:endParaRPr i="1" sz="1600">
              <a:solidFill>
                <a:schemeClr val="dk1"/>
              </a:solidFill>
            </a:endParaRPr>
          </a:p>
          <a:p>
            <a:pPr indent="0" lvl="0" marL="0" rtl="0" algn="l">
              <a:lnSpc>
                <a:spcPct val="95000"/>
              </a:lnSpc>
              <a:spcBef>
                <a:spcPts val="1200"/>
              </a:spcBef>
              <a:spcAft>
                <a:spcPts val="1200"/>
              </a:spcAft>
              <a:buNone/>
            </a:pPr>
            <a:r>
              <a:rPr i="1" lang="en" sz="1600">
                <a:solidFill>
                  <a:schemeClr val="dk1"/>
                </a:solidFill>
              </a:rPr>
              <a:t>“Pumpkins are my fun thing. Neon is sort of like my real job.”</a:t>
            </a:r>
            <a:endParaRPr i="1" sz="1600">
              <a:solidFill>
                <a:schemeClr val="dk1"/>
              </a:solidFill>
            </a:endParaRPr>
          </a:p>
        </p:txBody>
      </p:sp>
      <p:sp>
        <p:nvSpPr>
          <p:cNvPr id="292" name="Google Shape;29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Surprised to notice</a:t>
            </a:r>
            <a:endParaRPr/>
          </a:p>
        </p:txBody>
      </p:sp>
      <p:pic>
        <p:nvPicPr>
          <p:cNvPr id="293" name="Google Shape;293;p33"/>
          <p:cNvPicPr preferRelativeResize="0"/>
          <p:nvPr/>
        </p:nvPicPr>
        <p:blipFill>
          <a:blip r:embed="rId3">
            <a:alphaModFix/>
          </a:blip>
          <a:stretch>
            <a:fillRect/>
          </a:stretch>
        </p:blipFill>
        <p:spPr>
          <a:xfrm>
            <a:off x="3678250" y="731553"/>
            <a:ext cx="5221709" cy="3712294"/>
          </a:xfrm>
          <a:prstGeom prst="rect">
            <a:avLst/>
          </a:prstGeom>
          <a:noFill/>
          <a:ln>
            <a:noFill/>
          </a:ln>
        </p:spPr>
      </p:pic>
      <p:sp>
        <p:nvSpPr>
          <p:cNvPr id="294" name="Google Shape;294;p33"/>
          <p:cNvSpPr/>
          <p:nvPr/>
        </p:nvSpPr>
        <p:spPr>
          <a:xfrm>
            <a:off x="3678250" y="399300"/>
            <a:ext cx="5307000" cy="4291500"/>
          </a:xfrm>
          <a:prstGeom prst="rect">
            <a:avLst/>
          </a:prstGeom>
          <a:solidFill>
            <a:srgbClr val="FFFFFF">
              <a:alpha val="66460"/>
            </a:srgbClr>
          </a:solidFill>
          <a:ln>
            <a:noFill/>
          </a:ln>
        </p:spPr>
        <p:txBody>
          <a:bodyPr anchorCtr="0" anchor="ctr" bIns="79275" lIns="79275" spcFirstLastPara="1" rIns="79275" wrap="square" tIns="79275">
            <a:noAutofit/>
          </a:bodyPr>
          <a:lstStyle/>
          <a:p>
            <a:pPr indent="0" lvl="0" marL="0" rtl="0" algn="ctr">
              <a:spcBef>
                <a:spcPts val="0"/>
              </a:spcBef>
              <a:spcAft>
                <a:spcPts val="0"/>
              </a:spcAft>
              <a:buNone/>
            </a:pPr>
            <a:r>
              <a:t/>
            </a:r>
            <a:endParaRPr sz="1214"/>
          </a:p>
        </p:txBody>
      </p:sp>
      <p:pic>
        <p:nvPicPr>
          <p:cNvPr id="295" name="Google Shape;295;p33"/>
          <p:cNvPicPr preferRelativeResize="0"/>
          <p:nvPr/>
        </p:nvPicPr>
        <p:blipFill>
          <a:blip r:embed="rId4">
            <a:alphaModFix/>
          </a:blip>
          <a:stretch>
            <a:fillRect/>
          </a:stretch>
        </p:blipFill>
        <p:spPr>
          <a:xfrm>
            <a:off x="5820531" y="2051610"/>
            <a:ext cx="894442" cy="1029441"/>
          </a:xfrm>
          <a:prstGeom prst="rect">
            <a:avLst/>
          </a:prstGeom>
          <a:noFill/>
          <a:ln>
            <a:noFill/>
          </a:ln>
        </p:spPr>
      </p:pic>
      <p:pic>
        <p:nvPicPr>
          <p:cNvPr id="296" name="Google Shape;296;p33"/>
          <p:cNvPicPr preferRelativeResize="0"/>
          <p:nvPr/>
        </p:nvPicPr>
        <p:blipFill>
          <a:blip r:embed="rId5">
            <a:alphaModFix/>
          </a:blip>
          <a:stretch>
            <a:fillRect/>
          </a:stretch>
        </p:blipFill>
        <p:spPr>
          <a:xfrm rot="716130">
            <a:off x="5995897" y="2234697"/>
            <a:ext cx="543730" cy="543730"/>
          </a:xfrm>
          <a:prstGeom prst="rect">
            <a:avLst/>
          </a:prstGeom>
          <a:noFill/>
          <a:ln>
            <a:noFill/>
          </a:ln>
        </p:spPr>
      </p:pic>
      <p:pic>
        <p:nvPicPr>
          <p:cNvPr id="297" name="Google Shape;297;p33"/>
          <p:cNvPicPr preferRelativeResize="0"/>
          <p:nvPr/>
        </p:nvPicPr>
        <p:blipFill>
          <a:blip r:embed="rId6">
            <a:alphaModFix/>
          </a:blip>
          <a:stretch>
            <a:fillRect/>
          </a:stretch>
        </p:blipFill>
        <p:spPr>
          <a:xfrm>
            <a:off x="4304281" y="960971"/>
            <a:ext cx="1122758" cy="1122758"/>
          </a:xfrm>
          <a:prstGeom prst="rect">
            <a:avLst/>
          </a:prstGeom>
          <a:noFill/>
          <a:ln>
            <a:noFill/>
          </a:ln>
        </p:spPr>
      </p:pic>
      <p:pic>
        <p:nvPicPr>
          <p:cNvPr id="298" name="Google Shape;298;p33"/>
          <p:cNvPicPr preferRelativeResize="0"/>
          <p:nvPr/>
        </p:nvPicPr>
        <p:blipFill>
          <a:blip r:embed="rId7">
            <a:alphaModFix/>
          </a:blip>
          <a:stretch>
            <a:fillRect/>
          </a:stretch>
        </p:blipFill>
        <p:spPr>
          <a:xfrm>
            <a:off x="7184279" y="960964"/>
            <a:ext cx="1122758" cy="1122775"/>
          </a:xfrm>
          <a:prstGeom prst="rect">
            <a:avLst/>
          </a:prstGeom>
          <a:noFill/>
          <a:ln>
            <a:noFill/>
          </a:ln>
        </p:spPr>
      </p:pic>
      <p:pic>
        <p:nvPicPr>
          <p:cNvPr id="299" name="Google Shape;299;p33"/>
          <p:cNvPicPr preferRelativeResize="0"/>
          <p:nvPr/>
        </p:nvPicPr>
        <p:blipFill>
          <a:blip r:embed="rId8">
            <a:alphaModFix/>
          </a:blip>
          <a:stretch>
            <a:fillRect/>
          </a:stretch>
        </p:blipFill>
        <p:spPr>
          <a:xfrm>
            <a:off x="4304279" y="2920739"/>
            <a:ext cx="1122758" cy="1347313"/>
          </a:xfrm>
          <a:prstGeom prst="rect">
            <a:avLst/>
          </a:prstGeom>
          <a:noFill/>
          <a:ln>
            <a:noFill/>
          </a:ln>
        </p:spPr>
      </p:pic>
      <p:pic>
        <p:nvPicPr>
          <p:cNvPr id="300" name="Google Shape;300;p33"/>
          <p:cNvPicPr preferRelativeResize="0"/>
          <p:nvPr/>
        </p:nvPicPr>
        <p:blipFill>
          <a:blip r:embed="rId9">
            <a:alphaModFix/>
          </a:blip>
          <a:stretch>
            <a:fillRect/>
          </a:stretch>
        </p:blipFill>
        <p:spPr>
          <a:xfrm>
            <a:off x="7184279" y="2920734"/>
            <a:ext cx="1122758" cy="134731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a:t>
            </a:r>
            <a:endParaRPr/>
          </a:p>
        </p:txBody>
      </p:sp>
      <p:pic>
        <p:nvPicPr>
          <p:cNvPr id="306" name="Google Shape;306;p34"/>
          <p:cNvPicPr preferRelativeResize="0"/>
          <p:nvPr/>
        </p:nvPicPr>
        <p:blipFill>
          <a:blip r:embed="rId3">
            <a:alphaModFix/>
          </a:blip>
          <a:stretch>
            <a:fillRect/>
          </a:stretch>
        </p:blipFill>
        <p:spPr>
          <a:xfrm>
            <a:off x="3475400" y="1578143"/>
            <a:ext cx="2182637" cy="2512058"/>
          </a:xfrm>
          <a:prstGeom prst="rect">
            <a:avLst/>
          </a:prstGeom>
          <a:noFill/>
          <a:ln>
            <a:noFill/>
          </a:ln>
        </p:spPr>
      </p:pic>
      <p:sp>
        <p:nvSpPr>
          <p:cNvPr id="307" name="Google Shape;307;p34"/>
          <p:cNvSpPr/>
          <p:nvPr/>
        </p:nvSpPr>
        <p:spPr>
          <a:xfrm>
            <a:off x="5753875" y="1578175"/>
            <a:ext cx="2908200" cy="2512200"/>
          </a:xfrm>
          <a:prstGeom prst="rect">
            <a:avLst/>
          </a:prstGeom>
          <a:solidFill>
            <a:schemeClr val="lt1"/>
          </a:solidFill>
          <a:ln cap="flat" cmpd="sng" w="9525">
            <a:solidFill>
              <a:srgbClr val="D9D9D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NEED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n">
                <a:solidFill>
                  <a:schemeClr val="dk1"/>
                </a:solidFill>
              </a:rPr>
              <a:t>To </a:t>
            </a:r>
            <a:r>
              <a:rPr b="1" lang="en">
                <a:solidFill>
                  <a:schemeClr val="dk1"/>
                </a:solidFill>
              </a:rPr>
              <a:t>protect opportunities for discovery </a:t>
            </a:r>
            <a:r>
              <a:rPr lang="en">
                <a:solidFill>
                  <a:schemeClr val="dk1"/>
                </a:solidFill>
              </a:rPr>
              <a:t>from the demands of the work that funds them</a:t>
            </a:r>
            <a:endParaRPr>
              <a:solidFill>
                <a:schemeClr val="dk1"/>
              </a:solidFill>
            </a:endParaRPr>
          </a:p>
          <a:p>
            <a:pPr indent="0" lvl="0" marL="0" rtl="0" algn="l">
              <a:spcBef>
                <a:spcPts val="0"/>
              </a:spcBef>
              <a:spcAft>
                <a:spcPts val="0"/>
              </a:spcAft>
              <a:buNone/>
            </a:pPr>
            <a:r>
              <a:t/>
            </a:r>
            <a:endParaRPr>
              <a:solidFill>
                <a:schemeClr val="dk1"/>
              </a:solidFill>
              <a:highlight>
                <a:schemeClr val="accent6"/>
              </a:highlight>
            </a:endParaRPr>
          </a:p>
          <a:p>
            <a:pPr indent="0" lvl="0" marL="0" rtl="0" algn="l">
              <a:spcBef>
                <a:spcPts val="0"/>
              </a:spcBef>
              <a:spcAft>
                <a:spcPts val="0"/>
              </a:spcAft>
              <a:buNone/>
            </a:pPr>
            <a:r>
              <a:t/>
            </a:r>
            <a:endParaRPr>
              <a:solidFill>
                <a:schemeClr val="dk1"/>
              </a:solidFill>
              <a:highlight>
                <a:schemeClr val="accent6"/>
              </a:highlight>
            </a:endParaRPr>
          </a:p>
        </p:txBody>
      </p:sp>
      <p:sp>
        <p:nvSpPr>
          <p:cNvPr id="308" name="Google Shape;308;p34"/>
          <p:cNvSpPr/>
          <p:nvPr/>
        </p:nvSpPr>
        <p:spPr>
          <a:xfrm>
            <a:off x="406125" y="1578125"/>
            <a:ext cx="2990100" cy="2512200"/>
          </a:xfrm>
          <a:prstGeom prst="rect">
            <a:avLst/>
          </a:prstGeom>
          <a:solidFill>
            <a:schemeClr val="lt1"/>
          </a:solidFill>
          <a:ln cap="flat" cmpd="sng" w="9525">
            <a:solidFill>
              <a:srgbClr val="D9D9D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INSIGHT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n">
                <a:solidFill>
                  <a:schemeClr val="dk1"/>
                </a:solidFill>
              </a:rPr>
              <a:t>Neon supports his creative life, but its demands also compete with it. Glassblowing gives him room to </a:t>
            </a:r>
            <a:r>
              <a:rPr b="1" lang="en">
                <a:solidFill>
                  <a:schemeClr val="dk1"/>
                </a:solidFill>
              </a:rPr>
              <a:t>pursue unfamiliar ideas</a:t>
            </a:r>
            <a:r>
              <a:rPr lang="en">
                <a:solidFill>
                  <a:schemeClr val="dk1"/>
                </a:solidFill>
              </a:rPr>
              <a:t> without every </a:t>
            </a:r>
            <a:r>
              <a:rPr b="1" lang="en">
                <a:solidFill>
                  <a:schemeClr val="dk1"/>
                </a:solidFill>
              </a:rPr>
              <a:t>experiment needing to pay off</a:t>
            </a:r>
            <a:endParaRPr b="1">
              <a:solidFill>
                <a:schemeClr val="dk1"/>
              </a:solidFill>
              <a:highlight>
                <a:schemeClr val="accent6"/>
              </a:highlight>
            </a:endParaRPr>
          </a:p>
        </p:txBody>
      </p:sp>
      <p:pic>
        <p:nvPicPr>
          <p:cNvPr id="309" name="Google Shape;309;p34"/>
          <p:cNvPicPr preferRelativeResize="0"/>
          <p:nvPr/>
        </p:nvPicPr>
        <p:blipFill>
          <a:blip r:embed="rId4">
            <a:alphaModFix/>
          </a:blip>
          <a:stretch>
            <a:fillRect/>
          </a:stretch>
        </p:blipFill>
        <p:spPr>
          <a:xfrm rot="805941">
            <a:off x="3854901" y="1922715"/>
            <a:ext cx="1440298" cy="14402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35"/>
          <p:cNvPicPr preferRelativeResize="0"/>
          <p:nvPr/>
        </p:nvPicPr>
        <p:blipFill>
          <a:blip r:embed="rId3">
            <a:alphaModFix/>
          </a:blip>
          <a:stretch>
            <a:fillRect/>
          </a:stretch>
        </p:blipFill>
        <p:spPr>
          <a:xfrm>
            <a:off x="1726252" y="1196652"/>
            <a:ext cx="2006274" cy="2750198"/>
          </a:xfrm>
          <a:prstGeom prst="rect">
            <a:avLst/>
          </a:prstGeom>
          <a:noFill/>
          <a:ln>
            <a:noFill/>
          </a:ln>
        </p:spPr>
      </p:pic>
      <p:sp>
        <p:nvSpPr>
          <p:cNvPr id="315" name="Google Shape;315;p35"/>
          <p:cNvSpPr txBox="1"/>
          <p:nvPr/>
        </p:nvSpPr>
        <p:spPr>
          <a:xfrm>
            <a:off x="3985841" y="1165500"/>
            <a:ext cx="4251600" cy="277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Noah</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An artist balancing livelihood and discovery</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rPr>
              <a:t>Self-employed glass artist for over 20 years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Creates glass pumpkins and intricate sculptural pieces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Balances reliable production with exploring original work</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“I much prefer making my work and then selling it”</a:t>
            </a:r>
            <a:endParaRPr>
              <a:solidFill>
                <a:schemeClr val="dk1"/>
              </a:solidFill>
            </a:endParaRPr>
          </a:p>
        </p:txBody>
      </p:sp>
      <p:sp>
        <p:nvSpPr>
          <p:cNvPr id="316" name="Google Shape;316;p35"/>
          <p:cNvSpPr/>
          <p:nvPr/>
        </p:nvSpPr>
        <p:spPr>
          <a:xfrm rot="-955730">
            <a:off x="1095734" y="1024406"/>
            <a:ext cx="1425432" cy="458729"/>
          </a:xfrm>
          <a:prstGeom prst="horizontalScroll">
            <a:avLst>
              <a:gd fmla="val 12500" name="adj"/>
            </a:avLst>
          </a:prstGeom>
          <a:solidFill>
            <a:srgbClr val="F9D4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rPr>
              <a:t>master, career, high, hard</a:t>
            </a:r>
            <a:endParaRPr/>
          </a:p>
        </p:txBody>
      </p:sp>
      <p:pic>
        <p:nvPicPr>
          <p:cNvPr id="317" name="Google Shape;317;p35"/>
          <p:cNvPicPr preferRelativeResize="0"/>
          <p:nvPr/>
        </p:nvPicPr>
        <p:blipFill>
          <a:blip r:embed="rId4">
            <a:alphaModFix/>
          </a:blip>
          <a:stretch>
            <a:fillRect/>
          </a:stretch>
        </p:blipFill>
        <p:spPr>
          <a:xfrm rot="923663">
            <a:off x="2325463" y="1567003"/>
            <a:ext cx="862247" cy="86224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36"/>
          <p:cNvPicPr preferRelativeResize="0"/>
          <p:nvPr/>
        </p:nvPicPr>
        <p:blipFill>
          <a:blip r:embed="rId3">
            <a:alphaModFix/>
          </a:blip>
          <a:stretch>
            <a:fillRect/>
          </a:stretch>
        </p:blipFill>
        <p:spPr>
          <a:xfrm>
            <a:off x="1304075" y="183795"/>
            <a:ext cx="6038851" cy="4903626"/>
          </a:xfrm>
          <a:prstGeom prst="rect">
            <a:avLst/>
          </a:prstGeom>
          <a:noFill/>
          <a:ln>
            <a:noFill/>
          </a:ln>
        </p:spPr>
      </p:pic>
      <p:pic>
        <p:nvPicPr>
          <p:cNvPr id="323" name="Google Shape;323;p36"/>
          <p:cNvPicPr preferRelativeResize="0"/>
          <p:nvPr/>
        </p:nvPicPr>
        <p:blipFill>
          <a:blip r:embed="rId4">
            <a:alphaModFix/>
          </a:blip>
          <a:stretch>
            <a:fillRect/>
          </a:stretch>
        </p:blipFill>
        <p:spPr>
          <a:xfrm rot="923651">
            <a:off x="4358253" y="2036903"/>
            <a:ext cx="546894" cy="54689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idx="1" type="body"/>
          </p:nvPr>
        </p:nvSpPr>
        <p:spPr>
          <a:xfrm>
            <a:off x="360550" y="1381500"/>
            <a:ext cx="3267300" cy="33093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600">
                <a:solidFill>
                  <a:schemeClr val="dk1"/>
                </a:solidFill>
              </a:rPr>
              <a:t>Noah pulled back from successful catalogue work to make pieces he wasn’t sure anyone would buy</a:t>
            </a:r>
            <a:endParaRPr sz="1600">
              <a:solidFill>
                <a:schemeClr val="dk1"/>
              </a:solidFill>
            </a:endParaRPr>
          </a:p>
          <a:p>
            <a:pPr indent="0" lvl="0" marL="0" rtl="0" algn="l">
              <a:lnSpc>
                <a:spcPct val="95000"/>
              </a:lnSpc>
              <a:spcBef>
                <a:spcPts val="1200"/>
              </a:spcBef>
              <a:spcAft>
                <a:spcPts val="0"/>
              </a:spcAft>
              <a:buNone/>
            </a:pPr>
            <a:r>
              <a:t/>
            </a:r>
            <a:endParaRPr sz="1600">
              <a:solidFill>
                <a:schemeClr val="dk1"/>
              </a:solidFill>
            </a:endParaRPr>
          </a:p>
          <a:p>
            <a:pPr indent="0" lvl="0" marL="0" rtl="0" algn="l">
              <a:lnSpc>
                <a:spcPct val="95000"/>
              </a:lnSpc>
              <a:spcBef>
                <a:spcPts val="1200"/>
              </a:spcBef>
              <a:spcAft>
                <a:spcPts val="0"/>
              </a:spcAft>
              <a:buNone/>
            </a:pPr>
            <a:r>
              <a:rPr i="1" lang="en" sz="1600">
                <a:solidFill>
                  <a:schemeClr val="dk1"/>
                </a:solidFill>
              </a:rPr>
              <a:t>“The other work is more fulfilling because it’s also more unique”</a:t>
            </a:r>
            <a:endParaRPr i="1" sz="1600">
              <a:solidFill>
                <a:schemeClr val="dk1"/>
              </a:solidFill>
            </a:endParaRPr>
          </a:p>
          <a:p>
            <a:pPr indent="0" lvl="0" marL="0" rtl="0" algn="l">
              <a:lnSpc>
                <a:spcPct val="95000"/>
              </a:lnSpc>
              <a:spcBef>
                <a:spcPts val="1200"/>
              </a:spcBef>
              <a:spcAft>
                <a:spcPts val="0"/>
              </a:spcAft>
              <a:buNone/>
            </a:pPr>
            <a:r>
              <a:rPr i="1" lang="en" sz="1600">
                <a:solidFill>
                  <a:schemeClr val="dk1"/>
                </a:solidFill>
              </a:rPr>
              <a:t>“I really pulled back on that side of my business [catalogue work] because it’s less fulfilling to me”</a:t>
            </a:r>
            <a:endParaRPr i="1" sz="1600">
              <a:solidFill>
                <a:schemeClr val="dk1"/>
              </a:solidFill>
            </a:endParaRPr>
          </a:p>
          <a:p>
            <a:pPr indent="0" lvl="0" marL="0" rtl="0" algn="l">
              <a:lnSpc>
                <a:spcPct val="95000"/>
              </a:lnSpc>
              <a:spcBef>
                <a:spcPts val="1200"/>
              </a:spcBef>
              <a:spcAft>
                <a:spcPts val="1200"/>
              </a:spcAft>
              <a:buNone/>
            </a:pPr>
            <a:r>
              <a:t/>
            </a:r>
            <a:endParaRPr i="1" sz="1600">
              <a:solidFill>
                <a:schemeClr val="dk1"/>
              </a:solidFill>
            </a:endParaRPr>
          </a:p>
        </p:txBody>
      </p:sp>
      <p:sp>
        <p:nvSpPr>
          <p:cNvPr id="329" name="Google Shape;32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Surprised to notice</a:t>
            </a:r>
            <a:endParaRPr/>
          </a:p>
        </p:txBody>
      </p:sp>
      <p:pic>
        <p:nvPicPr>
          <p:cNvPr id="330" name="Google Shape;330;p37"/>
          <p:cNvPicPr preferRelativeResize="0"/>
          <p:nvPr/>
        </p:nvPicPr>
        <p:blipFill>
          <a:blip r:embed="rId3">
            <a:alphaModFix/>
          </a:blip>
          <a:stretch>
            <a:fillRect/>
          </a:stretch>
        </p:blipFill>
        <p:spPr>
          <a:xfrm>
            <a:off x="3800243" y="613516"/>
            <a:ext cx="4892744" cy="3972969"/>
          </a:xfrm>
          <a:prstGeom prst="rect">
            <a:avLst/>
          </a:prstGeom>
          <a:noFill/>
          <a:ln>
            <a:noFill/>
          </a:ln>
        </p:spPr>
      </p:pic>
      <p:pic>
        <p:nvPicPr>
          <p:cNvPr id="331" name="Google Shape;331;p37"/>
          <p:cNvPicPr preferRelativeResize="0"/>
          <p:nvPr/>
        </p:nvPicPr>
        <p:blipFill>
          <a:blip r:embed="rId4">
            <a:alphaModFix/>
          </a:blip>
          <a:stretch>
            <a:fillRect/>
          </a:stretch>
        </p:blipFill>
        <p:spPr>
          <a:xfrm rot="923672">
            <a:off x="6291744" y="2121422"/>
            <a:ext cx="403961" cy="403956"/>
          </a:xfrm>
          <a:prstGeom prst="rect">
            <a:avLst/>
          </a:prstGeom>
          <a:noFill/>
          <a:ln>
            <a:noFill/>
          </a:ln>
        </p:spPr>
      </p:pic>
      <p:sp>
        <p:nvSpPr>
          <p:cNvPr id="332" name="Google Shape;332;p37"/>
          <p:cNvSpPr/>
          <p:nvPr/>
        </p:nvSpPr>
        <p:spPr>
          <a:xfrm>
            <a:off x="3627850" y="556800"/>
            <a:ext cx="5290500" cy="4029900"/>
          </a:xfrm>
          <a:prstGeom prst="rect">
            <a:avLst/>
          </a:prstGeom>
          <a:solidFill>
            <a:srgbClr val="FFFFFF">
              <a:alpha val="66460"/>
            </a:srgbClr>
          </a:solidFill>
          <a:ln>
            <a:noFill/>
          </a:ln>
        </p:spPr>
        <p:txBody>
          <a:bodyPr anchorCtr="0" anchor="ctr" bIns="74075" lIns="74075" spcFirstLastPara="1" rIns="74075" wrap="square" tIns="74075">
            <a:noAutofit/>
          </a:bodyPr>
          <a:lstStyle/>
          <a:p>
            <a:pPr indent="0" lvl="0" marL="0" rtl="0" algn="ctr">
              <a:spcBef>
                <a:spcPts val="0"/>
              </a:spcBef>
              <a:spcAft>
                <a:spcPts val="0"/>
              </a:spcAft>
              <a:buNone/>
            </a:pPr>
            <a:r>
              <a:t/>
            </a:r>
            <a:endParaRPr sz="1134"/>
          </a:p>
        </p:txBody>
      </p:sp>
      <p:pic>
        <p:nvPicPr>
          <p:cNvPr id="333" name="Google Shape;333;p37"/>
          <p:cNvPicPr preferRelativeResize="0"/>
          <p:nvPr/>
        </p:nvPicPr>
        <p:blipFill>
          <a:blip r:embed="rId5">
            <a:alphaModFix/>
          </a:blip>
          <a:stretch>
            <a:fillRect/>
          </a:stretch>
        </p:blipFill>
        <p:spPr>
          <a:xfrm>
            <a:off x="4490746" y="928465"/>
            <a:ext cx="1117827" cy="1117827"/>
          </a:xfrm>
          <a:prstGeom prst="rect">
            <a:avLst/>
          </a:prstGeom>
          <a:noFill/>
          <a:ln>
            <a:noFill/>
          </a:ln>
        </p:spPr>
      </p:pic>
      <p:pic>
        <p:nvPicPr>
          <p:cNvPr id="334" name="Google Shape;334;p37"/>
          <p:cNvPicPr preferRelativeResize="0"/>
          <p:nvPr/>
        </p:nvPicPr>
        <p:blipFill>
          <a:blip r:embed="rId6">
            <a:alphaModFix/>
          </a:blip>
          <a:stretch>
            <a:fillRect/>
          </a:stretch>
        </p:blipFill>
        <p:spPr>
          <a:xfrm>
            <a:off x="7090858" y="928465"/>
            <a:ext cx="1117827" cy="1117827"/>
          </a:xfrm>
          <a:prstGeom prst="rect">
            <a:avLst/>
          </a:prstGeom>
          <a:noFill/>
          <a:ln>
            <a:noFill/>
          </a:ln>
        </p:spPr>
      </p:pic>
      <p:pic>
        <p:nvPicPr>
          <p:cNvPr id="335" name="Google Shape;335;p37"/>
          <p:cNvPicPr preferRelativeResize="0"/>
          <p:nvPr/>
        </p:nvPicPr>
        <p:blipFill>
          <a:blip r:embed="rId7">
            <a:alphaModFix/>
          </a:blip>
          <a:stretch>
            <a:fillRect/>
          </a:stretch>
        </p:blipFill>
        <p:spPr>
          <a:xfrm>
            <a:off x="4439379" y="2976600"/>
            <a:ext cx="1169195" cy="1169195"/>
          </a:xfrm>
          <a:prstGeom prst="rect">
            <a:avLst/>
          </a:prstGeom>
          <a:noFill/>
          <a:ln>
            <a:noFill/>
          </a:ln>
        </p:spPr>
      </p:pic>
      <p:pic>
        <p:nvPicPr>
          <p:cNvPr id="336" name="Google Shape;336;p37"/>
          <p:cNvPicPr preferRelativeResize="0"/>
          <p:nvPr/>
        </p:nvPicPr>
        <p:blipFill>
          <a:blip r:embed="rId8">
            <a:alphaModFix/>
          </a:blip>
          <a:stretch>
            <a:fillRect/>
          </a:stretch>
        </p:blipFill>
        <p:spPr>
          <a:xfrm>
            <a:off x="7126730" y="3019966"/>
            <a:ext cx="1169195" cy="116919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Finding</a:t>
            </a:r>
            <a:endParaRPr/>
          </a:p>
        </p:txBody>
      </p:sp>
      <p:pic>
        <p:nvPicPr>
          <p:cNvPr id="342" name="Google Shape;342;p38"/>
          <p:cNvPicPr preferRelativeResize="0"/>
          <p:nvPr/>
        </p:nvPicPr>
        <p:blipFill>
          <a:blip r:embed="rId3">
            <a:alphaModFix/>
          </a:blip>
          <a:stretch>
            <a:fillRect/>
          </a:stretch>
        </p:blipFill>
        <p:spPr>
          <a:xfrm>
            <a:off x="3571888" y="1499477"/>
            <a:ext cx="2006274" cy="2750198"/>
          </a:xfrm>
          <a:prstGeom prst="rect">
            <a:avLst/>
          </a:prstGeom>
          <a:noFill/>
          <a:ln>
            <a:noFill/>
          </a:ln>
        </p:spPr>
      </p:pic>
      <p:sp>
        <p:nvSpPr>
          <p:cNvPr id="343" name="Google Shape;343;p38"/>
          <p:cNvSpPr/>
          <p:nvPr/>
        </p:nvSpPr>
        <p:spPr>
          <a:xfrm>
            <a:off x="5753875" y="1499425"/>
            <a:ext cx="2908200" cy="2750100"/>
          </a:xfrm>
          <a:prstGeom prst="rect">
            <a:avLst/>
          </a:prstGeom>
          <a:solidFill>
            <a:schemeClr val="lt1"/>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NEED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n">
                <a:solidFill>
                  <a:schemeClr val="dk1"/>
                </a:solidFill>
              </a:rPr>
              <a:t>To let his </a:t>
            </a:r>
            <a:r>
              <a:rPr b="1" lang="en">
                <a:solidFill>
                  <a:schemeClr val="dk1"/>
                </a:solidFill>
              </a:rPr>
              <a:t>artistic voice evolve </a:t>
            </a:r>
            <a:r>
              <a:rPr lang="en">
                <a:solidFill>
                  <a:schemeClr val="dk1"/>
                </a:solidFill>
              </a:rPr>
              <a:t>beyond the work people already </a:t>
            </a:r>
            <a:r>
              <a:rPr b="1" lang="en">
                <a:solidFill>
                  <a:schemeClr val="dk1"/>
                </a:solidFill>
              </a:rPr>
              <a:t>expect from him</a:t>
            </a:r>
            <a:r>
              <a:rPr lang="en">
                <a:solidFill>
                  <a:schemeClr val="dk1"/>
                </a:solidFill>
              </a:rPr>
              <a:t>, while sustaining his livelihood</a:t>
            </a:r>
            <a:endParaRPr>
              <a:solidFill>
                <a:schemeClr val="dk1"/>
              </a:solidFill>
              <a:highlight>
                <a:schemeClr val="accent6"/>
              </a:highlight>
            </a:endParaRPr>
          </a:p>
          <a:p>
            <a:pPr indent="0" lvl="0" marL="0" rtl="0" algn="l">
              <a:spcBef>
                <a:spcPts val="0"/>
              </a:spcBef>
              <a:spcAft>
                <a:spcPts val="0"/>
              </a:spcAft>
              <a:buNone/>
            </a:pPr>
            <a:r>
              <a:t/>
            </a:r>
            <a:endParaRPr>
              <a:solidFill>
                <a:schemeClr val="dk1"/>
              </a:solidFill>
              <a:highlight>
                <a:schemeClr val="accent6"/>
              </a:highlight>
            </a:endParaRPr>
          </a:p>
          <a:p>
            <a:pPr indent="0" lvl="0" marL="0" rtl="0" algn="l">
              <a:spcBef>
                <a:spcPts val="0"/>
              </a:spcBef>
              <a:spcAft>
                <a:spcPts val="0"/>
              </a:spcAft>
              <a:buNone/>
            </a:pPr>
            <a:r>
              <a:t/>
            </a:r>
            <a:endParaRPr>
              <a:solidFill>
                <a:schemeClr val="dk1"/>
              </a:solidFill>
              <a:highlight>
                <a:schemeClr val="accent6"/>
              </a:highlight>
            </a:endParaRPr>
          </a:p>
        </p:txBody>
      </p:sp>
      <p:sp>
        <p:nvSpPr>
          <p:cNvPr id="344" name="Google Shape;344;p38"/>
          <p:cNvSpPr/>
          <p:nvPr/>
        </p:nvSpPr>
        <p:spPr>
          <a:xfrm>
            <a:off x="406125" y="1550075"/>
            <a:ext cx="2990100" cy="2649000"/>
          </a:xfrm>
          <a:prstGeom prst="rect">
            <a:avLst/>
          </a:prstGeom>
          <a:solidFill>
            <a:schemeClr val="lt1"/>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rPr>
              <a:t>INSIGHT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lang="en">
                <a:solidFill>
                  <a:schemeClr val="dk1"/>
                </a:solidFill>
              </a:rPr>
              <a:t>Noah welcomes uncertainty when it leaves room for discovery.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Reproducing a promised result builds his skill, but experimenting helps him discover what he wants to </a:t>
            </a:r>
            <a:r>
              <a:rPr b="1" lang="en">
                <a:solidFill>
                  <a:schemeClr val="dk1"/>
                </a:solidFill>
              </a:rPr>
              <a:t>express as an artist</a:t>
            </a:r>
            <a:endParaRPr b="1">
              <a:solidFill>
                <a:schemeClr val="dk1"/>
              </a:solidFill>
              <a:highlight>
                <a:schemeClr val="accent6"/>
              </a:highlight>
            </a:endParaRPr>
          </a:p>
        </p:txBody>
      </p:sp>
      <p:pic>
        <p:nvPicPr>
          <p:cNvPr id="345" name="Google Shape;345;p38"/>
          <p:cNvPicPr preferRelativeResize="0"/>
          <p:nvPr/>
        </p:nvPicPr>
        <p:blipFill>
          <a:blip r:embed="rId4">
            <a:alphaModFix/>
          </a:blip>
          <a:stretch>
            <a:fillRect/>
          </a:stretch>
        </p:blipFill>
        <p:spPr>
          <a:xfrm rot="923668">
            <a:off x="4224230" y="1909157"/>
            <a:ext cx="753814" cy="75380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9"/>
          <p:cNvSpPr txBox="1"/>
          <p:nvPr>
            <p:ph type="title"/>
          </p:nvPr>
        </p:nvSpPr>
        <p:spPr>
          <a:xfrm flipH="1">
            <a:off x="1579650" y="1863150"/>
            <a:ext cx="5984700" cy="141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600"/>
              <a:t>Why </a:t>
            </a:r>
            <a:r>
              <a:rPr i="1" lang="en" sz="3600"/>
              <a:t>choose</a:t>
            </a:r>
            <a:r>
              <a:rPr lang="en" sz="3600"/>
              <a:t> to be a beginner all over again?</a:t>
            </a:r>
            <a:endParaRPr sz="3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0"/>
          <p:cNvSpPr txBox="1"/>
          <p:nvPr>
            <p:ph type="title"/>
          </p:nvPr>
        </p:nvSpPr>
        <p:spPr>
          <a:xfrm flipH="1">
            <a:off x="1579650" y="1863150"/>
            <a:ext cx="5984700" cy="1417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i="1" lang="en" sz="3600"/>
              <a:t>“If you stop learning, you’re dead”</a:t>
            </a:r>
            <a:endParaRPr i="1" sz="3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41"/>
          <p:cNvPicPr preferRelativeResize="0"/>
          <p:nvPr/>
        </p:nvPicPr>
        <p:blipFill>
          <a:blip r:embed="rId3">
            <a:alphaModFix/>
          </a:blip>
          <a:stretch>
            <a:fillRect/>
          </a:stretch>
        </p:blipFill>
        <p:spPr>
          <a:xfrm>
            <a:off x="2194451" y="458476"/>
            <a:ext cx="4317199" cy="4226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2"/>
          <p:cNvSpPr/>
          <p:nvPr/>
        </p:nvSpPr>
        <p:spPr>
          <a:xfrm>
            <a:off x="2554050" y="396250"/>
            <a:ext cx="679800" cy="821100"/>
          </a:xfrm>
          <a:prstGeom prst="rect">
            <a:avLst/>
          </a:prstGeom>
          <a:solidFill>
            <a:srgbClr val="FFFFFF">
              <a:alpha val="66460"/>
            </a:srgbClr>
          </a:solidFill>
          <a:ln>
            <a:noFill/>
          </a:ln>
        </p:spPr>
        <p:txBody>
          <a:bodyPr anchorCtr="0" anchor="ctr" bIns="74075" lIns="74075" spcFirstLastPara="1" rIns="74075" wrap="square" tIns="74075">
            <a:noAutofit/>
          </a:bodyPr>
          <a:lstStyle/>
          <a:p>
            <a:pPr indent="0" lvl="0" marL="0" rtl="0" algn="ctr">
              <a:spcBef>
                <a:spcPts val="0"/>
              </a:spcBef>
              <a:spcAft>
                <a:spcPts val="0"/>
              </a:spcAft>
              <a:buNone/>
            </a:pPr>
            <a:r>
              <a:t/>
            </a:r>
            <a:endParaRPr sz="1134"/>
          </a:p>
        </p:txBody>
      </p:sp>
      <p:pic>
        <p:nvPicPr>
          <p:cNvPr id="366" name="Google Shape;366;p42" title="Gemini_Generated_Image_7ad6547ad6547ad6.jpeg"/>
          <p:cNvPicPr preferRelativeResize="0"/>
          <p:nvPr/>
        </p:nvPicPr>
        <p:blipFill>
          <a:blip r:embed="rId3">
            <a:alphaModFix/>
          </a:blip>
          <a:stretch>
            <a:fillRect/>
          </a:stretch>
        </p:blipFill>
        <p:spPr>
          <a:xfrm>
            <a:off x="0" y="83954"/>
            <a:ext cx="9144000" cy="497559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43"/>
          <p:cNvPicPr preferRelativeResize="0"/>
          <p:nvPr/>
        </p:nvPicPr>
        <p:blipFill>
          <a:blip r:embed="rId3">
            <a:alphaModFix/>
          </a:blip>
          <a:stretch>
            <a:fillRect/>
          </a:stretch>
        </p:blipFill>
        <p:spPr>
          <a:xfrm>
            <a:off x="617550" y="445025"/>
            <a:ext cx="7606338" cy="4280818"/>
          </a:xfrm>
          <a:prstGeom prst="rect">
            <a:avLst/>
          </a:prstGeom>
          <a:noFill/>
          <a:ln>
            <a:noFill/>
          </a:ln>
        </p:spPr>
      </p:pic>
      <p:sp>
        <p:nvSpPr>
          <p:cNvPr id="372" name="Google Shape;37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a:t>
            </a:r>
            <a:endParaRPr/>
          </a:p>
        </p:txBody>
      </p:sp>
      <p:cxnSp>
        <p:nvCxnSpPr>
          <p:cNvPr id="373" name="Google Shape;373;p43"/>
          <p:cNvCxnSpPr/>
          <p:nvPr/>
        </p:nvCxnSpPr>
        <p:spPr>
          <a:xfrm flipH="1">
            <a:off x="1963107" y="3245212"/>
            <a:ext cx="420300" cy="859500"/>
          </a:xfrm>
          <a:prstGeom prst="straightConnector1">
            <a:avLst/>
          </a:prstGeom>
          <a:noFill/>
          <a:ln cap="flat" cmpd="sng" w="33300">
            <a:solidFill>
              <a:schemeClr val="dk1"/>
            </a:solidFill>
            <a:prstDash val="solid"/>
            <a:round/>
            <a:headEnd len="med" w="med" type="none"/>
            <a:tailEnd len="med" w="med" type="none"/>
          </a:ln>
        </p:spPr>
      </p:cxnSp>
      <p:cxnSp>
        <p:nvCxnSpPr>
          <p:cNvPr id="374" name="Google Shape;374;p43"/>
          <p:cNvCxnSpPr/>
          <p:nvPr/>
        </p:nvCxnSpPr>
        <p:spPr>
          <a:xfrm flipH="1">
            <a:off x="3861658" y="1630571"/>
            <a:ext cx="420300" cy="859500"/>
          </a:xfrm>
          <a:prstGeom prst="straightConnector1">
            <a:avLst/>
          </a:prstGeom>
          <a:noFill/>
          <a:ln cap="flat" cmpd="sng" w="33300">
            <a:solidFill>
              <a:schemeClr val="dk1"/>
            </a:solidFill>
            <a:prstDash val="solid"/>
            <a:round/>
            <a:headEnd len="med" w="med" type="none"/>
            <a:tailEnd len="med" w="med" type="none"/>
          </a:ln>
        </p:spPr>
      </p:cxnSp>
      <p:cxnSp>
        <p:nvCxnSpPr>
          <p:cNvPr id="375" name="Google Shape;375;p43"/>
          <p:cNvCxnSpPr/>
          <p:nvPr/>
        </p:nvCxnSpPr>
        <p:spPr>
          <a:xfrm flipH="1">
            <a:off x="4949481" y="3329977"/>
            <a:ext cx="420300" cy="859500"/>
          </a:xfrm>
          <a:prstGeom prst="straightConnector1">
            <a:avLst/>
          </a:prstGeom>
          <a:noFill/>
          <a:ln cap="flat" cmpd="sng" w="33300">
            <a:solidFill>
              <a:schemeClr val="dk1"/>
            </a:solidFill>
            <a:prstDash val="solid"/>
            <a:round/>
            <a:headEnd len="med" w="med" type="none"/>
            <a:tailEnd len="med" w="med" type="none"/>
          </a:ln>
        </p:spPr>
      </p:cxnSp>
      <p:cxnSp>
        <p:nvCxnSpPr>
          <p:cNvPr id="376" name="Google Shape;376;p43"/>
          <p:cNvCxnSpPr/>
          <p:nvPr/>
        </p:nvCxnSpPr>
        <p:spPr>
          <a:xfrm flipH="1">
            <a:off x="7118255" y="1630571"/>
            <a:ext cx="420300" cy="859500"/>
          </a:xfrm>
          <a:prstGeom prst="straightConnector1">
            <a:avLst/>
          </a:prstGeom>
          <a:noFill/>
          <a:ln cap="flat" cmpd="sng" w="33300">
            <a:solidFill>
              <a:schemeClr val="dk1"/>
            </a:solidFill>
            <a:prstDash val="solid"/>
            <a:round/>
            <a:headEnd len="med" w="med" type="none"/>
            <a:tailEnd len="med" w="med" type="none"/>
          </a:ln>
        </p:spPr>
      </p:cxnSp>
      <p:sp>
        <p:nvSpPr>
          <p:cNvPr id="377" name="Google Shape;377;p43"/>
          <p:cNvSpPr/>
          <p:nvPr/>
        </p:nvSpPr>
        <p:spPr>
          <a:xfrm>
            <a:off x="1276475" y="3949125"/>
            <a:ext cx="1755300" cy="629100"/>
          </a:xfrm>
          <a:prstGeom prst="rect">
            <a:avLst/>
          </a:prstGeom>
          <a:solidFill>
            <a:schemeClr val="lt1"/>
          </a:solidFill>
          <a:ln cap="flat" cmpd="sng" w="20925">
            <a:solidFill>
              <a:schemeClr val="dk1"/>
            </a:solidFill>
            <a:prstDash val="solid"/>
            <a:round/>
            <a:headEnd len="sm" w="sm" type="none"/>
            <a:tailEnd len="sm" w="sm" type="none"/>
          </a:ln>
        </p:spPr>
        <p:txBody>
          <a:bodyPr anchorCtr="0" anchor="ctr" bIns="100425" lIns="100425" spcFirstLastPara="1" rIns="100425" wrap="square" tIns="100425">
            <a:noAutofit/>
          </a:bodyPr>
          <a:lstStyle/>
          <a:p>
            <a:pPr indent="0" lvl="0" marL="0" rtl="0" algn="l">
              <a:spcBef>
                <a:spcPts val="0"/>
              </a:spcBef>
              <a:spcAft>
                <a:spcPts val="0"/>
              </a:spcAft>
              <a:buNone/>
            </a:pPr>
            <a:r>
              <a:rPr lang="en" sz="1538">
                <a:solidFill>
                  <a:schemeClr val="dk1"/>
                </a:solidFill>
              </a:rPr>
              <a:t>x </a:t>
            </a:r>
            <a:endParaRPr sz="1538">
              <a:solidFill>
                <a:schemeClr val="dk1"/>
              </a:solidFill>
            </a:endParaRPr>
          </a:p>
        </p:txBody>
      </p:sp>
      <p:sp>
        <p:nvSpPr>
          <p:cNvPr id="378" name="Google Shape;378;p43"/>
          <p:cNvSpPr/>
          <p:nvPr/>
        </p:nvSpPr>
        <p:spPr>
          <a:xfrm>
            <a:off x="3861800" y="1001375"/>
            <a:ext cx="1865100" cy="629100"/>
          </a:xfrm>
          <a:prstGeom prst="rect">
            <a:avLst/>
          </a:prstGeom>
          <a:solidFill>
            <a:schemeClr val="lt1"/>
          </a:solidFill>
          <a:ln cap="flat" cmpd="sng" w="20925">
            <a:solidFill>
              <a:schemeClr val="dk1"/>
            </a:solidFill>
            <a:prstDash val="solid"/>
            <a:round/>
            <a:headEnd len="sm" w="sm" type="none"/>
            <a:tailEnd len="sm" w="sm" type="none"/>
          </a:ln>
        </p:spPr>
        <p:txBody>
          <a:bodyPr anchorCtr="0" anchor="ctr" bIns="100425" lIns="100425" spcFirstLastPara="1" rIns="100425" wrap="square" tIns="100425">
            <a:noAutofit/>
          </a:bodyPr>
          <a:lstStyle/>
          <a:p>
            <a:pPr indent="0" lvl="0" marL="0" rtl="0" algn="l">
              <a:spcBef>
                <a:spcPts val="0"/>
              </a:spcBef>
              <a:spcAft>
                <a:spcPts val="0"/>
              </a:spcAft>
              <a:buNone/>
            </a:pPr>
            <a:r>
              <a:rPr lang="en" sz="1538">
                <a:solidFill>
                  <a:schemeClr val="dk1"/>
                </a:solidFill>
              </a:rPr>
              <a:t>x</a:t>
            </a:r>
            <a:endParaRPr sz="1538">
              <a:solidFill>
                <a:schemeClr val="dk1"/>
              </a:solidFill>
            </a:endParaRPr>
          </a:p>
        </p:txBody>
      </p:sp>
      <p:sp>
        <p:nvSpPr>
          <p:cNvPr id="379" name="Google Shape;379;p43"/>
          <p:cNvSpPr/>
          <p:nvPr/>
        </p:nvSpPr>
        <p:spPr>
          <a:xfrm>
            <a:off x="4368125" y="4189425"/>
            <a:ext cx="1954200" cy="629100"/>
          </a:xfrm>
          <a:prstGeom prst="rect">
            <a:avLst/>
          </a:prstGeom>
          <a:solidFill>
            <a:schemeClr val="lt1"/>
          </a:solidFill>
          <a:ln cap="flat" cmpd="sng" w="20925">
            <a:solidFill>
              <a:schemeClr val="dk1"/>
            </a:solidFill>
            <a:prstDash val="solid"/>
            <a:round/>
            <a:headEnd len="sm" w="sm" type="none"/>
            <a:tailEnd len="sm" w="sm" type="none"/>
          </a:ln>
        </p:spPr>
        <p:txBody>
          <a:bodyPr anchorCtr="0" anchor="ctr" bIns="100425" lIns="100425" spcFirstLastPara="1" rIns="100425" wrap="square" tIns="100425">
            <a:noAutofit/>
          </a:bodyPr>
          <a:lstStyle/>
          <a:p>
            <a:pPr indent="0" lvl="0" marL="0" rtl="0" algn="l">
              <a:spcBef>
                <a:spcPts val="0"/>
              </a:spcBef>
              <a:spcAft>
                <a:spcPts val="0"/>
              </a:spcAft>
              <a:buNone/>
            </a:pPr>
            <a:r>
              <a:rPr lang="en" sz="1538">
                <a:solidFill>
                  <a:schemeClr val="dk1"/>
                </a:solidFill>
              </a:rPr>
              <a:t>x</a:t>
            </a:r>
            <a:endParaRPr sz="1538">
              <a:solidFill>
                <a:schemeClr val="dk1"/>
              </a:solidFill>
            </a:endParaRPr>
          </a:p>
        </p:txBody>
      </p:sp>
      <p:sp>
        <p:nvSpPr>
          <p:cNvPr id="380" name="Google Shape;380;p43"/>
          <p:cNvSpPr/>
          <p:nvPr/>
        </p:nvSpPr>
        <p:spPr>
          <a:xfrm>
            <a:off x="6943075" y="1001375"/>
            <a:ext cx="1889100" cy="629100"/>
          </a:xfrm>
          <a:prstGeom prst="rect">
            <a:avLst/>
          </a:prstGeom>
          <a:solidFill>
            <a:schemeClr val="lt1"/>
          </a:solidFill>
          <a:ln cap="flat" cmpd="sng" w="20925">
            <a:solidFill>
              <a:schemeClr val="dk1"/>
            </a:solidFill>
            <a:prstDash val="solid"/>
            <a:round/>
            <a:headEnd len="sm" w="sm" type="none"/>
            <a:tailEnd len="sm" w="sm" type="none"/>
          </a:ln>
        </p:spPr>
        <p:txBody>
          <a:bodyPr anchorCtr="0" anchor="ctr" bIns="100425" lIns="100425" spcFirstLastPara="1" rIns="100425" wrap="square" tIns="100425">
            <a:noAutofit/>
          </a:bodyPr>
          <a:lstStyle/>
          <a:p>
            <a:pPr indent="0" lvl="0" marL="0" rtl="0" algn="l">
              <a:spcBef>
                <a:spcPts val="0"/>
              </a:spcBef>
              <a:spcAft>
                <a:spcPts val="0"/>
              </a:spcAft>
              <a:buNone/>
            </a:pPr>
            <a:r>
              <a:rPr lang="en" sz="1538">
                <a:solidFill>
                  <a:schemeClr val="dk1"/>
                </a:solidFill>
              </a:rPr>
              <a:t>x</a:t>
            </a:r>
            <a:endParaRPr sz="1538">
              <a:solidFill>
                <a:schemeClr val="dk1"/>
              </a:solidFill>
            </a:endParaRPr>
          </a:p>
        </p:txBody>
      </p:sp>
      <p:sp>
        <p:nvSpPr>
          <p:cNvPr id="381" name="Google Shape;381;p43"/>
          <p:cNvSpPr txBox="1"/>
          <p:nvPr/>
        </p:nvSpPr>
        <p:spPr>
          <a:xfrm>
            <a:off x="1559500" y="3925125"/>
            <a:ext cx="1364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1600">
                <a:solidFill>
                  <a:schemeClr val="accent2"/>
                </a:solidFill>
              </a:rPr>
              <a:t>directly observe craft</a:t>
            </a:r>
            <a:endParaRPr i="1" sz="1600">
              <a:solidFill>
                <a:schemeClr val="accent2"/>
              </a:solidFill>
            </a:endParaRPr>
          </a:p>
        </p:txBody>
      </p:sp>
      <p:sp>
        <p:nvSpPr>
          <p:cNvPr id="382" name="Google Shape;382;p43"/>
          <p:cNvSpPr txBox="1"/>
          <p:nvPr/>
        </p:nvSpPr>
        <p:spPr>
          <a:xfrm>
            <a:off x="4172325" y="977375"/>
            <a:ext cx="1510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accent2"/>
                </a:solidFill>
              </a:rPr>
              <a:t>explore “quitters”</a:t>
            </a:r>
            <a:endParaRPr i="1" sz="1600">
              <a:solidFill>
                <a:schemeClr val="accent2"/>
              </a:solidFill>
            </a:endParaRPr>
          </a:p>
        </p:txBody>
      </p:sp>
      <p:sp>
        <p:nvSpPr>
          <p:cNvPr id="383" name="Google Shape;383;p43"/>
          <p:cNvSpPr txBox="1"/>
          <p:nvPr/>
        </p:nvSpPr>
        <p:spPr>
          <a:xfrm>
            <a:off x="4721775" y="4165425"/>
            <a:ext cx="1600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accent2"/>
                </a:solidFill>
              </a:rPr>
              <a:t>identify existing supports</a:t>
            </a:r>
            <a:endParaRPr i="1" sz="1600">
              <a:solidFill>
                <a:schemeClr val="accent2"/>
              </a:solidFill>
            </a:endParaRPr>
          </a:p>
        </p:txBody>
      </p:sp>
      <p:sp>
        <p:nvSpPr>
          <p:cNvPr id="384" name="Google Shape;384;p43"/>
          <p:cNvSpPr txBox="1"/>
          <p:nvPr/>
        </p:nvSpPr>
        <p:spPr>
          <a:xfrm>
            <a:off x="7242125" y="977375"/>
            <a:ext cx="1692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1600">
                <a:solidFill>
                  <a:schemeClr val="accent2"/>
                </a:solidFill>
              </a:rPr>
              <a:t>take inference leaps</a:t>
            </a:r>
            <a:endParaRPr i="1" sz="1600">
              <a:solidFill>
                <a:schemeClr val="accent2"/>
              </a:solidFill>
            </a:endParaRPr>
          </a:p>
          <a:p>
            <a:pPr indent="0" lvl="0" marL="0" rtl="0" algn="l">
              <a:spcBef>
                <a:spcPts val="0"/>
              </a:spcBef>
              <a:spcAft>
                <a:spcPts val="0"/>
              </a:spcAft>
              <a:buNone/>
            </a:pPr>
            <a:r>
              <a:t/>
            </a:r>
            <a:endParaRPr i="1" sz="1600">
              <a:solidFill>
                <a:schemeClr val="accent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a:t>
            </a:r>
            <a:endParaRPr/>
          </a:p>
        </p:txBody>
      </p:sp>
      <p:pic>
        <p:nvPicPr>
          <p:cNvPr id="390" name="Google Shape;390;p44"/>
          <p:cNvPicPr preferRelativeResize="0"/>
          <p:nvPr/>
        </p:nvPicPr>
        <p:blipFill>
          <a:blip r:embed="rId3">
            <a:alphaModFix/>
          </a:blip>
          <a:stretch>
            <a:fillRect/>
          </a:stretch>
        </p:blipFill>
        <p:spPr>
          <a:xfrm>
            <a:off x="1838663" y="1017733"/>
            <a:ext cx="5466676" cy="3870475"/>
          </a:xfrm>
          <a:prstGeom prst="rect">
            <a:avLst/>
          </a:prstGeom>
          <a:noFill/>
          <a:ln>
            <a:noFill/>
          </a:ln>
        </p:spPr>
      </p:pic>
      <p:pic>
        <p:nvPicPr>
          <p:cNvPr id="391" name="Google Shape;391;p44"/>
          <p:cNvPicPr preferRelativeResize="0"/>
          <p:nvPr/>
        </p:nvPicPr>
        <p:blipFill rotWithShape="1">
          <a:blip r:embed="rId4">
            <a:alphaModFix/>
          </a:blip>
          <a:srcRect b="23264" l="30168" r="33901" t="43391"/>
          <a:stretch/>
        </p:blipFill>
        <p:spPr>
          <a:xfrm>
            <a:off x="4654850" y="1986223"/>
            <a:ext cx="77125" cy="71574"/>
          </a:xfrm>
          <a:prstGeom prst="rect">
            <a:avLst/>
          </a:prstGeom>
          <a:noFill/>
          <a:ln>
            <a:noFill/>
          </a:ln>
        </p:spPr>
      </p:pic>
      <p:pic>
        <p:nvPicPr>
          <p:cNvPr id="392" name="Google Shape;392;p44"/>
          <p:cNvPicPr preferRelativeResize="0"/>
          <p:nvPr/>
        </p:nvPicPr>
        <p:blipFill rotWithShape="1">
          <a:blip r:embed="rId4">
            <a:alphaModFix/>
          </a:blip>
          <a:srcRect b="23264" l="30168" r="33901" t="43391"/>
          <a:stretch/>
        </p:blipFill>
        <p:spPr>
          <a:xfrm>
            <a:off x="5519300" y="1973098"/>
            <a:ext cx="77125" cy="71574"/>
          </a:xfrm>
          <a:prstGeom prst="rect">
            <a:avLst/>
          </a:prstGeom>
          <a:noFill/>
          <a:ln>
            <a:noFill/>
          </a:ln>
        </p:spPr>
      </p:pic>
      <p:pic>
        <p:nvPicPr>
          <p:cNvPr id="393" name="Google Shape;393;p44"/>
          <p:cNvPicPr preferRelativeResize="0"/>
          <p:nvPr/>
        </p:nvPicPr>
        <p:blipFill rotWithShape="1">
          <a:blip r:embed="rId4">
            <a:alphaModFix/>
          </a:blip>
          <a:srcRect b="23264" l="30168" r="33901" t="43391"/>
          <a:stretch/>
        </p:blipFill>
        <p:spPr>
          <a:xfrm>
            <a:off x="5907550" y="1788025"/>
            <a:ext cx="102651" cy="1073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