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Lst>
  <p:sldSz cy="5143500" cx="9144000"/>
  <p:notesSz cx="6858000" cy="9144000"/>
  <p:embeddedFontLst>
    <p:embeddedFont>
      <p:font typeface="Patrick Hand"/>
      <p:regular r:id="rId94"/>
    </p:embeddedFont>
    <p:embeddedFont>
      <p:font typeface="Caveat"/>
      <p:regular r:id="rId95"/>
      <p:bold r:id="rId96"/>
    </p:embeddedFont>
    <p:embeddedFont>
      <p:font typeface="Epilogue Black"/>
      <p:bold r:id="rId97"/>
      <p:boldItalic r:id="rId98"/>
    </p:embeddedFont>
    <p:embeddedFont>
      <p:font typeface="Lexend Mega"/>
      <p:regular r:id="rId99"/>
      <p:bold r:id="rId100"/>
    </p:embeddedFont>
    <p:embeddedFont>
      <p:font typeface="Bebas Neue"/>
      <p:regular r:id="rId101"/>
    </p:embeddedFont>
    <p:embeddedFont>
      <p:font typeface="Russo One"/>
      <p:regular r:id="rId102"/>
    </p:embeddedFont>
    <p:embeddedFont>
      <p:font typeface="Lexend Mega Light"/>
      <p:regular r:id="rId103"/>
      <p:bold r:id="rId104"/>
    </p:embeddedFont>
    <p:embeddedFont>
      <p:font typeface="Epilogue"/>
      <p:regular r:id="rId105"/>
      <p:bold r:id="rId106"/>
      <p:italic r:id="rId107"/>
      <p:boldItalic r:id="rId108"/>
    </p:embeddedFont>
    <p:embeddedFont>
      <p:font typeface="PT Sans"/>
      <p:regular r:id="rId109"/>
      <p:bold r:id="rId110"/>
      <p:italic r:id="rId111"/>
      <p:boldItalic r:id="rId112"/>
    </p:embeddedFont>
    <p:embeddedFont>
      <p:font typeface="Lexend Mega Black"/>
      <p:bold r:id="rId113"/>
    </p:embeddedFont>
    <p:embeddedFont>
      <p:font typeface="Open Sans"/>
      <p:regular r:id="rId114"/>
      <p:bold r:id="rId115"/>
      <p:italic r:id="rId116"/>
      <p:boldItalic r:id="rId1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font" Target="fonts/Epilogue-italic.fntdata"/><Relationship Id="rId106" Type="http://schemas.openxmlformats.org/officeDocument/2006/relationships/font" Target="fonts/Epilogue-bold.fntdata"/><Relationship Id="rId105" Type="http://schemas.openxmlformats.org/officeDocument/2006/relationships/font" Target="fonts/Epilogue-regular.fntdata"/><Relationship Id="rId104" Type="http://schemas.openxmlformats.org/officeDocument/2006/relationships/font" Target="fonts/LexendMegaLight-bold.fntdata"/><Relationship Id="rId109" Type="http://schemas.openxmlformats.org/officeDocument/2006/relationships/font" Target="fonts/PTSans-regular.fntdata"/><Relationship Id="rId108" Type="http://schemas.openxmlformats.org/officeDocument/2006/relationships/font" Target="fonts/Epilogue-boldItalic.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LexendMegaLight-regular.fntdata"/><Relationship Id="rId102" Type="http://schemas.openxmlformats.org/officeDocument/2006/relationships/font" Target="fonts/RussoOne-regular.fntdata"/><Relationship Id="rId101" Type="http://schemas.openxmlformats.org/officeDocument/2006/relationships/font" Target="fonts/BebasNeue-regular.fntdata"/><Relationship Id="rId100" Type="http://schemas.openxmlformats.org/officeDocument/2006/relationships/font" Target="fonts/LexendMega-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Caveat-regular.fntdata"/><Relationship Id="rId94" Type="http://schemas.openxmlformats.org/officeDocument/2006/relationships/font" Target="fonts/PatrickHand-regular.fntdata"/><Relationship Id="rId97" Type="http://schemas.openxmlformats.org/officeDocument/2006/relationships/font" Target="fonts/EpilogueBlack-bold.fntdata"/><Relationship Id="rId96" Type="http://schemas.openxmlformats.org/officeDocument/2006/relationships/font" Target="fonts/Caveat-bold.fntdata"/><Relationship Id="rId11" Type="http://schemas.openxmlformats.org/officeDocument/2006/relationships/slide" Target="slides/slide5.xml"/><Relationship Id="rId99" Type="http://schemas.openxmlformats.org/officeDocument/2006/relationships/font" Target="fonts/LexendMega-regular.fntdata"/><Relationship Id="rId10" Type="http://schemas.openxmlformats.org/officeDocument/2006/relationships/slide" Target="slides/slide4.xml"/><Relationship Id="rId98" Type="http://schemas.openxmlformats.org/officeDocument/2006/relationships/font" Target="fonts/EpilogueBlack-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7" Type="http://schemas.openxmlformats.org/officeDocument/2006/relationships/font" Target="fonts/OpenSans-boldItalic.fntdata"/><Relationship Id="rId116" Type="http://schemas.openxmlformats.org/officeDocument/2006/relationships/font" Target="fonts/OpenSans-italic.fntdata"/><Relationship Id="rId115" Type="http://schemas.openxmlformats.org/officeDocument/2006/relationships/font" Target="fonts/OpenSans-bold.fntdata"/><Relationship Id="rId15" Type="http://schemas.openxmlformats.org/officeDocument/2006/relationships/slide" Target="slides/slide9.xml"/><Relationship Id="rId110" Type="http://schemas.openxmlformats.org/officeDocument/2006/relationships/font" Target="fonts/PTSans-bold.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OpenSans-regular.fntdata"/><Relationship Id="rId18" Type="http://schemas.openxmlformats.org/officeDocument/2006/relationships/slide" Target="slides/slide12.xml"/><Relationship Id="rId113" Type="http://schemas.openxmlformats.org/officeDocument/2006/relationships/font" Target="fonts/LexendMegaBlack-bold.fntdata"/><Relationship Id="rId112" Type="http://schemas.openxmlformats.org/officeDocument/2006/relationships/font" Target="fonts/PTSans-boldItalic.fntdata"/><Relationship Id="rId111" Type="http://schemas.openxmlformats.org/officeDocument/2006/relationships/font" Target="fonts/PTSans-italic.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7686f29065c85936_8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h7686f29065c85936_8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h19eac8887cc3818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h19eac8887cc3818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h19eac8887cc3818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h19eac8887cc3818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h19eac8887cc3818d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h19eac8887cc3818d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19eac8887cc3818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h19eac8887cc3818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h19eac8887cc3818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h19eac8887cc3818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h7686f29065c85936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h7686f29065c85936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h19eac8887cc3818d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h19eac8887cc3818d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h2b0832b5450b7f03_8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h2b0832b5450b7f03_8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h2b0832b5450b7f03_8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h2b0832b5450b7f03_8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h2b0832b5450b7f03_83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h2b0832b5450b7f03_83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19eac8887cc3818d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h19eac8887cc3818d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h19eac8887cc3818d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h19eac8887cc3818d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2b0832b5450b7f03_9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h2b0832b5450b7f03_9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2b0832b5450b7f03_2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h2b0832b5450b7f03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h2b0832b5450b7f03_2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h2b0832b5450b7f03_2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h2b0832b5450b7f03_6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h2b0832b5450b7f03_6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19eac8887cc3818d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h19eac8887cc3818d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2b0832b5450b7f03_2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h2b0832b5450b7f03_2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h2b0832b5450b7f03_2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h2b0832b5450b7f03_2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h2b0832b5450b7f03_16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h2b0832b5450b7f03_16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2b0832b5450b7f03_16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2b0832b5450b7f03_16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19eac8887cc3818d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h19eac8887cc3818d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19eac8887cc3818d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h19eac8887cc3818d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19eac8887cc3818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h19eac8887cc3818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19eac8887cc3818d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h19eac8887cc3818d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h2b0832b5450b7f03_6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h2b0832b5450b7f03_6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h2b0832b5450b7f03_6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h2b0832b5450b7f03_6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2</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h19eac8887cc3818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h19eac8887cc3818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3</a:t>
            </a:r>
            <a:endParaRPr/>
          </a:p>
          <a:p>
            <a:pPr indent="0" lvl="0" marL="0" rtl="0" algn="l">
              <a:spcBef>
                <a:spcPts val="0"/>
              </a:spcBef>
              <a:spcAft>
                <a:spcPts val="0"/>
              </a:spcAft>
              <a:buNone/>
            </a:pPr>
            <a:r>
              <a:rPr lang="en"/>
              <a:t>Rigorous reflection and introspection re-inspires crafters.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h19eac8887cc3818d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h19eac8887cc3818d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h19eac8887cc3818d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h19eac8887cc3818d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h2b0832b5450b7f03_19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h2b0832b5450b7f03_19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EDDY POV.</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h19eac8887cc3818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h19eac8887cc3818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19eac8887cc3818d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h19eac8887cc3818d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h19eac8887cc3818d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h19eac8887cc3818d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2b0832b5450b7f03_3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h2b0832b5450b7f03_3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someone to create a quick craft at home, and then ask them to go to a fountain on campus and have them create a craft at that location inspired by water. Ask them to compare their experiences— how did they feel in one experience vs. the other?</a:t>
            </a:r>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19eac8887cc3818d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h19eac8887cc3818d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h2b0832b5450b7f03_38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h2b0832b5450b7f03_38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h2b0832b5450b7f03_38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h2b0832b5450b7f03_38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2b0832b5450b7f03_9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h2b0832b5450b7f03_9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h19eac8887cc3818d_0_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h19eac8887cc3818d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h2b0832b5450b7f03_9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h2b0832b5450b7f03_9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19eac8887cc3818d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h19eac8887cc3818d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NOAH POV.</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h19eac8887cc3818d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h19eac8887cc3818d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19eac8887cc3818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h19eac8887cc3818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h19eac8887cc3818d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h19eac8887cc3818d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h19eac8887cc3818d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h19eac8887cc3818d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h19eac8887cc3818d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h19eac8887cc3818d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2b0832b5450b7f03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h2b0832b5450b7f03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h2b0832b5450b7f03_6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h2b0832b5450b7f03_6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h2b0832b5450b7f03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h2b0832b5450b7f03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h2b0832b5450b7f03_6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h2b0832b5450b7f03_6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h19eac8887cc3818d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h19eac8887cc3818d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h2b0832b5450b7f03_9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h2b0832b5450b7f03_9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h19eac8887cc3818d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h19eac8887cc3818d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LOLA POV.</a:t>
            </a:r>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There’s a double edge sword of craft</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thing that makes a good crafter a good crafter can be the very thing that can kill them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much passion and fiction can turn into tunnel vision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Making great art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good crafters, receive praise and validation throughout their journey. And for a big part of the journey, it fuels the artist.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It only starts to hurt when you go from liking this validation to then needing it to continue. When they tie their self worth and value as an artist, to the validation from others that their art is good.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h19eac8887cc3818d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h19eac8887cc3818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h19eac8887cc3818d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h19eac8887cc3818d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h19eac8887cc3818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h19eac8887cc3818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h2b0832b5450b7f03_16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h2b0832b5450b7f03_16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h2b0832b5450b7f03_16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h2b0832b5450b7f03_16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h2b0832b5450b7f03_16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h2b0832b5450b7f03_16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h2b0832b5450b7f03_2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h2b0832b5450b7f03_2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h2b0832b5450b7f03_16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h2b0832b5450b7f03_16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There’s a double edge sword of craft</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thing that makes a good crafter a good crafter can be the very thing that can kill them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So much passion and fiction can turn into tunnel vision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Making great art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good crafters, receive praise and validation throughout their journey. And for a big part of the journey, it fuels the artist.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It only starts to hurt when you go from liking this validation to then needing it to continue. When they tie their self worth and value as an artist, to the validation from others that their art is good.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h2b0832b5450b7f03_16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h2b0832b5450b7f03_16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h2b0832b5450b7f03_16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7" name="Google Shape;897;h2b0832b5450b7f03_16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h2b0832b5450b7f03_16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3" name="Google Shape;903;h2b0832b5450b7f03_16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h2b0832b5450b7f03_16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9" name="Google Shape;909;h2b0832b5450b7f03_16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h2b0832b5450b7f03_16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h2b0832b5450b7f03_16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h2b0832b5450b7f03_9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h2b0832b5450b7f03_9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h2b0832b5450b7f03_9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0" name="Google Shape;950;h2b0832b5450b7f03_9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h19eac8887cc3818d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h19eac8887cc3818d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h19eac8887cc3818d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h19eac8887cc3818d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h2b0832b5450b7f03_11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h2b0832b5450b7f03_112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h2b0832b5450b7f03_11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h2b0832b5450b7f03_11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h2b0832b5450b7f03_11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h2b0832b5450b7f03_11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h2b0832b5450b7f03_11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1" name="Google Shape;991;h2b0832b5450b7f03_11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h2b0832b5450b7f03_11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h2b0832b5450b7f03_11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h2b0832b5450b7f03_9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h2b0832b5450b7f03_9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h19eac8887cc3818d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6" name="Google Shape;1036;h19eac8887cc3818d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h19eac8887cc3818d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h19eac8887cc3818d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SERVES: </a:t>
            </a:r>
            <a:endParaRPr/>
          </a:p>
          <a:p>
            <a:pPr indent="0" lvl="0" marL="0" rtl="0" algn="l">
              <a:spcBef>
                <a:spcPts val="0"/>
              </a:spcBef>
              <a:spcAft>
                <a:spcPts val="0"/>
              </a:spcAft>
              <a:buNone/>
            </a:pPr>
            <a:r>
              <a:rPr lang="en"/>
              <a:t>Busy or burned-out creatives</a:t>
            </a:r>
            <a:endParaRPr/>
          </a:p>
          <a:p>
            <a:pPr indent="0" lvl="0" marL="0" rtl="0" algn="l">
              <a:spcBef>
                <a:spcPts val="0"/>
              </a:spcBef>
              <a:spcAft>
                <a:spcPts val="0"/>
              </a:spcAft>
              <a:buNone/>
            </a:pPr>
            <a:r>
              <a:rPr lang="en"/>
              <a:t>Casual / returning crafters</a:t>
            </a:r>
            <a:endParaRPr/>
          </a:p>
          <a:p>
            <a:pPr indent="0" lvl="0" marL="0" rtl="0" algn="l">
              <a:spcBef>
                <a:spcPts val="0"/>
              </a:spcBef>
              <a:spcAft>
                <a:spcPts val="0"/>
              </a:spcAft>
              <a:buNone/>
            </a:pPr>
            <a:r>
              <a:rPr lang="en"/>
              <a:t>People who enjoy outdoor exploration</a:t>
            </a:r>
            <a:endParaRPr/>
          </a:p>
          <a:p>
            <a:pPr indent="0" lvl="0" marL="0" rtl="0" algn="l">
              <a:spcBef>
                <a:spcPts val="0"/>
              </a:spcBef>
              <a:spcAft>
                <a:spcPts val="0"/>
              </a:spcAft>
              <a:buNone/>
            </a:pPr>
            <a:r>
              <a:rPr lang="en"/>
              <a:t>People who benefit from low-pressure prompts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LEAVES OUT:</a:t>
            </a:r>
            <a:endParaRPr/>
          </a:p>
          <a:p>
            <a:pPr indent="0" lvl="0" marL="0" rtl="0" algn="l">
              <a:spcBef>
                <a:spcPts val="0"/>
              </a:spcBef>
              <a:spcAft>
                <a:spcPts val="0"/>
              </a:spcAft>
              <a:buNone/>
            </a:pPr>
            <a:r>
              <a:rPr lang="en"/>
              <a:t>People with limited mobility or outdoor access</a:t>
            </a:r>
            <a:endParaRPr/>
          </a:p>
          <a:p>
            <a:pPr indent="0" lvl="0" marL="0" rtl="0" algn="l">
              <a:spcBef>
                <a:spcPts val="0"/>
              </a:spcBef>
              <a:spcAft>
                <a:spcPts val="0"/>
              </a:spcAft>
              <a:buNone/>
            </a:pPr>
            <a:r>
              <a:rPr lang="en"/>
              <a:t>People without smartphones</a:t>
            </a:r>
            <a:endParaRPr/>
          </a:p>
          <a:p>
            <a:pPr indent="0" lvl="0" marL="0" rtl="0" algn="l">
              <a:spcBef>
                <a:spcPts val="0"/>
              </a:spcBef>
              <a:spcAft>
                <a:spcPts val="0"/>
              </a:spcAft>
              <a:buNone/>
            </a:pPr>
            <a:r>
              <a:rPr lang="en"/>
              <a:t>People uncomfortable with location sharing</a:t>
            </a:r>
            <a:endParaRPr/>
          </a:p>
          <a:p>
            <a:pPr indent="0" lvl="0" marL="0" rtl="0" algn="l">
              <a:spcBef>
                <a:spcPts val="0"/>
              </a:spcBef>
              <a:spcAft>
                <a:spcPts val="0"/>
              </a:spcAft>
              <a:buNone/>
            </a:pPr>
            <a:r>
              <a:rPr lang="en"/>
              <a:t>Crafters whose materials aren’t portable</a:t>
            </a:r>
            <a:endParaRPr/>
          </a:p>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h19eac8887cc3818d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3" name="Google Shape;1053;h19eac8887cc3818d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h19eac8887cc3818d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h19eac8887cc3818d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h19eac8887cc3818d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5" name="Google Shape;1065;h19eac8887cc3818d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h19eac8887cc3818d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1" name="Google Shape;1071;h19eac8887cc3818d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h19eac8887cc3818d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h19eac8887cc3818d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h1cb23a1a63a2ce5a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h1cb23a1a63a2ce5a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h1cb23a1a63a2ce5a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h1cb23a1a63a2ce5a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200">
                <a:latin typeface="Russo One"/>
                <a:ea typeface="Russo One"/>
                <a:cs typeface="Russo One"/>
                <a:sym typeface="Russo On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713225" y="3712464"/>
            <a:ext cx="2496300" cy="640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14"/>
          <p:cNvGrpSpPr/>
          <p:nvPr/>
        </p:nvGrpSpPr>
        <p:grpSpPr>
          <a:xfrm>
            <a:off x="280375" y="186925"/>
            <a:ext cx="8583300" cy="4769475"/>
            <a:chOff x="280375" y="186925"/>
            <a:chExt cx="8583300" cy="4769475"/>
          </a:xfrm>
        </p:grpSpPr>
        <p:grpSp>
          <p:nvGrpSpPr>
            <p:cNvPr id="57" name="Google Shape;57;p14"/>
            <p:cNvGrpSpPr/>
            <p:nvPr/>
          </p:nvGrpSpPr>
          <p:grpSpPr>
            <a:xfrm>
              <a:off x="5376450" y="186925"/>
              <a:ext cx="3487225" cy="186900"/>
              <a:chOff x="5376450" y="186925"/>
              <a:chExt cx="3487225" cy="186900"/>
            </a:xfrm>
          </p:grpSpPr>
          <p:sp>
            <p:nvSpPr>
              <p:cNvPr id="58" name="Google Shape;58;p14"/>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 name="Google Shape;59;p14"/>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 name="Google Shape;60;p14"/>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 name="Google Shape;61;p14"/>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 name="Google Shape;62;p14"/>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 name="Google Shape;63;p14"/>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 name="Google Shape;64;p14"/>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 name="Google Shape;65;p14"/>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 name="Google Shape;66;p14"/>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 name="Google Shape;67;p14"/>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68" name="Google Shape;68;p14"/>
            <p:cNvGrpSpPr/>
            <p:nvPr/>
          </p:nvGrpSpPr>
          <p:grpSpPr>
            <a:xfrm>
              <a:off x="280375" y="4769500"/>
              <a:ext cx="3487225" cy="186900"/>
              <a:chOff x="280375" y="4769500"/>
              <a:chExt cx="3487225" cy="186900"/>
            </a:xfrm>
          </p:grpSpPr>
          <p:sp>
            <p:nvSpPr>
              <p:cNvPr id="69" name="Google Shape;69;p14"/>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 name="Google Shape;70;p14"/>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 name="Google Shape;71;p14"/>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 name="Google Shape;72;p14"/>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3" name="Google Shape;73;p14"/>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4" name="Google Shape;74;p14"/>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5" name="Google Shape;75;p14"/>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6" name="Google Shape;76;p14"/>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 name="Google Shape;77;p14"/>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 name="Google Shape;78;p14"/>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15"/>
          <p:cNvSpPr txBox="1"/>
          <p:nvPr>
            <p:ph type="title"/>
          </p:nvPr>
        </p:nvSpPr>
        <p:spPr>
          <a:xfrm>
            <a:off x="4176338" y="2301363"/>
            <a:ext cx="3878100" cy="15165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1" name="Google Shape;81;p15"/>
          <p:cNvSpPr txBox="1"/>
          <p:nvPr>
            <p:ph hasCustomPrompt="1" idx="2" type="title"/>
          </p:nvPr>
        </p:nvSpPr>
        <p:spPr>
          <a:xfrm>
            <a:off x="6524674" y="1325463"/>
            <a:ext cx="1529700" cy="8418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60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2" name="Google Shape;82;p15"/>
          <p:cNvSpPr/>
          <p:nvPr>
            <p:ph idx="3" type="pic"/>
          </p:nvPr>
        </p:nvSpPr>
        <p:spPr>
          <a:xfrm>
            <a:off x="1089550" y="539913"/>
            <a:ext cx="2760600" cy="4063500"/>
          </a:xfrm>
          <a:prstGeom prst="rect">
            <a:avLst/>
          </a:prstGeom>
          <a:noFill/>
          <a:ln>
            <a:noFill/>
          </a:ln>
        </p:spPr>
      </p:sp>
      <p:grpSp>
        <p:nvGrpSpPr>
          <p:cNvPr id="83" name="Google Shape;83;p15"/>
          <p:cNvGrpSpPr/>
          <p:nvPr/>
        </p:nvGrpSpPr>
        <p:grpSpPr>
          <a:xfrm>
            <a:off x="280375" y="186925"/>
            <a:ext cx="8583300" cy="4769475"/>
            <a:chOff x="280375" y="186925"/>
            <a:chExt cx="8583300" cy="4769475"/>
          </a:xfrm>
        </p:grpSpPr>
        <p:grpSp>
          <p:nvGrpSpPr>
            <p:cNvPr id="84" name="Google Shape;84;p15"/>
            <p:cNvGrpSpPr/>
            <p:nvPr/>
          </p:nvGrpSpPr>
          <p:grpSpPr>
            <a:xfrm flipH="1" rot="10800000">
              <a:off x="5376450" y="4769500"/>
              <a:ext cx="3487225" cy="186900"/>
              <a:chOff x="5376450" y="186925"/>
              <a:chExt cx="3487225" cy="186900"/>
            </a:xfrm>
          </p:grpSpPr>
          <p:sp>
            <p:nvSpPr>
              <p:cNvPr id="85" name="Google Shape;85;p15"/>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6" name="Google Shape;86;p15"/>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7" name="Google Shape;87;p15"/>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8" name="Google Shape;88;p15"/>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 name="Google Shape;89;p15"/>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 name="Google Shape;90;p15"/>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 name="Google Shape;91;p15"/>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 name="Google Shape;92;p15"/>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3" name="Google Shape;93;p15"/>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4" name="Google Shape;94;p15"/>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95" name="Google Shape;95;p15"/>
            <p:cNvGrpSpPr/>
            <p:nvPr/>
          </p:nvGrpSpPr>
          <p:grpSpPr>
            <a:xfrm flipH="1" rot="10800000">
              <a:off x="280375" y="186925"/>
              <a:ext cx="3487225" cy="186900"/>
              <a:chOff x="280375" y="4769500"/>
              <a:chExt cx="3487225" cy="186900"/>
            </a:xfrm>
          </p:grpSpPr>
          <p:sp>
            <p:nvSpPr>
              <p:cNvPr id="96" name="Google Shape;96;p15"/>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7" name="Google Shape;97;p15"/>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8" name="Google Shape;98;p15"/>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9" name="Google Shape;99;p15"/>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0" name="Google Shape;100;p15"/>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1" name="Google Shape;101;p1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2" name="Google Shape;102;p1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3" name="Google Shape;103;p15"/>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4" name="Google Shape;104;p15"/>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5" name="Google Shape;105;p15"/>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08" name="Google Shape;108;p1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09" name="Google Shape;109;p16"/>
          <p:cNvGrpSpPr/>
          <p:nvPr/>
        </p:nvGrpSpPr>
        <p:grpSpPr>
          <a:xfrm rot="10800000">
            <a:off x="280375" y="186925"/>
            <a:ext cx="8583300" cy="4769475"/>
            <a:chOff x="280375" y="186925"/>
            <a:chExt cx="8583300" cy="4769475"/>
          </a:xfrm>
        </p:grpSpPr>
        <p:sp>
          <p:nvSpPr>
            <p:cNvPr id="110" name="Google Shape;110;p16"/>
            <p:cNvSpPr/>
            <p:nvPr/>
          </p:nvSpPr>
          <p:spPr>
            <a:xfrm flipH="1">
              <a:off x="280375"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1" name="Google Shape;111;p16"/>
            <p:cNvSpPr/>
            <p:nvPr/>
          </p:nvSpPr>
          <p:spPr>
            <a:xfrm>
              <a:off x="86767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2" name="Google Shape;112;p16"/>
            <p:cNvSpPr/>
            <p:nvPr/>
          </p:nvSpPr>
          <p:spPr>
            <a:xfrm flipH="1">
              <a:off x="6474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3" name="Google Shape;113;p16"/>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17"/>
          <p:cNvSpPr txBox="1"/>
          <p:nvPr>
            <p:ph type="title"/>
          </p:nvPr>
        </p:nvSpPr>
        <p:spPr>
          <a:xfrm>
            <a:off x="722376" y="448056"/>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16" name="Google Shape;116;p17"/>
          <p:cNvSpPr txBox="1"/>
          <p:nvPr>
            <p:ph idx="1" type="subTitle"/>
          </p:nvPr>
        </p:nvSpPr>
        <p:spPr>
          <a:xfrm>
            <a:off x="5075649" y="2650349"/>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7" name="Google Shape;117;p17"/>
          <p:cNvSpPr txBox="1"/>
          <p:nvPr>
            <p:ph idx="2" type="subTitle"/>
          </p:nvPr>
        </p:nvSpPr>
        <p:spPr>
          <a:xfrm>
            <a:off x="1334375" y="2650349"/>
            <a:ext cx="2505600" cy="175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17"/>
          <p:cNvSpPr txBox="1"/>
          <p:nvPr>
            <p:ph idx="3" type="subTitle"/>
          </p:nvPr>
        </p:nvSpPr>
        <p:spPr>
          <a:xfrm>
            <a:off x="1334375" y="2152890"/>
            <a:ext cx="2505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9" name="Google Shape;119;p17"/>
          <p:cNvSpPr txBox="1"/>
          <p:nvPr>
            <p:ph idx="4" type="subTitle"/>
          </p:nvPr>
        </p:nvSpPr>
        <p:spPr>
          <a:xfrm>
            <a:off x="5075650" y="2152890"/>
            <a:ext cx="2505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0" name="Shape 120"/>
        <p:cNvGrpSpPr/>
        <p:nvPr/>
      </p:nvGrpSpPr>
      <p:grpSpPr>
        <a:xfrm>
          <a:off x="0" y="0"/>
          <a:ext cx="0" cy="0"/>
          <a:chOff x="0" y="0"/>
          <a:chExt cx="0" cy="0"/>
        </a:xfrm>
      </p:grpSpPr>
      <p:sp>
        <p:nvSpPr>
          <p:cNvPr id="121" name="Google Shape;121;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grpSp>
        <p:nvGrpSpPr>
          <p:cNvPr id="122" name="Google Shape;122;p18"/>
          <p:cNvGrpSpPr/>
          <p:nvPr/>
        </p:nvGrpSpPr>
        <p:grpSpPr>
          <a:xfrm>
            <a:off x="280375" y="186925"/>
            <a:ext cx="8583300" cy="4769475"/>
            <a:chOff x="280375" y="186925"/>
            <a:chExt cx="8583300" cy="4769475"/>
          </a:xfrm>
        </p:grpSpPr>
        <p:sp>
          <p:nvSpPr>
            <p:cNvPr id="123" name="Google Shape;123;p18"/>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4" name="Google Shape;124;p18"/>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5" name="Shape 125"/>
        <p:cNvGrpSpPr/>
        <p:nvPr/>
      </p:nvGrpSpPr>
      <p:grpSpPr>
        <a:xfrm>
          <a:off x="0" y="0"/>
          <a:ext cx="0" cy="0"/>
          <a:chOff x="0" y="0"/>
          <a:chExt cx="0" cy="0"/>
        </a:xfrm>
      </p:grpSpPr>
      <p:sp>
        <p:nvSpPr>
          <p:cNvPr id="126" name="Google Shape;126;p19"/>
          <p:cNvSpPr txBox="1"/>
          <p:nvPr>
            <p:ph type="title"/>
          </p:nvPr>
        </p:nvSpPr>
        <p:spPr>
          <a:xfrm>
            <a:off x="936638" y="1383750"/>
            <a:ext cx="37503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27" name="Google Shape;127;p19"/>
          <p:cNvSpPr txBox="1"/>
          <p:nvPr>
            <p:ph idx="1" type="subTitle"/>
          </p:nvPr>
        </p:nvSpPr>
        <p:spPr>
          <a:xfrm>
            <a:off x="936638" y="1956450"/>
            <a:ext cx="3750300" cy="180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Epilogue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1600"/>
              </a:spcBef>
              <a:spcAft>
                <a:spcPts val="0"/>
              </a:spcAft>
              <a:buClr>
                <a:srgbClr val="E76A28"/>
              </a:buClr>
              <a:buSzPts val="1200"/>
              <a:buFont typeface="Nunito Light"/>
              <a:buChar char="■"/>
              <a:defRPr/>
            </a:lvl3pPr>
            <a:lvl4pPr lvl="3" rtl="0" algn="ctr">
              <a:lnSpc>
                <a:spcPct val="100000"/>
              </a:lnSpc>
              <a:spcBef>
                <a:spcPts val="1600"/>
              </a:spcBef>
              <a:spcAft>
                <a:spcPts val="0"/>
              </a:spcAft>
              <a:buClr>
                <a:srgbClr val="E76A28"/>
              </a:buClr>
              <a:buSzPts val="1200"/>
              <a:buFont typeface="Nunito Light"/>
              <a:buChar char="●"/>
              <a:defRPr/>
            </a:lvl4pPr>
            <a:lvl5pPr lvl="4" rtl="0" algn="ctr">
              <a:lnSpc>
                <a:spcPct val="100000"/>
              </a:lnSpc>
              <a:spcBef>
                <a:spcPts val="1600"/>
              </a:spcBef>
              <a:spcAft>
                <a:spcPts val="0"/>
              </a:spcAft>
              <a:buClr>
                <a:srgbClr val="E76A28"/>
              </a:buClr>
              <a:buSzPts val="1200"/>
              <a:buFont typeface="Nunito Light"/>
              <a:buChar char="○"/>
              <a:defRPr/>
            </a:lvl5pPr>
            <a:lvl6pPr lvl="5" rtl="0" algn="ctr">
              <a:lnSpc>
                <a:spcPct val="100000"/>
              </a:lnSpc>
              <a:spcBef>
                <a:spcPts val="1600"/>
              </a:spcBef>
              <a:spcAft>
                <a:spcPts val="0"/>
              </a:spcAft>
              <a:buClr>
                <a:srgbClr val="999999"/>
              </a:buClr>
              <a:buSzPts val="1200"/>
              <a:buFont typeface="Nunito Light"/>
              <a:buChar char="■"/>
              <a:defRPr/>
            </a:lvl6pPr>
            <a:lvl7pPr lvl="6" rtl="0" algn="ctr">
              <a:lnSpc>
                <a:spcPct val="100000"/>
              </a:lnSpc>
              <a:spcBef>
                <a:spcPts val="1600"/>
              </a:spcBef>
              <a:spcAft>
                <a:spcPts val="0"/>
              </a:spcAft>
              <a:buClr>
                <a:srgbClr val="999999"/>
              </a:buClr>
              <a:buSzPts val="1200"/>
              <a:buFont typeface="Nunito Light"/>
              <a:buChar char="●"/>
              <a:defRPr/>
            </a:lvl7pPr>
            <a:lvl8pPr lvl="7" rtl="0" algn="ctr">
              <a:lnSpc>
                <a:spcPct val="100000"/>
              </a:lnSpc>
              <a:spcBef>
                <a:spcPts val="1600"/>
              </a:spcBef>
              <a:spcAft>
                <a:spcPts val="0"/>
              </a:spcAft>
              <a:buClr>
                <a:srgbClr val="999999"/>
              </a:buClr>
              <a:buSzPts val="1200"/>
              <a:buFont typeface="Nunito Light"/>
              <a:buChar char="○"/>
              <a:defRPr/>
            </a:lvl8pPr>
            <a:lvl9pPr lvl="8" rtl="0" algn="ctr">
              <a:lnSpc>
                <a:spcPct val="100000"/>
              </a:lnSpc>
              <a:spcBef>
                <a:spcPts val="1600"/>
              </a:spcBef>
              <a:spcAft>
                <a:spcPts val="1600"/>
              </a:spcAft>
              <a:buClr>
                <a:srgbClr val="999999"/>
              </a:buClr>
              <a:buSzPts val="1200"/>
              <a:buFont typeface="Nunito Light"/>
              <a:buChar char="■"/>
              <a:defRPr/>
            </a:lvl9pPr>
          </a:lstStyle>
          <a:p/>
        </p:txBody>
      </p:sp>
      <p:sp>
        <p:nvSpPr>
          <p:cNvPr id="128" name="Google Shape;128;p19"/>
          <p:cNvSpPr/>
          <p:nvPr>
            <p:ph idx="2" type="pic"/>
          </p:nvPr>
        </p:nvSpPr>
        <p:spPr>
          <a:xfrm>
            <a:off x="5093776" y="540000"/>
            <a:ext cx="3113700" cy="4063500"/>
          </a:xfrm>
          <a:prstGeom prst="rect">
            <a:avLst/>
          </a:prstGeom>
          <a:noFill/>
          <a:ln>
            <a:noFill/>
          </a:ln>
        </p:spPr>
      </p:sp>
      <p:grpSp>
        <p:nvGrpSpPr>
          <p:cNvPr id="129" name="Google Shape;129;p19"/>
          <p:cNvGrpSpPr/>
          <p:nvPr/>
        </p:nvGrpSpPr>
        <p:grpSpPr>
          <a:xfrm>
            <a:off x="280375" y="186925"/>
            <a:ext cx="8583300" cy="4769475"/>
            <a:chOff x="280375" y="186925"/>
            <a:chExt cx="8583300" cy="4769475"/>
          </a:xfrm>
        </p:grpSpPr>
        <p:sp>
          <p:nvSpPr>
            <p:cNvPr id="130" name="Google Shape;130;p19"/>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1" name="Google Shape;131;p19"/>
            <p:cNvSpPr/>
            <p:nvPr/>
          </p:nvSpPr>
          <p:spPr>
            <a:xfrm>
              <a:off x="86767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2" name="Google Shape;132;p19"/>
            <p:cNvSpPr/>
            <p:nvPr/>
          </p:nvSpPr>
          <p:spPr>
            <a:xfrm flipH="1">
              <a:off x="647400"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 name="Google Shape;133;p19"/>
            <p:cNvSpPr/>
            <p:nvPr/>
          </p:nvSpPr>
          <p:spPr>
            <a:xfrm>
              <a:off x="83029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20"/>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36" name="Google Shape;136;p20"/>
          <p:cNvGrpSpPr/>
          <p:nvPr/>
        </p:nvGrpSpPr>
        <p:grpSpPr>
          <a:xfrm rot="10800000">
            <a:off x="280300" y="186475"/>
            <a:ext cx="8584028" cy="4769800"/>
            <a:chOff x="280300" y="186475"/>
            <a:chExt cx="8584028" cy="4769800"/>
          </a:xfrm>
        </p:grpSpPr>
        <p:grpSp>
          <p:nvGrpSpPr>
            <p:cNvPr id="137" name="Google Shape;137;p20"/>
            <p:cNvGrpSpPr/>
            <p:nvPr/>
          </p:nvGrpSpPr>
          <p:grpSpPr>
            <a:xfrm flipH="1">
              <a:off x="280300" y="186475"/>
              <a:ext cx="553603" cy="186900"/>
              <a:chOff x="3213997" y="4769500"/>
              <a:chExt cx="553603" cy="186900"/>
            </a:xfrm>
          </p:grpSpPr>
          <p:sp>
            <p:nvSpPr>
              <p:cNvPr id="138" name="Google Shape;138;p20"/>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9" name="Google Shape;139;p20"/>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40" name="Google Shape;140;p20"/>
            <p:cNvGrpSpPr/>
            <p:nvPr/>
          </p:nvGrpSpPr>
          <p:grpSpPr>
            <a:xfrm>
              <a:off x="7556832" y="4769375"/>
              <a:ext cx="1307496" cy="186900"/>
              <a:chOff x="7556832" y="4769375"/>
              <a:chExt cx="1307496" cy="186900"/>
            </a:xfrm>
          </p:grpSpPr>
          <p:sp>
            <p:nvSpPr>
              <p:cNvPr id="141" name="Google Shape;141;p20"/>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2" name="Google Shape;142;p20"/>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3" name="Google Shape;143;p20"/>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4" name="Google Shape;144;p20"/>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5" name="Shape 145"/>
        <p:cNvGrpSpPr/>
        <p:nvPr/>
      </p:nvGrpSpPr>
      <p:grpSpPr>
        <a:xfrm>
          <a:off x="0" y="0"/>
          <a:ext cx="0" cy="0"/>
          <a:chOff x="0" y="0"/>
          <a:chExt cx="0" cy="0"/>
        </a:xfrm>
      </p:grpSpPr>
      <p:sp>
        <p:nvSpPr>
          <p:cNvPr id="146" name="Google Shape;146;p21"/>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300"/>
              <a:buNone/>
              <a:defRPr sz="15000"/>
            </a:lvl1pPr>
            <a:lvl2pPr lvl="1" rtl="0" algn="ctr">
              <a:spcBef>
                <a:spcPts val="0"/>
              </a:spcBef>
              <a:spcAft>
                <a:spcPts val="0"/>
              </a:spcAft>
              <a:buSzPts val="2300"/>
              <a:buNone/>
              <a:defRPr/>
            </a:lvl2pPr>
            <a:lvl3pPr lvl="2" rtl="0" algn="ctr">
              <a:spcBef>
                <a:spcPts val="0"/>
              </a:spcBef>
              <a:spcAft>
                <a:spcPts val="0"/>
              </a:spcAft>
              <a:buSzPts val="2300"/>
              <a:buNone/>
              <a:defRPr/>
            </a:lvl3pPr>
            <a:lvl4pPr lvl="3" rtl="0" algn="ctr">
              <a:spcBef>
                <a:spcPts val="0"/>
              </a:spcBef>
              <a:spcAft>
                <a:spcPts val="0"/>
              </a:spcAft>
              <a:buSzPts val="2300"/>
              <a:buNone/>
              <a:defRPr/>
            </a:lvl4pPr>
            <a:lvl5pPr lvl="4" rtl="0" algn="ctr">
              <a:spcBef>
                <a:spcPts val="0"/>
              </a:spcBef>
              <a:spcAft>
                <a:spcPts val="0"/>
              </a:spcAft>
              <a:buSzPts val="2300"/>
              <a:buNone/>
              <a:defRPr/>
            </a:lvl5pPr>
            <a:lvl6pPr lvl="5" rtl="0" algn="ctr">
              <a:spcBef>
                <a:spcPts val="0"/>
              </a:spcBef>
              <a:spcAft>
                <a:spcPts val="0"/>
              </a:spcAft>
              <a:buSzPts val="2300"/>
              <a:buNone/>
              <a:defRPr/>
            </a:lvl6pPr>
            <a:lvl7pPr lvl="6" rtl="0" algn="ctr">
              <a:spcBef>
                <a:spcPts val="0"/>
              </a:spcBef>
              <a:spcAft>
                <a:spcPts val="0"/>
              </a:spcAft>
              <a:buSzPts val="2300"/>
              <a:buNone/>
              <a:defRPr/>
            </a:lvl7pPr>
            <a:lvl8pPr lvl="7" rtl="0" algn="ctr">
              <a:spcBef>
                <a:spcPts val="0"/>
              </a:spcBef>
              <a:spcAft>
                <a:spcPts val="0"/>
              </a:spcAft>
              <a:buSzPts val="2300"/>
              <a:buNone/>
              <a:defRPr/>
            </a:lvl8pPr>
            <a:lvl9pPr lvl="8" rtl="0" algn="ctr">
              <a:spcBef>
                <a:spcPts val="0"/>
              </a:spcBef>
              <a:spcAft>
                <a:spcPts val="0"/>
              </a:spcAft>
              <a:buSzPts val="2300"/>
              <a:buNone/>
              <a:defRPr/>
            </a:lvl9pPr>
          </a:lstStyle>
          <a:p/>
        </p:txBody>
      </p:sp>
      <p:sp>
        <p:nvSpPr>
          <p:cNvPr id="147" name="Google Shape;147;p21"/>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grpSp>
        <p:nvGrpSpPr>
          <p:cNvPr id="148" name="Google Shape;148;p21"/>
          <p:cNvGrpSpPr/>
          <p:nvPr/>
        </p:nvGrpSpPr>
        <p:grpSpPr>
          <a:xfrm flipH="1" rot="10800000">
            <a:off x="280300" y="186475"/>
            <a:ext cx="8584028" cy="4769800"/>
            <a:chOff x="280300" y="186475"/>
            <a:chExt cx="8584028" cy="4769800"/>
          </a:xfrm>
        </p:grpSpPr>
        <p:grpSp>
          <p:nvGrpSpPr>
            <p:cNvPr id="149" name="Google Shape;149;p21"/>
            <p:cNvGrpSpPr/>
            <p:nvPr/>
          </p:nvGrpSpPr>
          <p:grpSpPr>
            <a:xfrm flipH="1">
              <a:off x="280300" y="186475"/>
              <a:ext cx="553603" cy="186900"/>
              <a:chOff x="3213997" y="4769500"/>
              <a:chExt cx="553603" cy="186900"/>
            </a:xfrm>
          </p:grpSpPr>
          <p:sp>
            <p:nvSpPr>
              <p:cNvPr id="150" name="Google Shape;150;p21"/>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1" name="Google Shape;151;p21"/>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52" name="Google Shape;152;p21"/>
            <p:cNvGrpSpPr/>
            <p:nvPr/>
          </p:nvGrpSpPr>
          <p:grpSpPr>
            <a:xfrm>
              <a:off x="7556832" y="4769375"/>
              <a:ext cx="1307496" cy="186900"/>
              <a:chOff x="7556832" y="4769375"/>
              <a:chExt cx="1307496" cy="186900"/>
            </a:xfrm>
          </p:grpSpPr>
          <p:sp>
            <p:nvSpPr>
              <p:cNvPr id="153" name="Google Shape;153;p21"/>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4" name="Google Shape;154;p21"/>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5" name="Google Shape;155;p21"/>
              <p:cNvSpPr/>
              <p:nvPr/>
            </p:nvSpPr>
            <p:spPr>
              <a:xfrm>
                <a:off x="7556832"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6" name="Google Shape;156;p21"/>
              <p:cNvSpPr/>
              <p:nvPr/>
            </p:nvSpPr>
            <p:spPr>
              <a:xfrm>
                <a:off x="7925697" y="4769375"/>
                <a:ext cx="186900" cy="186900"/>
              </a:xfrm>
              <a:prstGeom prst="ellipse">
                <a:avLst/>
              </a:prstGeom>
              <a:solidFill>
                <a:srgbClr val="E0E0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7" name="Shape 157"/>
        <p:cNvGrpSpPr/>
        <p:nvPr/>
      </p:nvGrpSpPr>
      <p:grpSpPr>
        <a:xfrm>
          <a:off x="0" y="0"/>
          <a:ext cx="0" cy="0"/>
          <a:chOff x="0" y="0"/>
          <a:chExt cx="0" cy="0"/>
        </a:xfrm>
      </p:grpSpPr>
      <p:sp>
        <p:nvSpPr>
          <p:cNvPr id="158" name="Google Shape;158;p22"/>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2300"/>
              <a:buNone/>
              <a:defRPr>
                <a:solidFill>
                  <a:schemeClr val="lt1"/>
                </a:solidFill>
              </a:defRPr>
            </a:lvl1pPr>
            <a:lvl2pPr lvl="1" rtl="0" algn="ctr">
              <a:spcBef>
                <a:spcPts val="0"/>
              </a:spcBef>
              <a:spcAft>
                <a:spcPts val="0"/>
              </a:spcAft>
              <a:buSzPts val="2300"/>
              <a:buNone/>
              <a:defRPr/>
            </a:lvl2pPr>
            <a:lvl3pPr lvl="2" rtl="0" algn="ctr">
              <a:spcBef>
                <a:spcPts val="0"/>
              </a:spcBef>
              <a:spcAft>
                <a:spcPts val="0"/>
              </a:spcAft>
              <a:buSzPts val="2300"/>
              <a:buNone/>
              <a:defRPr/>
            </a:lvl3pPr>
            <a:lvl4pPr lvl="3" rtl="0" algn="ctr">
              <a:spcBef>
                <a:spcPts val="0"/>
              </a:spcBef>
              <a:spcAft>
                <a:spcPts val="0"/>
              </a:spcAft>
              <a:buSzPts val="2300"/>
              <a:buNone/>
              <a:defRPr/>
            </a:lvl4pPr>
            <a:lvl5pPr lvl="4" rtl="0" algn="ctr">
              <a:spcBef>
                <a:spcPts val="0"/>
              </a:spcBef>
              <a:spcAft>
                <a:spcPts val="0"/>
              </a:spcAft>
              <a:buSzPts val="2300"/>
              <a:buNone/>
              <a:defRPr/>
            </a:lvl5pPr>
            <a:lvl6pPr lvl="5" rtl="0" algn="ctr">
              <a:spcBef>
                <a:spcPts val="0"/>
              </a:spcBef>
              <a:spcAft>
                <a:spcPts val="0"/>
              </a:spcAft>
              <a:buSzPts val="2300"/>
              <a:buNone/>
              <a:defRPr/>
            </a:lvl6pPr>
            <a:lvl7pPr lvl="6" rtl="0" algn="ctr">
              <a:spcBef>
                <a:spcPts val="0"/>
              </a:spcBef>
              <a:spcAft>
                <a:spcPts val="0"/>
              </a:spcAft>
              <a:buSzPts val="2300"/>
              <a:buNone/>
              <a:defRPr/>
            </a:lvl7pPr>
            <a:lvl8pPr lvl="7" rtl="0" algn="ctr">
              <a:spcBef>
                <a:spcPts val="0"/>
              </a:spcBef>
              <a:spcAft>
                <a:spcPts val="0"/>
              </a:spcAft>
              <a:buSzPts val="2300"/>
              <a:buNone/>
              <a:defRPr/>
            </a:lvl8pPr>
            <a:lvl9pPr lvl="8" rtl="0" algn="ctr">
              <a:spcBef>
                <a:spcPts val="0"/>
              </a:spcBef>
              <a:spcAft>
                <a:spcPts val="0"/>
              </a:spcAft>
              <a:buSzPts val="23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9" name="Shape 159"/>
        <p:cNvGrpSpPr/>
        <p:nvPr/>
      </p:nvGrpSpPr>
      <p:grpSpPr>
        <a:xfrm>
          <a:off x="0" y="0"/>
          <a:ext cx="0" cy="0"/>
          <a:chOff x="0" y="0"/>
          <a:chExt cx="0" cy="0"/>
        </a:xfrm>
      </p:grpSpPr>
      <p:sp>
        <p:nvSpPr>
          <p:cNvPr id="160" name="Google Shape;160;p23"/>
          <p:cNvSpPr txBox="1"/>
          <p:nvPr>
            <p:ph hasCustomPrompt="1" type="title"/>
          </p:nvPr>
        </p:nvSpPr>
        <p:spPr>
          <a:xfrm>
            <a:off x="713225" y="1795525"/>
            <a:ext cx="6693900" cy="10551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accent6"/>
                </a:solidFill>
                <a:latin typeface="Lexend Mega Light"/>
                <a:ea typeface="Lexend Mega Light"/>
                <a:cs typeface="Lexend Mega Light"/>
                <a:sym typeface="Lexend Mega Light"/>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61" name="Google Shape;161;p23"/>
          <p:cNvSpPr txBox="1"/>
          <p:nvPr>
            <p:ph idx="1" type="subTitle"/>
          </p:nvPr>
        </p:nvSpPr>
        <p:spPr>
          <a:xfrm>
            <a:off x="713225" y="2850875"/>
            <a:ext cx="66939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162" name="Google Shape;162;p23"/>
          <p:cNvGrpSpPr/>
          <p:nvPr/>
        </p:nvGrpSpPr>
        <p:grpSpPr>
          <a:xfrm flipH="1">
            <a:off x="280375" y="186925"/>
            <a:ext cx="8583300" cy="4769475"/>
            <a:chOff x="280375" y="186925"/>
            <a:chExt cx="8583300" cy="4769475"/>
          </a:xfrm>
        </p:grpSpPr>
        <p:sp>
          <p:nvSpPr>
            <p:cNvPr id="163" name="Google Shape;163;p23"/>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4" name="Google Shape;164;p23"/>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5" name="Google Shape;165;p23"/>
            <p:cNvSpPr/>
            <p:nvPr/>
          </p:nvSpPr>
          <p:spPr>
            <a:xfrm flipH="1">
              <a:off x="647400"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6" name="Google Shape;166;p23"/>
            <p:cNvSpPr/>
            <p:nvPr/>
          </p:nvSpPr>
          <p:spPr>
            <a:xfrm>
              <a:off x="8302975"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7" name="Shape 16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68" name="Shape 168"/>
        <p:cNvGrpSpPr/>
        <p:nvPr/>
      </p:nvGrpSpPr>
      <p:grpSpPr>
        <a:xfrm>
          <a:off x="0" y="0"/>
          <a:ext cx="0" cy="0"/>
          <a:chOff x="0" y="0"/>
          <a:chExt cx="0" cy="0"/>
        </a:xfrm>
      </p:grpSpPr>
      <p:sp>
        <p:nvSpPr>
          <p:cNvPr id="169" name="Google Shape;169;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170" name="Google Shape;170;p25"/>
          <p:cNvSpPr txBox="1"/>
          <p:nvPr>
            <p:ph hasCustomPrompt="1" idx="2" type="title"/>
          </p:nvPr>
        </p:nvSpPr>
        <p:spPr>
          <a:xfrm>
            <a:off x="713232"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1" name="Google Shape;171;p25"/>
          <p:cNvSpPr txBox="1"/>
          <p:nvPr>
            <p:ph hasCustomPrompt="1" idx="3" type="title"/>
          </p:nvPr>
        </p:nvSpPr>
        <p:spPr>
          <a:xfrm>
            <a:off x="713232"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2" name="Google Shape;172;p25"/>
          <p:cNvSpPr txBox="1"/>
          <p:nvPr>
            <p:ph hasCustomPrompt="1" idx="4" type="title"/>
          </p:nvPr>
        </p:nvSpPr>
        <p:spPr>
          <a:xfrm>
            <a:off x="3474720"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3" name="Google Shape;173;p25"/>
          <p:cNvSpPr txBox="1"/>
          <p:nvPr>
            <p:ph hasCustomPrompt="1" idx="5" type="title"/>
          </p:nvPr>
        </p:nvSpPr>
        <p:spPr>
          <a:xfrm>
            <a:off x="3474720"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4" name="Google Shape;174;p25"/>
          <p:cNvSpPr txBox="1"/>
          <p:nvPr>
            <p:ph hasCustomPrompt="1" idx="6" type="title"/>
          </p:nvPr>
        </p:nvSpPr>
        <p:spPr>
          <a:xfrm>
            <a:off x="6227064" y="1557083"/>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5" name="Google Shape;175;p25"/>
          <p:cNvSpPr txBox="1"/>
          <p:nvPr>
            <p:ph hasCustomPrompt="1" idx="7" type="title"/>
          </p:nvPr>
        </p:nvSpPr>
        <p:spPr>
          <a:xfrm>
            <a:off x="6227064" y="3142891"/>
            <a:ext cx="1079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accent6"/>
                </a:solidFill>
                <a:latin typeface="Lexend Mega Light"/>
                <a:ea typeface="Lexend Mega Light"/>
                <a:cs typeface="Lexend Mega Light"/>
                <a:sym typeface="Lexend Mega 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76" name="Google Shape;176;p25"/>
          <p:cNvSpPr txBox="1"/>
          <p:nvPr>
            <p:ph idx="1" type="subTitle"/>
          </p:nvPr>
        </p:nvSpPr>
        <p:spPr>
          <a:xfrm>
            <a:off x="713232"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7" name="Google Shape;177;p25"/>
          <p:cNvSpPr txBox="1"/>
          <p:nvPr>
            <p:ph idx="8" type="subTitle"/>
          </p:nvPr>
        </p:nvSpPr>
        <p:spPr>
          <a:xfrm>
            <a:off x="3474720"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8" name="Google Shape;178;p25"/>
          <p:cNvSpPr txBox="1"/>
          <p:nvPr>
            <p:ph idx="9" type="subTitle"/>
          </p:nvPr>
        </p:nvSpPr>
        <p:spPr>
          <a:xfrm>
            <a:off x="6227064" y="1928775"/>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9" name="Google Shape;179;p25"/>
          <p:cNvSpPr txBox="1"/>
          <p:nvPr>
            <p:ph idx="13" type="subTitle"/>
          </p:nvPr>
        </p:nvSpPr>
        <p:spPr>
          <a:xfrm>
            <a:off x="713232"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0" name="Google Shape;180;p25"/>
          <p:cNvSpPr txBox="1"/>
          <p:nvPr>
            <p:ph idx="14" type="subTitle"/>
          </p:nvPr>
        </p:nvSpPr>
        <p:spPr>
          <a:xfrm>
            <a:off x="3474720"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1" name="Google Shape;181;p25"/>
          <p:cNvSpPr txBox="1"/>
          <p:nvPr>
            <p:ph idx="15" type="subTitle"/>
          </p:nvPr>
        </p:nvSpPr>
        <p:spPr>
          <a:xfrm>
            <a:off x="6227064" y="3514650"/>
            <a:ext cx="2194500" cy="39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82" name="Google Shape;182;p25"/>
          <p:cNvGrpSpPr/>
          <p:nvPr/>
        </p:nvGrpSpPr>
        <p:grpSpPr>
          <a:xfrm>
            <a:off x="280300" y="186475"/>
            <a:ext cx="8584028" cy="4769800"/>
            <a:chOff x="280300" y="186475"/>
            <a:chExt cx="8584028" cy="4769800"/>
          </a:xfrm>
        </p:grpSpPr>
        <p:grpSp>
          <p:nvGrpSpPr>
            <p:cNvPr id="183" name="Google Shape;183;p25"/>
            <p:cNvGrpSpPr/>
            <p:nvPr/>
          </p:nvGrpSpPr>
          <p:grpSpPr>
            <a:xfrm>
              <a:off x="280300" y="186475"/>
              <a:ext cx="1297219" cy="186900"/>
              <a:chOff x="280300" y="186475"/>
              <a:chExt cx="1297219" cy="186900"/>
            </a:xfrm>
          </p:grpSpPr>
          <p:grpSp>
            <p:nvGrpSpPr>
              <p:cNvPr id="184" name="Google Shape;184;p25"/>
              <p:cNvGrpSpPr/>
              <p:nvPr/>
            </p:nvGrpSpPr>
            <p:grpSpPr>
              <a:xfrm flipH="1">
                <a:off x="280300" y="186475"/>
                <a:ext cx="553603" cy="186900"/>
                <a:chOff x="3213997" y="4769500"/>
                <a:chExt cx="553603" cy="186900"/>
              </a:xfrm>
            </p:grpSpPr>
            <p:sp>
              <p:nvSpPr>
                <p:cNvPr id="185" name="Google Shape;185;p25"/>
                <p:cNvSpPr/>
                <p:nvPr/>
              </p:nvSpPr>
              <p:spPr>
                <a:xfrm flipH="1">
                  <a:off x="3580700"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6" name="Google Shape;186;p25"/>
                <p:cNvSpPr/>
                <p:nvPr/>
              </p:nvSpPr>
              <p:spPr>
                <a:xfrm flipH="1">
                  <a:off x="3213997"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187" name="Google Shape;187;p25"/>
              <p:cNvGrpSpPr/>
              <p:nvPr/>
            </p:nvGrpSpPr>
            <p:grpSpPr>
              <a:xfrm flipH="1">
                <a:off x="1023916" y="186475"/>
                <a:ext cx="553603" cy="186900"/>
                <a:chOff x="3213997" y="4769500"/>
                <a:chExt cx="553603" cy="186900"/>
              </a:xfrm>
            </p:grpSpPr>
            <p:sp>
              <p:nvSpPr>
                <p:cNvPr id="188" name="Google Shape;188;p25"/>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9" name="Google Shape;189;p25"/>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190" name="Google Shape;190;p25"/>
            <p:cNvGrpSpPr/>
            <p:nvPr/>
          </p:nvGrpSpPr>
          <p:grpSpPr>
            <a:xfrm>
              <a:off x="7556832" y="4769375"/>
              <a:ext cx="1307496" cy="186900"/>
              <a:chOff x="7556832" y="4769375"/>
              <a:chExt cx="1307496" cy="186900"/>
            </a:xfrm>
          </p:grpSpPr>
          <p:sp>
            <p:nvSpPr>
              <p:cNvPr id="191" name="Google Shape;191;p25"/>
              <p:cNvSpPr/>
              <p:nvPr/>
            </p:nvSpPr>
            <p:spPr>
              <a:xfrm>
                <a:off x="8310725"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2" name="Google Shape;192;p25"/>
              <p:cNvSpPr/>
              <p:nvPr/>
            </p:nvSpPr>
            <p:spPr>
              <a:xfrm>
                <a:off x="8677428" y="476937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3" name="Google Shape;193;p25"/>
              <p:cNvSpPr/>
              <p:nvPr/>
            </p:nvSpPr>
            <p:spPr>
              <a:xfrm>
                <a:off x="7556832"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4" name="Google Shape;194;p25"/>
              <p:cNvSpPr/>
              <p:nvPr/>
            </p:nvSpPr>
            <p:spPr>
              <a:xfrm>
                <a:off x="7925697"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95" name="Shape 195"/>
        <p:cNvGrpSpPr/>
        <p:nvPr/>
      </p:nvGrpSpPr>
      <p:grpSpPr>
        <a:xfrm>
          <a:off x="0" y="0"/>
          <a:ext cx="0" cy="0"/>
          <a:chOff x="0" y="0"/>
          <a:chExt cx="0" cy="0"/>
        </a:xfrm>
      </p:grpSpPr>
      <p:sp>
        <p:nvSpPr>
          <p:cNvPr id="196" name="Google Shape;196;p26"/>
          <p:cNvSpPr txBox="1"/>
          <p:nvPr>
            <p:ph type="title"/>
          </p:nvPr>
        </p:nvSpPr>
        <p:spPr>
          <a:xfrm>
            <a:off x="2273075" y="3134550"/>
            <a:ext cx="45978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97" name="Google Shape;197;p26"/>
          <p:cNvSpPr txBox="1"/>
          <p:nvPr>
            <p:ph idx="1" type="subTitle"/>
          </p:nvPr>
        </p:nvSpPr>
        <p:spPr>
          <a:xfrm>
            <a:off x="2273125" y="1477050"/>
            <a:ext cx="4597800" cy="16230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24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198" name="Google Shape;198;p26"/>
          <p:cNvGrpSpPr/>
          <p:nvPr/>
        </p:nvGrpSpPr>
        <p:grpSpPr>
          <a:xfrm>
            <a:off x="280375" y="186925"/>
            <a:ext cx="8583300" cy="4769475"/>
            <a:chOff x="280375" y="186925"/>
            <a:chExt cx="8583300" cy="4769475"/>
          </a:xfrm>
        </p:grpSpPr>
        <p:grpSp>
          <p:nvGrpSpPr>
            <p:cNvPr id="199" name="Google Shape;199;p26"/>
            <p:cNvGrpSpPr/>
            <p:nvPr/>
          </p:nvGrpSpPr>
          <p:grpSpPr>
            <a:xfrm>
              <a:off x="280375" y="4769500"/>
              <a:ext cx="1287008" cy="186900"/>
              <a:chOff x="280375" y="4769500"/>
              <a:chExt cx="1287008" cy="186900"/>
            </a:xfrm>
          </p:grpSpPr>
          <p:sp>
            <p:nvSpPr>
              <p:cNvPr id="200" name="Google Shape;200;p26"/>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1" name="Google Shape;201;p26"/>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2" name="Google Shape;202;p26"/>
              <p:cNvSpPr/>
              <p:nvPr/>
            </p:nvSpPr>
            <p:spPr>
              <a:xfrm rot="10800000">
                <a:off x="647078"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3" name="Google Shape;203;p26"/>
              <p:cNvSpPr/>
              <p:nvPr/>
            </p:nvSpPr>
            <p:spPr>
              <a:xfrm rot="10800000">
                <a:off x="280375"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04" name="Google Shape;204;p26"/>
            <p:cNvGrpSpPr/>
            <p:nvPr/>
          </p:nvGrpSpPr>
          <p:grpSpPr>
            <a:xfrm rot="10800000">
              <a:off x="5376450" y="186925"/>
              <a:ext cx="3487225" cy="186900"/>
              <a:chOff x="280375" y="4769500"/>
              <a:chExt cx="3487225" cy="186900"/>
            </a:xfrm>
          </p:grpSpPr>
          <p:sp>
            <p:nvSpPr>
              <p:cNvPr id="205" name="Google Shape;205;p26"/>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6" name="Google Shape;206;p26"/>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7" name="Google Shape;207;p26"/>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8" name="Google Shape;208;p26"/>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9" name="Google Shape;209;p26"/>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0" name="Google Shape;210;p2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1" name="Google Shape;211;p2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2" name="Google Shape;212;p26"/>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3" name="Google Shape;213;p26"/>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4" name="Google Shape;214;p26"/>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_1">
    <p:spTree>
      <p:nvGrpSpPr>
        <p:cNvPr id="215" name="Shape 215"/>
        <p:cNvGrpSpPr/>
        <p:nvPr/>
      </p:nvGrpSpPr>
      <p:grpSpPr>
        <a:xfrm>
          <a:off x="0" y="0"/>
          <a:ext cx="0" cy="0"/>
          <a:chOff x="0" y="0"/>
          <a:chExt cx="0" cy="0"/>
        </a:xfrm>
      </p:grpSpPr>
      <p:sp>
        <p:nvSpPr>
          <p:cNvPr id="216" name="Google Shape;216;p27"/>
          <p:cNvSpPr txBox="1"/>
          <p:nvPr>
            <p:ph type="title"/>
          </p:nvPr>
        </p:nvSpPr>
        <p:spPr>
          <a:xfrm>
            <a:off x="713225" y="539500"/>
            <a:ext cx="3915900" cy="455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17" name="Google Shape;217;p27"/>
          <p:cNvSpPr txBox="1"/>
          <p:nvPr>
            <p:ph idx="1" type="subTitle"/>
          </p:nvPr>
        </p:nvSpPr>
        <p:spPr>
          <a:xfrm>
            <a:off x="713225" y="995200"/>
            <a:ext cx="3915900" cy="69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18" name="Google Shape;218;p27"/>
          <p:cNvSpPr/>
          <p:nvPr>
            <p:ph idx="2" type="pic"/>
          </p:nvPr>
        </p:nvSpPr>
        <p:spPr>
          <a:xfrm>
            <a:off x="5629675" y="547051"/>
            <a:ext cx="2801100" cy="4049400"/>
          </a:xfrm>
          <a:prstGeom prst="rect">
            <a:avLst/>
          </a:prstGeom>
          <a:noFill/>
          <a:ln>
            <a:noFill/>
          </a:ln>
        </p:spPr>
      </p:sp>
      <p:sp>
        <p:nvSpPr>
          <p:cNvPr id="219" name="Google Shape;219;p27"/>
          <p:cNvSpPr/>
          <p:nvPr>
            <p:ph idx="3" type="pic"/>
          </p:nvPr>
        </p:nvSpPr>
        <p:spPr>
          <a:xfrm>
            <a:off x="2352039" y="1943850"/>
            <a:ext cx="1505700" cy="2652600"/>
          </a:xfrm>
          <a:prstGeom prst="rect">
            <a:avLst/>
          </a:prstGeom>
          <a:noFill/>
          <a:ln>
            <a:noFill/>
          </a:ln>
        </p:spPr>
      </p:sp>
      <p:sp>
        <p:nvSpPr>
          <p:cNvPr id="220" name="Google Shape;220;p27"/>
          <p:cNvSpPr/>
          <p:nvPr>
            <p:ph idx="4" type="pic"/>
          </p:nvPr>
        </p:nvSpPr>
        <p:spPr>
          <a:xfrm>
            <a:off x="3990853" y="1943850"/>
            <a:ext cx="1505700" cy="2652600"/>
          </a:xfrm>
          <a:prstGeom prst="rect">
            <a:avLst/>
          </a:prstGeom>
          <a:noFill/>
          <a:ln>
            <a:noFill/>
          </a:ln>
        </p:spPr>
      </p:sp>
      <p:sp>
        <p:nvSpPr>
          <p:cNvPr id="221" name="Google Shape;221;p27"/>
          <p:cNvSpPr/>
          <p:nvPr>
            <p:ph idx="5" type="pic"/>
          </p:nvPr>
        </p:nvSpPr>
        <p:spPr>
          <a:xfrm>
            <a:off x="713225" y="1943850"/>
            <a:ext cx="1505700" cy="2652600"/>
          </a:xfrm>
          <a:prstGeom prst="rect">
            <a:avLst/>
          </a:prstGeom>
          <a:noFill/>
          <a:ln>
            <a:noFill/>
          </a:ln>
        </p:spPr>
      </p:sp>
      <p:grpSp>
        <p:nvGrpSpPr>
          <p:cNvPr id="222" name="Google Shape;222;p27"/>
          <p:cNvGrpSpPr/>
          <p:nvPr/>
        </p:nvGrpSpPr>
        <p:grpSpPr>
          <a:xfrm>
            <a:off x="280375" y="4766080"/>
            <a:ext cx="8583125" cy="186900"/>
            <a:chOff x="280375" y="186925"/>
            <a:chExt cx="8583125" cy="186900"/>
          </a:xfrm>
        </p:grpSpPr>
        <p:sp>
          <p:nvSpPr>
            <p:cNvPr id="223" name="Google Shape;223;p27"/>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4" name="Google Shape;224;p27"/>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_1">
    <p:spTree>
      <p:nvGrpSpPr>
        <p:cNvPr id="225" name="Shape 225"/>
        <p:cNvGrpSpPr/>
        <p:nvPr/>
      </p:nvGrpSpPr>
      <p:grpSpPr>
        <a:xfrm>
          <a:off x="0" y="0"/>
          <a:ext cx="0" cy="0"/>
          <a:chOff x="0" y="0"/>
          <a:chExt cx="0" cy="0"/>
        </a:xfrm>
      </p:grpSpPr>
      <p:sp>
        <p:nvSpPr>
          <p:cNvPr id="226" name="Google Shape;226;p28"/>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27" name="Google Shape;227;p28"/>
          <p:cNvSpPr txBox="1"/>
          <p:nvPr>
            <p:ph idx="1" type="subTitle"/>
          </p:nvPr>
        </p:nvSpPr>
        <p:spPr>
          <a:xfrm>
            <a:off x="722375" y="1151950"/>
            <a:ext cx="7708500" cy="8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228" name="Google Shape;228;p28"/>
          <p:cNvGrpSpPr/>
          <p:nvPr/>
        </p:nvGrpSpPr>
        <p:grpSpPr>
          <a:xfrm>
            <a:off x="280375" y="186925"/>
            <a:ext cx="8583300" cy="4769475"/>
            <a:chOff x="280375" y="186925"/>
            <a:chExt cx="8583300" cy="4769475"/>
          </a:xfrm>
        </p:grpSpPr>
        <p:sp>
          <p:nvSpPr>
            <p:cNvPr id="229" name="Google Shape;229;p28"/>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0" name="Google Shape;230;p28"/>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_1_1">
    <p:spTree>
      <p:nvGrpSpPr>
        <p:cNvPr id="231" name="Shape 231"/>
        <p:cNvGrpSpPr/>
        <p:nvPr/>
      </p:nvGrpSpPr>
      <p:grpSpPr>
        <a:xfrm>
          <a:off x="0" y="0"/>
          <a:ext cx="0" cy="0"/>
          <a:chOff x="0" y="0"/>
          <a:chExt cx="0" cy="0"/>
        </a:xfrm>
      </p:grpSpPr>
      <p:sp>
        <p:nvSpPr>
          <p:cNvPr id="232" name="Google Shape;232;p29"/>
          <p:cNvSpPr txBox="1"/>
          <p:nvPr>
            <p:ph type="title"/>
          </p:nvPr>
        </p:nvSpPr>
        <p:spPr>
          <a:xfrm>
            <a:off x="722376" y="448056"/>
            <a:ext cx="7708500" cy="5760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33" name="Google Shape;233;p29"/>
          <p:cNvSpPr txBox="1"/>
          <p:nvPr>
            <p:ph idx="1" type="subTitle"/>
          </p:nvPr>
        </p:nvSpPr>
        <p:spPr>
          <a:xfrm>
            <a:off x="722375" y="1152148"/>
            <a:ext cx="7708500" cy="345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Char char="●"/>
              <a:defRPr/>
            </a:lvl1pPr>
            <a:lvl2pPr lvl="1" rtl="0" algn="ctr">
              <a:lnSpc>
                <a:spcPct val="100000"/>
              </a:lnSpc>
              <a:spcBef>
                <a:spcPts val="0"/>
              </a:spcBef>
              <a:spcAft>
                <a:spcPts val="0"/>
              </a:spcAft>
              <a:buSzPts val="1200"/>
              <a:buChar char="○"/>
              <a:defRPr/>
            </a:lvl2pPr>
            <a:lvl3pPr lvl="2" rtl="0" algn="ctr">
              <a:lnSpc>
                <a:spcPct val="100000"/>
              </a:lnSpc>
              <a:spcBef>
                <a:spcPts val="1600"/>
              </a:spcBef>
              <a:spcAft>
                <a:spcPts val="0"/>
              </a:spcAft>
              <a:buSzPts val="1200"/>
              <a:buChar char="■"/>
              <a:defRPr/>
            </a:lvl3pPr>
            <a:lvl4pPr lvl="3" rtl="0" algn="ctr">
              <a:lnSpc>
                <a:spcPct val="100000"/>
              </a:lnSpc>
              <a:spcBef>
                <a:spcPts val="1600"/>
              </a:spcBef>
              <a:spcAft>
                <a:spcPts val="0"/>
              </a:spcAft>
              <a:buSzPts val="1200"/>
              <a:buChar char="●"/>
              <a:defRPr/>
            </a:lvl4pPr>
            <a:lvl5pPr lvl="4" rtl="0" algn="ctr">
              <a:lnSpc>
                <a:spcPct val="100000"/>
              </a:lnSpc>
              <a:spcBef>
                <a:spcPts val="1600"/>
              </a:spcBef>
              <a:spcAft>
                <a:spcPts val="0"/>
              </a:spcAft>
              <a:buSzPts val="1200"/>
              <a:buChar char="○"/>
              <a:defRPr/>
            </a:lvl5pPr>
            <a:lvl6pPr lvl="5" rtl="0" algn="ctr">
              <a:lnSpc>
                <a:spcPct val="100000"/>
              </a:lnSpc>
              <a:spcBef>
                <a:spcPts val="1600"/>
              </a:spcBef>
              <a:spcAft>
                <a:spcPts val="0"/>
              </a:spcAft>
              <a:buSzPts val="1200"/>
              <a:buChar char="■"/>
              <a:defRPr/>
            </a:lvl6pPr>
            <a:lvl7pPr lvl="6" rtl="0" algn="ctr">
              <a:lnSpc>
                <a:spcPct val="100000"/>
              </a:lnSpc>
              <a:spcBef>
                <a:spcPts val="1600"/>
              </a:spcBef>
              <a:spcAft>
                <a:spcPts val="0"/>
              </a:spcAft>
              <a:buSzPts val="1200"/>
              <a:buChar char="●"/>
              <a:defRPr/>
            </a:lvl7pPr>
            <a:lvl8pPr lvl="7" rtl="0" algn="ctr">
              <a:lnSpc>
                <a:spcPct val="100000"/>
              </a:lnSpc>
              <a:spcBef>
                <a:spcPts val="1600"/>
              </a:spcBef>
              <a:spcAft>
                <a:spcPts val="0"/>
              </a:spcAft>
              <a:buSzPts val="1200"/>
              <a:buChar char="○"/>
              <a:defRPr/>
            </a:lvl8pPr>
            <a:lvl9pPr lvl="8" rtl="0" algn="ctr">
              <a:lnSpc>
                <a:spcPct val="100000"/>
              </a:lnSpc>
              <a:spcBef>
                <a:spcPts val="1600"/>
              </a:spcBef>
              <a:spcAft>
                <a:spcPts val="1600"/>
              </a:spcAft>
              <a:buSzPts val="1200"/>
              <a:buChar char="■"/>
              <a:defRPr/>
            </a:lvl9pPr>
          </a:lstStyle>
          <a:p/>
        </p:txBody>
      </p:sp>
      <p:grpSp>
        <p:nvGrpSpPr>
          <p:cNvPr id="234" name="Google Shape;234;p29"/>
          <p:cNvGrpSpPr/>
          <p:nvPr/>
        </p:nvGrpSpPr>
        <p:grpSpPr>
          <a:xfrm rot="10800000">
            <a:off x="280375" y="186925"/>
            <a:ext cx="8583300" cy="4769475"/>
            <a:chOff x="280375" y="186925"/>
            <a:chExt cx="8583300" cy="4769475"/>
          </a:xfrm>
        </p:grpSpPr>
        <p:sp>
          <p:nvSpPr>
            <p:cNvPr id="235" name="Google Shape;235;p29"/>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6" name="Google Shape;236;p29"/>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7" name="Google Shape;237;p29"/>
            <p:cNvSpPr/>
            <p:nvPr/>
          </p:nvSpPr>
          <p:spPr>
            <a:xfrm>
              <a:off x="83029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8" name="Shape 238"/>
        <p:cNvGrpSpPr/>
        <p:nvPr/>
      </p:nvGrpSpPr>
      <p:grpSpPr>
        <a:xfrm>
          <a:off x="0" y="0"/>
          <a:ext cx="0" cy="0"/>
          <a:chOff x="0" y="0"/>
          <a:chExt cx="0" cy="0"/>
        </a:xfrm>
      </p:grpSpPr>
      <p:sp>
        <p:nvSpPr>
          <p:cNvPr id="239" name="Google Shape;239;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40" name="Google Shape;240;p30"/>
          <p:cNvSpPr txBox="1"/>
          <p:nvPr>
            <p:ph idx="1" type="subTitle"/>
          </p:nvPr>
        </p:nvSpPr>
        <p:spPr>
          <a:xfrm>
            <a:off x="720000"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1" name="Google Shape;241;p30"/>
          <p:cNvSpPr txBox="1"/>
          <p:nvPr>
            <p:ph idx="2" type="subTitle"/>
          </p:nvPr>
        </p:nvSpPr>
        <p:spPr>
          <a:xfrm>
            <a:off x="3437848"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2" name="Google Shape;242;p30"/>
          <p:cNvSpPr txBox="1"/>
          <p:nvPr>
            <p:ph idx="3" type="subTitle"/>
          </p:nvPr>
        </p:nvSpPr>
        <p:spPr>
          <a:xfrm>
            <a:off x="6155700" y="2651765"/>
            <a:ext cx="2268300" cy="1501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43" name="Google Shape;243;p30"/>
          <p:cNvSpPr txBox="1"/>
          <p:nvPr>
            <p:ph idx="4" type="subTitle"/>
          </p:nvPr>
        </p:nvSpPr>
        <p:spPr>
          <a:xfrm>
            <a:off x="720000"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4" name="Google Shape;244;p30"/>
          <p:cNvSpPr txBox="1"/>
          <p:nvPr>
            <p:ph idx="5" type="subTitle"/>
          </p:nvPr>
        </p:nvSpPr>
        <p:spPr>
          <a:xfrm>
            <a:off x="3437852"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5" name="Google Shape;245;p30"/>
          <p:cNvSpPr txBox="1"/>
          <p:nvPr>
            <p:ph idx="6" type="subTitle"/>
          </p:nvPr>
        </p:nvSpPr>
        <p:spPr>
          <a:xfrm>
            <a:off x="6155700" y="2148850"/>
            <a:ext cx="22683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46" name="Google Shape;246;p30"/>
          <p:cNvGrpSpPr/>
          <p:nvPr/>
        </p:nvGrpSpPr>
        <p:grpSpPr>
          <a:xfrm>
            <a:off x="280375" y="186925"/>
            <a:ext cx="8583125" cy="186900"/>
            <a:chOff x="280375" y="186925"/>
            <a:chExt cx="8583125" cy="186900"/>
          </a:xfrm>
        </p:grpSpPr>
        <p:sp>
          <p:nvSpPr>
            <p:cNvPr id="247" name="Google Shape;247;p30"/>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48" name="Google Shape;248;p30"/>
            <p:cNvSpPr/>
            <p:nvPr/>
          </p:nvSpPr>
          <p:spPr>
            <a:xfrm flipH="1">
              <a:off x="867660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9" name="Shape 249"/>
        <p:cNvGrpSpPr/>
        <p:nvPr/>
      </p:nvGrpSpPr>
      <p:grpSpPr>
        <a:xfrm>
          <a:off x="0" y="0"/>
          <a:ext cx="0" cy="0"/>
          <a:chOff x="0" y="0"/>
          <a:chExt cx="0" cy="0"/>
        </a:xfrm>
      </p:grpSpPr>
      <p:sp>
        <p:nvSpPr>
          <p:cNvPr id="250" name="Google Shape;250;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51" name="Google Shape;251;p31"/>
          <p:cNvSpPr txBox="1"/>
          <p:nvPr>
            <p:ph idx="1" type="subTitle"/>
          </p:nvPr>
        </p:nvSpPr>
        <p:spPr>
          <a:xfrm>
            <a:off x="1481825" y="1672700"/>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2" name="Google Shape;252;p31"/>
          <p:cNvSpPr txBox="1"/>
          <p:nvPr>
            <p:ph idx="2" type="subTitle"/>
          </p:nvPr>
        </p:nvSpPr>
        <p:spPr>
          <a:xfrm>
            <a:off x="5460778" y="1672700"/>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3" name="Google Shape;253;p31"/>
          <p:cNvSpPr txBox="1"/>
          <p:nvPr>
            <p:ph idx="3" type="subTitle"/>
          </p:nvPr>
        </p:nvSpPr>
        <p:spPr>
          <a:xfrm>
            <a:off x="1481825" y="3561875"/>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4" name="Google Shape;254;p31"/>
          <p:cNvSpPr txBox="1"/>
          <p:nvPr>
            <p:ph idx="4" type="subTitle"/>
          </p:nvPr>
        </p:nvSpPr>
        <p:spPr>
          <a:xfrm>
            <a:off x="5460778" y="3561875"/>
            <a:ext cx="2975400" cy="95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55" name="Google Shape;255;p31"/>
          <p:cNvSpPr txBox="1"/>
          <p:nvPr>
            <p:ph idx="5" type="subTitle"/>
          </p:nvPr>
        </p:nvSpPr>
        <p:spPr>
          <a:xfrm>
            <a:off x="1481825" y="137935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6" name="Google Shape;256;p31"/>
          <p:cNvSpPr txBox="1"/>
          <p:nvPr>
            <p:ph idx="6" type="subTitle"/>
          </p:nvPr>
        </p:nvSpPr>
        <p:spPr>
          <a:xfrm>
            <a:off x="1481825" y="326860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7" name="Google Shape;257;p31"/>
          <p:cNvSpPr txBox="1"/>
          <p:nvPr>
            <p:ph idx="7" type="subTitle"/>
          </p:nvPr>
        </p:nvSpPr>
        <p:spPr>
          <a:xfrm>
            <a:off x="5460750" y="137935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8" name="Google Shape;258;p31"/>
          <p:cNvSpPr txBox="1"/>
          <p:nvPr>
            <p:ph idx="8" type="subTitle"/>
          </p:nvPr>
        </p:nvSpPr>
        <p:spPr>
          <a:xfrm>
            <a:off x="5460750" y="3268600"/>
            <a:ext cx="2975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59" name="Google Shape;259;p31"/>
          <p:cNvGrpSpPr/>
          <p:nvPr/>
        </p:nvGrpSpPr>
        <p:grpSpPr>
          <a:xfrm flipH="1">
            <a:off x="280300" y="186475"/>
            <a:ext cx="8584028" cy="4769800"/>
            <a:chOff x="280300" y="186475"/>
            <a:chExt cx="8584028" cy="4769800"/>
          </a:xfrm>
        </p:grpSpPr>
        <p:grpSp>
          <p:nvGrpSpPr>
            <p:cNvPr id="260" name="Google Shape;260;p31"/>
            <p:cNvGrpSpPr/>
            <p:nvPr/>
          </p:nvGrpSpPr>
          <p:grpSpPr>
            <a:xfrm>
              <a:off x="280300" y="186475"/>
              <a:ext cx="1297219" cy="186900"/>
              <a:chOff x="280300" y="186475"/>
              <a:chExt cx="1297219" cy="186900"/>
            </a:xfrm>
          </p:grpSpPr>
          <p:grpSp>
            <p:nvGrpSpPr>
              <p:cNvPr id="261" name="Google Shape;261;p31"/>
              <p:cNvGrpSpPr/>
              <p:nvPr/>
            </p:nvGrpSpPr>
            <p:grpSpPr>
              <a:xfrm flipH="1">
                <a:off x="280300" y="186475"/>
                <a:ext cx="553603" cy="186900"/>
                <a:chOff x="3213997" y="4769500"/>
                <a:chExt cx="553603" cy="186900"/>
              </a:xfrm>
            </p:grpSpPr>
            <p:sp>
              <p:nvSpPr>
                <p:cNvPr id="262" name="Google Shape;262;p31"/>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3" name="Google Shape;263;p31"/>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264" name="Google Shape;264;p31"/>
              <p:cNvGrpSpPr/>
              <p:nvPr/>
            </p:nvGrpSpPr>
            <p:grpSpPr>
              <a:xfrm flipH="1">
                <a:off x="1023916" y="186475"/>
                <a:ext cx="553603" cy="186900"/>
                <a:chOff x="3213997" y="4769500"/>
                <a:chExt cx="553603" cy="186900"/>
              </a:xfrm>
            </p:grpSpPr>
            <p:sp>
              <p:nvSpPr>
                <p:cNvPr id="265" name="Google Shape;265;p31"/>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6" name="Google Shape;266;p31"/>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267" name="Google Shape;267;p31"/>
            <p:cNvGrpSpPr/>
            <p:nvPr/>
          </p:nvGrpSpPr>
          <p:grpSpPr>
            <a:xfrm>
              <a:off x="7556832" y="4769375"/>
              <a:ext cx="1307496" cy="186900"/>
              <a:chOff x="7556832" y="4769375"/>
              <a:chExt cx="1307496" cy="186900"/>
            </a:xfrm>
          </p:grpSpPr>
          <p:sp>
            <p:nvSpPr>
              <p:cNvPr id="268" name="Google Shape;268;p31"/>
              <p:cNvSpPr/>
              <p:nvPr/>
            </p:nvSpPr>
            <p:spPr>
              <a:xfrm>
                <a:off x="8310725"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69" name="Google Shape;269;p31"/>
              <p:cNvSpPr/>
              <p:nvPr/>
            </p:nvSpPr>
            <p:spPr>
              <a:xfrm>
                <a:off x="8677428" y="476937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0" name="Google Shape;270;p31"/>
              <p:cNvSpPr/>
              <p:nvPr/>
            </p:nvSpPr>
            <p:spPr>
              <a:xfrm>
                <a:off x="7556832" y="476937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71" name="Google Shape;271;p31"/>
              <p:cNvSpPr/>
              <p:nvPr/>
            </p:nvSpPr>
            <p:spPr>
              <a:xfrm>
                <a:off x="7925697" y="476937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2" name="Shape 272"/>
        <p:cNvGrpSpPr/>
        <p:nvPr/>
      </p:nvGrpSpPr>
      <p:grpSpPr>
        <a:xfrm>
          <a:off x="0" y="0"/>
          <a:ext cx="0" cy="0"/>
          <a:chOff x="0" y="0"/>
          <a:chExt cx="0" cy="0"/>
        </a:xfrm>
      </p:grpSpPr>
      <p:sp>
        <p:nvSpPr>
          <p:cNvPr id="273" name="Google Shape;273;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274" name="Google Shape;274;p32"/>
          <p:cNvSpPr txBox="1"/>
          <p:nvPr>
            <p:ph idx="1" type="subTitle"/>
          </p:nvPr>
        </p:nvSpPr>
        <p:spPr>
          <a:xfrm>
            <a:off x="7200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5" name="Google Shape;275;p32"/>
          <p:cNvSpPr txBox="1"/>
          <p:nvPr>
            <p:ph idx="2" type="subTitle"/>
          </p:nvPr>
        </p:nvSpPr>
        <p:spPr>
          <a:xfrm>
            <a:off x="35790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6" name="Google Shape;276;p32"/>
          <p:cNvSpPr txBox="1"/>
          <p:nvPr>
            <p:ph idx="3" type="subTitle"/>
          </p:nvPr>
        </p:nvSpPr>
        <p:spPr>
          <a:xfrm>
            <a:off x="7200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7" name="Google Shape;277;p32"/>
          <p:cNvSpPr txBox="1"/>
          <p:nvPr>
            <p:ph idx="4" type="subTitle"/>
          </p:nvPr>
        </p:nvSpPr>
        <p:spPr>
          <a:xfrm>
            <a:off x="35790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8" name="Google Shape;278;p32"/>
          <p:cNvSpPr txBox="1"/>
          <p:nvPr>
            <p:ph idx="5" type="subTitle"/>
          </p:nvPr>
        </p:nvSpPr>
        <p:spPr>
          <a:xfrm>
            <a:off x="6364800" y="1633972"/>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79" name="Google Shape;279;p32"/>
          <p:cNvSpPr txBox="1"/>
          <p:nvPr>
            <p:ph idx="6" type="subTitle"/>
          </p:nvPr>
        </p:nvSpPr>
        <p:spPr>
          <a:xfrm>
            <a:off x="6364800" y="3516654"/>
            <a:ext cx="2059200" cy="11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280" name="Google Shape;280;p32"/>
          <p:cNvSpPr txBox="1"/>
          <p:nvPr>
            <p:ph idx="7" type="subTitle"/>
          </p:nvPr>
        </p:nvSpPr>
        <p:spPr>
          <a:xfrm>
            <a:off x="720000" y="1336275"/>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1" name="Google Shape;281;p32"/>
          <p:cNvSpPr txBox="1"/>
          <p:nvPr>
            <p:ph idx="8" type="subTitle"/>
          </p:nvPr>
        </p:nvSpPr>
        <p:spPr>
          <a:xfrm>
            <a:off x="3579000" y="1336275"/>
            <a:ext cx="2057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2" name="Google Shape;282;p32"/>
          <p:cNvSpPr txBox="1"/>
          <p:nvPr>
            <p:ph idx="9" type="subTitle"/>
          </p:nvPr>
        </p:nvSpPr>
        <p:spPr>
          <a:xfrm>
            <a:off x="6366666" y="1336275"/>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3" name="Google Shape;283;p32"/>
          <p:cNvSpPr txBox="1"/>
          <p:nvPr>
            <p:ph idx="13" type="subTitle"/>
          </p:nvPr>
        </p:nvSpPr>
        <p:spPr>
          <a:xfrm>
            <a:off x="720000" y="3215756"/>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4" name="Google Shape;284;p32"/>
          <p:cNvSpPr txBox="1"/>
          <p:nvPr>
            <p:ph idx="14" type="subTitle"/>
          </p:nvPr>
        </p:nvSpPr>
        <p:spPr>
          <a:xfrm>
            <a:off x="3579000" y="3215756"/>
            <a:ext cx="2057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85" name="Google Shape;285;p32"/>
          <p:cNvSpPr txBox="1"/>
          <p:nvPr>
            <p:ph idx="15" type="subTitle"/>
          </p:nvPr>
        </p:nvSpPr>
        <p:spPr>
          <a:xfrm>
            <a:off x="6366666" y="3215756"/>
            <a:ext cx="20574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Lexend Mega Black"/>
                <a:ea typeface="Lexend Mega Black"/>
                <a:cs typeface="Lexend Mega Black"/>
                <a:sym typeface="Lexend Mega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86" name="Google Shape;286;p32"/>
          <p:cNvGrpSpPr/>
          <p:nvPr/>
        </p:nvGrpSpPr>
        <p:grpSpPr>
          <a:xfrm>
            <a:off x="280375" y="186925"/>
            <a:ext cx="8583300" cy="4769475"/>
            <a:chOff x="280375" y="186925"/>
            <a:chExt cx="8583300" cy="4769475"/>
          </a:xfrm>
        </p:grpSpPr>
        <p:sp>
          <p:nvSpPr>
            <p:cNvPr id="287" name="Google Shape;287;p32"/>
            <p:cNvSpPr/>
            <p:nvPr/>
          </p:nvSpPr>
          <p:spPr>
            <a:xfrm flipH="1">
              <a:off x="2803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88" name="Google Shape;288;p32"/>
            <p:cNvSpPr/>
            <p:nvPr/>
          </p:nvSpPr>
          <p:spPr>
            <a:xfrm>
              <a:off x="86767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89" name="Shape 289"/>
        <p:cNvGrpSpPr/>
        <p:nvPr/>
      </p:nvGrpSpPr>
      <p:grpSpPr>
        <a:xfrm>
          <a:off x="0" y="0"/>
          <a:ext cx="0" cy="0"/>
          <a:chOff x="0" y="0"/>
          <a:chExt cx="0" cy="0"/>
        </a:xfrm>
      </p:grpSpPr>
      <p:sp>
        <p:nvSpPr>
          <p:cNvPr id="290" name="Google Shape;290;p33"/>
          <p:cNvSpPr txBox="1"/>
          <p:nvPr>
            <p:ph hasCustomPrompt="1" type="title"/>
          </p:nvPr>
        </p:nvSpPr>
        <p:spPr>
          <a:xfrm>
            <a:off x="2231252" y="2074357"/>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1" name="Google Shape;291;p33"/>
          <p:cNvSpPr txBox="1"/>
          <p:nvPr>
            <p:ph idx="1" type="subTitle"/>
          </p:nvPr>
        </p:nvSpPr>
        <p:spPr>
          <a:xfrm>
            <a:off x="2231252" y="2843255"/>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92" name="Google Shape;292;p33"/>
          <p:cNvSpPr txBox="1"/>
          <p:nvPr>
            <p:ph hasCustomPrompt="1" idx="2" type="title"/>
          </p:nvPr>
        </p:nvSpPr>
        <p:spPr>
          <a:xfrm>
            <a:off x="2231237" y="727550"/>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3" name="Google Shape;293;p33"/>
          <p:cNvSpPr txBox="1"/>
          <p:nvPr>
            <p:ph idx="3" type="subTitle"/>
          </p:nvPr>
        </p:nvSpPr>
        <p:spPr>
          <a:xfrm>
            <a:off x="2231237" y="1496459"/>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94" name="Google Shape;294;p33"/>
          <p:cNvSpPr txBox="1"/>
          <p:nvPr>
            <p:ph hasCustomPrompt="1" idx="4" type="title"/>
          </p:nvPr>
        </p:nvSpPr>
        <p:spPr>
          <a:xfrm>
            <a:off x="2231237" y="3422333"/>
            <a:ext cx="4681500" cy="768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4500">
                <a:solidFill>
                  <a:schemeClr val="accent6"/>
                </a:solidFill>
                <a:latin typeface="Lexend Mega Light"/>
                <a:ea typeface="Lexend Mega Light"/>
                <a:cs typeface="Lexend Mega Light"/>
                <a:sym typeface="Lexend Mega Light"/>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5" name="Google Shape;295;p33"/>
          <p:cNvSpPr txBox="1"/>
          <p:nvPr>
            <p:ph idx="5" type="subTitle"/>
          </p:nvPr>
        </p:nvSpPr>
        <p:spPr>
          <a:xfrm>
            <a:off x="2231237" y="4191230"/>
            <a:ext cx="4681500" cy="418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96" name="Shape 296"/>
        <p:cNvGrpSpPr/>
        <p:nvPr/>
      </p:nvGrpSpPr>
      <p:grpSpPr>
        <a:xfrm>
          <a:off x="0" y="0"/>
          <a:ext cx="0" cy="0"/>
          <a:chOff x="0" y="0"/>
          <a:chExt cx="0" cy="0"/>
        </a:xfrm>
      </p:grpSpPr>
      <p:sp>
        <p:nvSpPr>
          <p:cNvPr id="297" name="Google Shape;297;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98" name="Shape 298"/>
        <p:cNvGrpSpPr/>
        <p:nvPr/>
      </p:nvGrpSpPr>
      <p:grpSpPr>
        <a:xfrm>
          <a:off x="0" y="0"/>
          <a:ext cx="0" cy="0"/>
          <a:chOff x="0" y="0"/>
          <a:chExt cx="0" cy="0"/>
        </a:xfrm>
      </p:grpSpPr>
      <p:sp>
        <p:nvSpPr>
          <p:cNvPr id="299" name="Google Shape;299;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300"/>
              <a:buNone/>
              <a:defRPr/>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grpSp>
        <p:nvGrpSpPr>
          <p:cNvPr id="300" name="Google Shape;300;p35"/>
          <p:cNvGrpSpPr/>
          <p:nvPr/>
        </p:nvGrpSpPr>
        <p:grpSpPr>
          <a:xfrm>
            <a:off x="280375" y="186925"/>
            <a:ext cx="8583300" cy="4769475"/>
            <a:chOff x="280375" y="186925"/>
            <a:chExt cx="8583300" cy="4769475"/>
          </a:xfrm>
        </p:grpSpPr>
        <p:sp>
          <p:nvSpPr>
            <p:cNvPr id="301" name="Google Shape;301;p35"/>
            <p:cNvSpPr/>
            <p:nvPr/>
          </p:nvSpPr>
          <p:spPr>
            <a:xfrm>
              <a:off x="8676775"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2" name="Google Shape;302;p35"/>
            <p:cNvSpPr/>
            <p:nvPr/>
          </p:nvSpPr>
          <p:spPr>
            <a:xfrm flipH="1">
              <a:off x="280375"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03" name="Shape 303"/>
        <p:cNvGrpSpPr/>
        <p:nvPr/>
      </p:nvGrpSpPr>
      <p:grpSpPr>
        <a:xfrm>
          <a:off x="0" y="0"/>
          <a:ext cx="0" cy="0"/>
          <a:chOff x="0" y="0"/>
          <a:chExt cx="0" cy="0"/>
        </a:xfrm>
      </p:grpSpPr>
      <p:sp>
        <p:nvSpPr>
          <p:cNvPr id="304" name="Google Shape;304;p36"/>
          <p:cNvSpPr txBox="1"/>
          <p:nvPr>
            <p:ph type="title"/>
          </p:nvPr>
        </p:nvSpPr>
        <p:spPr>
          <a:xfrm>
            <a:off x="621850" y="623850"/>
            <a:ext cx="4898400" cy="1058700"/>
          </a:xfrm>
          <a:prstGeom prst="rect">
            <a:avLst/>
          </a:prstGeom>
        </p:spPr>
        <p:txBody>
          <a:bodyPr anchorCtr="0" anchor="b" bIns="91425" lIns="91425" spcFirstLastPara="1" rIns="91425" wrap="square" tIns="91425">
            <a:noAutofit/>
          </a:bodyPr>
          <a:lstStyle>
            <a:lvl1pPr lvl="0" rtl="0">
              <a:spcBef>
                <a:spcPts val="0"/>
              </a:spcBef>
              <a:spcAft>
                <a:spcPts val="0"/>
              </a:spcAft>
              <a:buSzPts val="2300"/>
              <a:buNone/>
              <a:defRPr sz="6000"/>
            </a:lvl1pPr>
            <a:lvl2pPr lvl="1" rtl="0">
              <a:spcBef>
                <a:spcPts val="0"/>
              </a:spcBef>
              <a:spcAft>
                <a:spcPts val="0"/>
              </a:spcAft>
              <a:buSzPts val="2300"/>
              <a:buNone/>
              <a:defRPr/>
            </a:lvl2pPr>
            <a:lvl3pPr lvl="2" rtl="0">
              <a:spcBef>
                <a:spcPts val="0"/>
              </a:spcBef>
              <a:spcAft>
                <a:spcPts val="0"/>
              </a:spcAft>
              <a:buSzPts val="2300"/>
              <a:buNone/>
              <a:defRPr/>
            </a:lvl3pPr>
            <a:lvl4pPr lvl="3" rtl="0">
              <a:spcBef>
                <a:spcPts val="0"/>
              </a:spcBef>
              <a:spcAft>
                <a:spcPts val="0"/>
              </a:spcAft>
              <a:buSzPts val="2300"/>
              <a:buNone/>
              <a:defRPr/>
            </a:lvl4pPr>
            <a:lvl5pPr lvl="4" rtl="0">
              <a:spcBef>
                <a:spcPts val="0"/>
              </a:spcBef>
              <a:spcAft>
                <a:spcPts val="0"/>
              </a:spcAft>
              <a:buSzPts val="2300"/>
              <a:buNone/>
              <a:defRPr/>
            </a:lvl5pPr>
            <a:lvl6pPr lvl="5" rtl="0">
              <a:spcBef>
                <a:spcPts val="0"/>
              </a:spcBef>
              <a:spcAft>
                <a:spcPts val="0"/>
              </a:spcAft>
              <a:buSzPts val="2300"/>
              <a:buNone/>
              <a:defRPr/>
            </a:lvl6pPr>
            <a:lvl7pPr lvl="6" rtl="0">
              <a:spcBef>
                <a:spcPts val="0"/>
              </a:spcBef>
              <a:spcAft>
                <a:spcPts val="0"/>
              </a:spcAft>
              <a:buSzPts val="2300"/>
              <a:buNone/>
              <a:defRPr/>
            </a:lvl7pPr>
            <a:lvl8pPr lvl="7" rtl="0">
              <a:spcBef>
                <a:spcPts val="0"/>
              </a:spcBef>
              <a:spcAft>
                <a:spcPts val="0"/>
              </a:spcAft>
              <a:buSzPts val="2300"/>
              <a:buNone/>
              <a:defRPr/>
            </a:lvl8pPr>
            <a:lvl9pPr lvl="8" rtl="0">
              <a:spcBef>
                <a:spcPts val="0"/>
              </a:spcBef>
              <a:spcAft>
                <a:spcPts val="0"/>
              </a:spcAft>
              <a:buSzPts val="2300"/>
              <a:buNone/>
              <a:defRPr/>
            </a:lvl9pPr>
          </a:lstStyle>
          <a:p/>
        </p:txBody>
      </p:sp>
      <p:sp>
        <p:nvSpPr>
          <p:cNvPr id="305" name="Google Shape;305;p36"/>
          <p:cNvSpPr txBox="1"/>
          <p:nvPr>
            <p:ph idx="1" type="subTitle"/>
          </p:nvPr>
        </p:nvSpPr>
        <p:spPr>
          <a:xfrm>
            <a:off x="847000" y="1714199"/>
            <a:ext cx="4448100" cy="82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1600"/>
              </a:spcBef>
              <a:spcAft>
                <a:spcPts val="0"/>
              </a:spcAft>
              <a:buSzPts val="1200"/>
              <a:buNone/>
              <a:defRPr/>
            </a:lvl3pPr>
            <a:lvl4pPr lvl="3" rtl="0" algn="ctr">
              <a:lnSpc>
                <a:spcPct val="100000"/>
              </a:lnSpc>
              <a:spcBef>
                <a:spcPts val="1600"/>
              </a:spcBef>
              <a:spcAft>
                <a:spcPts val="0"/>
              </a:spcAft>
              <a:buSzPts val="1200"/>
              <a:buNone/>
              <a:defRPr/>
            </a:lvl4pPr>
            <a:lvl5pPr lvl="4" rtl="0" algn="ctr">
              <a:lnSpc>
                <a:spcPct val="100000"/>
              </a:lnSpc>
              <a:spcBef>
                <a:spcPts val="1600"/>
              </a:spcBef>
              <a:spcAft>
                <a:spcPts val="0"/>
              </a:spcAft>
              <a:buSzPts val="1200"/>
              <a:buNone/>
              <a:defRPr/>
            </a:lvl5pPr>
            <a:lvl6pPr lvl="5" rtl="0" algn="ctr">
              <a:lnSpc>
                <a:spcPct val="100000"/>
              </a:lnSpc>
              <a:spcBef>
                <a:spcPts val="1600"/>
              </a:spcBef>
              <a:spcAft>
                <a:spcPts val="0"/>
              </a:spcAft>
              <a:buSzPts val="1200"/>
              <a:buNone/>
              <a:defRPr/>
            </a:lvl6pPr>
            <a:lvl7pPr lvl="6" rtl="0" algn="ctr">
              <a:lnSpc>
                <a:spcPct val="100000"/>
              </a:lnSpc>
              <a:spcBef>
                <a:spcPts val="1600"/>
              </a:spcBef>
              <a:spcAft>
                <a:spcPts val="0"/>
              </a:spcAft>
              <a:buSzPts val="1200"/>
              <a:buNone/>
              <a:defRPr/>
            </a:lvl7pPr>
            <a:lvl8pPr lvl="7" rtl="0" algn="ctr">
              <a:lnSpc>
                <a:spcPct val="100000"/>
              </a:lnSpc>
              <a:spcBef>
                <a:spcPts val="1600"/>
              </a:spcBef>
              <a:spcAft>
                <a:spcPts val="0"/>
              </a:spcAft>
              <a:buSzPts val="1200"/>
              <a:buNone/>
              <a:defRPr/>
            </a:lvl8pPr>
            <a:lvl9pPr lvl="8" rtl="0" algn="ctr">
              <a:lnSpc>
                <a:spcPct val="100000"/>
              </a:lnSpc>
              <a:spcBef>
                <a:spcPts val="1600"/>
              </a:spcBef>
              <a:spcAft>
                <a:spcPts val="1600"/>
              </a:spcAft>
              <a:buSzPts val="1200"/>
              <a:buNone/>
              <a:defRPr/>
            </a:lvl9pPr>
          </a:lstStyle>
          <a:p/>
        </p:txBody>
      </p:sp>
      <p:sp>
        <p:nvSpPr>
          <p:cNvPr id="306" name="Google Shape;306;p36"/>
          <p:cNvSpPr txBox="1"/>
          <p:nvPr/>
        </p:nvSpPr>
        <p:spPr>
          <a:xfrm>
            <a:off x="847000" y="3514950"/>
            <a:ext cx="53205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Epilogue"/>
                <a:ea typeface="Epilogue"/>
                <a:cs typeface="Epilogue"/>
                <a:sym typeface="Epilogue"/>
              </a:rPr>
              <a:t>CREDITS:</a:t>
            </a:r>
            <a:r>
              <a:rPr lang="en" sz="1200">
                <a:solidFill>
                  <a:schemeClr val="dk1"/>
                </a:solidFill>
                <a:latin typeface="Epilogue"/>
                <a:ea typeface="Epilogue"/>
                <a:cs typeface="Epilogue"/>
                <a:sym typeface="Epilogue"/>
              </a:rPr>
              <a:t> This presentation template was created by </a:t>
            </a:r>
            <a:r>
              <a:rPr b="1" lang="en" sz="1200" u="sng">
                <a:solidFill>
                  <a:schemeClr val="hlink"/>
                </a:solidFill>
                <a:latin typeface="Epilogue"/>
                <a:ea typeface="Epilogue"/>
                <a:cs typeface="Epilogue"/>
                <a:sym typeface="Epilogue"/>
                <a:hlinkClick r:id="rId2"/>
              </a:rPr>
              <a:t>Slidesgo</a:t>
            </a:r>
            <a:r>
              <a:rPr lang="en" sz="1200">
                <a:solidFill>
                  <a:schemeClr val="dk1"/>
                </a:solidFill>
                <a:latin typeface="Epilogue"/>
                <a:ea typeface="Epilogue"/>
                <a:cs typeface="Epilogue"/>
                <a:sym typeface="Epilogue"/>
              </a:rPr>
              <a:t>, and includes icons by </a:t>
            </a:r>
            <a:r>
              <a:rPr b="1" lang="en" sz="1200" u="sng">
                <a:solidFill>
                  <a:schemeClr val="dk1"/>
                </a:solidFill>
                <a:latin typeface="Epilogue"/>
                <a:ea typeface="Epilogue"/>
                <a:cs typeface="Epilogue"/>
                <a:sym typeface="Epilogue"/>
                <a:hlinkClick r:id="rId3">
                  <a:extLst>
                    <a:ext uri="{A12FA001-AC4F-418D-AE19-62706E023703}">
                      <ahyp:hlinkClr val="tx"/>
                    </a:ext>
                  </a:extLst>
                </a:hlinkClick>
              </a:rPr>
              <a:t>Flaticon</a:t>
            </a:r>
            <a:r>
              <a:rPr lang="en" sz="1200">
                <a:solidFill>
                  <a:schemeClr val="dk1"/>
                </a:solidFill>
                <a:latin typeface="Epilogue"/>
                <a:ea typeface="Epilogue"/>
                <a:cs typeface="Epilogue"/>
                <a:sym typeface="Epilogue"/>
              </a:rPr>
              <a:t>, and infographics &amp; images by </a:t>
            </a:r>
            <a:r>
              <a:rPr b="1" lang="en" sz="1200" u="sng">
                <a:solidFill>
                  <a:schemeClr val="dk1"/>
                </a:solidFill>
                <a:latin typeface="Epilogue"/>
                <a:ea typeface="Epilogue"/>
                <a:cs typeface="Epilogue"/>
                <a:sym typeface="Epilogue"/>
                <a:hlinkClick r:id="rId4">
                  <a:extLst>
                    <a:ext uri="{A12FA001-AC4F-418D-AE19-62706E023703}">
                      <ahyp:hlinkClr val="tx"/>
                    </a:ext>
                  </a:extLst>
                </a:hlinkClick>
              </a:rPr>
              <a:t>Freepik</a:t>
            </a:r>
            <a:r>
              <a:rPr lang="en" sz="1200" u="sng">
                <a:solidFill>
                  <a:schemeClr val="dk1"/>
                </a:solidFill>
                <a:latin typeface="Epilogue"/>
                <a:ea typeface="Epilogue"/>
                <a:cs typeface="Epilogue"/>
                <a:sym typeface="Epilogue"/>
              </a:rPr>
              <a:t> </a:t>
            </a:r>
            <a:endParaRPr b="1" sz="1200" u="sng">
              <a:solidFill>
                <a:schemeClr val="dk1"/>
              </a:solidFill>
              <a:latin typeface="Epilogue"/>
              <a:ea typeface="Epilogue"/>
              <a:cs typeface="Epilogue"/>
              <a:sym typeface="Epilogue"/>
            </a:endParaRPr>
          </a:p>
        </p:txBody>
      </p:sp>
      <p:grpSp>
        <p:nvGrpSpPr>
          <p:cNvPr id="307" name="Google Shape;307;p36"/>
          <p:cNvGrpSpPr/>
          <p:nvPr/>
        </p:nvGrpSpPr>
        <p:grpSpPr>
          <a:xfrm flipH="1" rot="10800000">
            <a:off x="280375" y="186925"/>
            <a:ext cx="8583300" cy="4769475"/>
            <a:chOff x="280375" y="186925"/>
            <a:chExt cx="8583300" cy="4769475"/>
          </a:xfrm>
        </p:grpSpPr>
        <p:grpSp>
          <p:nvGrpSpPr>
            <p:cNvPr id="308" name="Google Shape;308;p36"/>
            <p:cNvGrpSpPr/>
            <p:nvPr/>
          </p:nvGrpSpPr>
          <p:grpSpPr>
            <a:xfrm>
              <a:off x="280375" y="4769500"/>
              <a:ext cx="1287008" cy="186900"/>
              <a:chOff x="280375" y="4769500"/>
              <a:chExt cx="1287008" cy="186900"/>
            </a:xfrm>
          </p:grpSpPr>
          <p:sp>
            <p:nvSpPr>
              <p:cNvPr id="309" name="Google Shape;309;p36"/>
              <p:cNvSpPr/>
              <p:nvPr/>
            </p:nvSpPr>
            <p:spPr>
              <a:xfrm rot="10800000">
                <a:off x="1380483"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0" name="Google Shape;310;p36"/>
              <p:cNvSpPr/>
              <p:nvPr/>
            </p:nvSpPr>
            <p:spPr>
              <a:xfrm rot="10800000">
                <a:off x="1013781"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1" name="Google Shape;311;p36"/>
              <p:cNvSpPr/>
              <p:nvPr/>
            </p:nvSpPr>
            <p:spPr>
              <a:xfrm rot="10800000">
                <a:off x="647078"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2" name="Google Shape;312;p36"/>
              <p:cNvSpPr/>
              <p:nvPr/>
            </p:nvSpPr>
            <p:spPr>
              <a:xfrm rot="10800000">
                <a:off x="280375"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13" name="Google Shape;313;p36"/>
            <p:cNvGrpSpPr/>
            <p:nvPr/>
          </p:nvGrpSpPr>
          <p:grpSpPr>
            <a:xfrm rot="10800000">
              <a:off x="5376450" y="186925"/>
              <a:ext cx="3487225" cy="186900"/>
              <a:chOff x="280375" y="4769500"/>
              <a:chExt cx="3487225" cy="186900"/>
            </a:xfrm>
          </p:grpSpPr>
          <p:sp>
            <p:nvSpPr>
              <p:cNvPr id="314" name="Google Shape;314;p36"/>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5" name="Google Shape;315;p36"/>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6" name="Google Shape;316;p36"/>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7" name="Google Shape;317;p36"/>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8" name="Google Shape;318;p36"/>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9" name="Google Shape;319;p36"/>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0" name="Google Shape;320;p36"/>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1" name="Google Shape;321;p36"/>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2" name="Google Shape;322;p36"/>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3" name="Google Shape;323;p36"/>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24" name="Shape 324"/>
        <p:cNvGrpSpPr/>
        <p:nvPr/>
      </p:nvGrpSpPr>
      <p:grpSpPr>
        <a:xfrm>
          <a:off x="0" y="0"/>
          <a:ext cx="0" cy="0"/>
          <a:chOff x="0" y="0"/>
          <a:chExt cx="0" cy="0"/>
        </a:xfrm>
      </p:grpSpPr>
      <p:grpSp>
        <p:nvGrpSpPr>
          <p:cNvPr id="325" name="Google Shape;325;p37"/>
          <p:cNvGrpSpPr/>
          <p:nvPr/>
        </p:nvGrpSpPr>
        <p:grpSpPr>
          <a:xfrm>
            <a:off x="2828413" y="186925"/>
            <a:ext cx="3487225" cy="4769475"/>
            <a:chOff x="2828413" y="186925"/>
            <a:chExt cx="3487225" cy="4769475"/>
          </a:xfrm>
        </p:grpSpPr>
        <p:grpSp>
          <p:nvGrpSpPr>
            <p:cNvPr id="326" name="Google Shape;326;p37"/>
            <p:cNvGrpSpPr/>
            <p:nvPr/>
          </p:nvGrpSpPr>
          <p:grpSpPr>
            <a:xfrm>
              <a:off x="2828413" y="186925"/>
              <a:ext cx="3487225" cy="186900"/>
              <a:chOff x="5376450" y="186925"/>
              <a:chExt cx="3487225" cy="186900"/>
            </a:xfrm>
          </p:grpSpPr>
          <p:sp>
            <p:nvSpPr>
              <p:cNvPr id="327" name="Google Shape;327;p37"/>
              <p:cNvSpPr/>
              <p:nvPr/>
            </p:nvSpPr>
            <p:spPr>
              <a:xfrm>
                <a:off x="7209964" y="186925"/>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8" name="Google Shape;328;p37"/>
              <p:cNvSpPr/>
              <p:nvPr/>
            </p:nvSpPr>
            <p:spPr>
              <a:xfrm>
                <a:off x="7576667" y="186925"/>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9" name="Google Shape;329;p37"/>
              <p:cNvSpPr/>
              <p:nvPr/>
            </p:nvSpPr>
            <p:spPr>
              <a:xfrm>
                <a:off x="7943369" y="186925"/>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0" name="Google Shape;330;p37"/>
              <p:cNvSpPr/>
              <p:nvPr/>
            </p:nvSpPr>
            <p:spPr>
              <a:xfrm>
                <a:off x="8310072" y="186925"/>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1" name="Google Shape;331;p37"/>
              <p:cNvSpPr/>
              <p:nvPr/>
            </p:nvSpPr>
            <p:spPr>
              <a:xfrm>
                <a:off x="8676775" y="186925"/>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2" name="Google Shape;332;p37"/>
              <p:cNvSpPr/>
              <p:nvPr/>
            </p:nvSpPr>
            <p:spPr>
              <a:xfrm>
                <a:off x="5376450"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3" name="Google Shape;333;p37"/>
              <p:cNvSpPr/>
              <p:nvPr/>
            </p:nvSpPr>
            <p:spPr>
              <a:xfrm>
                <a:off x="5743153"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4" name="Google Shape;334;p37"/>
              <p:cNvSpPr/>
              <p:nvPr/>
            </p:nvSpPr>
            <p:spPr>
              <a:xfrm>
                <a:off x="6109856"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5" name="Google Shape;335;p37"/>
              <p:cNvSpPr/>
              <p:nvPr/>
            </p:nvSpPr>
            <p:spPr>
              <a:xfrm>
                <a:off x="6476558"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6" name="Google Shape;336;p37"/>
              <p:cNvSpPr/>
              <p:nvPr/>
            </p:nvSpPr>
            <p:spPr>
              <a:xfrm>
                <a:off x="6843261" y="186925"/>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37" name="Google Shape;337;p37"/>
            <p:cNvGrpSpPr/>
            <p:nvPr/>
          </p:nvGrpSpPr>
          <p:grpSpPr>
            <a:xfrm>
              <a:off x="2828413" y="4769500"/>
              <a:ext cx="3487225" cy="186900"/>
              <a:chOff x="280375" y="4769500"/>
              <a:chExt cx="3487225" cy="186900"/>
            </a:xfrm>
          </p:grpSpPr>
          <p:sp>
            <p:nvSpPr>
              <p:cNvPr id="338" name="Google Shape;338;p37"/>
              <p:cNvSpPr/>
              <p:nvPr/>
            </p:nvSpPr>
            <p:spPr>
              <a:xfrm flipH="1">
                <a:off x="1747186"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9" name="Google Shape;339;p37"/>
              <p:cNvSpPr/>
              <p:nvPr/>
            </p:nvSpPr>
            <p:spPr>
              <a:xfrm flipH="1">
                <a:off x="1380483"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0" name="Google Shape;340;p37"/>
              <p:cNvSpPr/>
              <p:nvPr/>
            </p:nvSpPr>
            <p:spPr>
              <a:xfrm flipH="1">
                <a:off x="1013781" y="4769500"/>
                <a:ext cx="186900" cy="186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1" name="Google Shape;341;p37"/>
              <p:cNvSpPr/>
              <p:nvPr/>
            </p:nvSpPr>
            <p:spPr>
              <a:xfrm flipH="1">
                <a:off x="647078"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2" name="Google Shape;342;p37"/>
              <p:cNvSpPr/>
              <p:nvPr/>
            </p:nvSpPr>
            <p:spPr>
              <a:xfrm flipH="1">
                <a:off x="280375"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3" name="Google Shape;343;p37"/>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4" name="Google Shape;344;p37"/>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5" name="Google Shape;345;p37"/>
              <p:cNvSpPr/>
              <p:nvPr/>
            </p:nvSpPr>
            <p:spPr>
              <a:xfrm flipH="1">
                <a:off x="2847294"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6" name="Google Shape;346;p37"/>
              <p:cNvSpPr/>
              <p:nvPr/>
            </p:nvSpPr>
            <p:spPr>
              <a:xfrm flipH="1">
                <a:off x="2480592"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47" name="Google Shape;347;p37"/>
              <p:cNvSpPr/>
              <p:nvPr/>
            </p:nvSpPr>
            <p:spPr>
              <a:xfrm flipH="1">
                <a:off x="2113889"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48" name="Shape 348"/>
        <p:cNvGrpSpPr/>
        <p:nvPr/>
      </p:nvGrpSpPr>
      <p:grpSpPr>
        <a:xfrm>
          <a:off x="0" y="0"/>
          <a:ext cx="0" cy="0"/>
          <a:chOff x="0" y="0"/>
          <a:chExt cx="0" cy="0"/>
        </a:xfrm>
      </p:grpSpPr>
      <p:grpSp>
        <p:nvGrpSpPr>
          <p:cNvPr id="349" name="Google Shape;349;p38"/>
          <p:cNvGrpSpPr/>
          <p:nvPr/>
        </p:nvGrpSpPr>
        <p:grpSpPr>
          <a:xfrm>
            <a:off x="280300" y="186472"/>
            <a:ext cx="8584025" cy="4769794"/>
            <a:chOff x="280300" y="186472"/>
            <a:chExt cx="8584025" cy="4769794"/>
          </a:xfrm>
        </p:grpSpPr>
        <p:grpSp>
          <p:nvGrpSpPr>
            <p:cNvPr id="350" name="Google Shape;350;p38"/>
            <p:cNvGrpSpPr/>
            <p:nvPr/>
          </p:nvGrpSpPr>
          <p:grpSpPr>
            <a:xfrm rot="-5400000">
              <a:off x="8122265" y="741631"/>
              <a:ext cx="1297219" cy="186900"/>
              <a:chOff x="280300" y="186475"/>
              <a:chExt cx="1297219" cy="186900"/>
            </a:xfrm>
          </p:grpSpPr>
          <p:grpSp>
            <p:nvGrpSpPr>
              <p:cNvPr id="351" name="Google Shape;351;p38"/>
              <p:cNvGrpSpPr/>
              <p:nvPr/>
            </p:nvGrpSpPr>
            <p:grpSpPr>
              <a:xfrm flipH="1">
                <a:off x="280300" y="186475"/>
                <a:ext cx="553603" cy="186900"/>
                <a:chOff x="3213997" y="4769500"/>
                <a:chExt cx="553603" cy="186900"/>
              </a:xfrm>
            </p:grpSpPr>
            <p:sp>
              <p:nvSpPr>
                <p:cNvPr id="352" name="Google Shape;352;p3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3" name="Google Shape;353;p3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54" name="Google Shape;354;p38"/>
              <p:cNvGrpSpPr/>
              <p:nvPr/>
            </p:nvGrpSpPr>
            <p:grpSpPr>
              <a:xfrm flipH="1">
                <a:off x="1023916" y="186475"/>
                <a:ext cx="553603" cy="186900"/>
                <a:chOff x="3213997" y="4769500"/>
                <a:chExt cx="553603" cy="186900"/>
              </a:xfrm>
            </p:grpSpPr>
            <p:sp>
              <p:nvSpPr>
                <p:cNvPr id="355" name="Google Shape;355;p38"/>
                <p:cNvSpPr/>
                <p:nvPr/>
              </p:nvSpPr>
              <p:spPr>
                <a:xfrm flipH="1">
                  <a:off x="3580700" y="4769500"/>
                  <a:ext cx="186900" cy="186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56" name="Google Shape;356;p38"/>
                <p:cNvSpPr/>
                <p:nvPr/>
              </p:nvSpPr>
              <p:spPr>
                <a:xfrm flipH="1">
                  <a:off x="3213997" y="4769500"/>
                  <a:ext cx="186900" cy="186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nvGrpSpPr>
            <p:cNvPr id="357" name="Google Shape;357;p38"/>
            <p:cNvGrpSpPr/>
            <p:nvPr/>
          </p:nvGrpSpPr>
          <p:grpSpPr>
            <a:xfrm flipH="1" rot="-5400000">
              <a:off x="-274860" y="4214206"/>
              <a:ext cx="1297219" cy="186900"/>
              <a:chOff x="280300" y="186475"/>
              <a:chExt cx="1297219" cy="186900"/>
            </a:xfrm>
          </p:grpSpPr>
          <p:grpSp>
            <p:nvGrpSpPr>
              <p:cNvPr id="358" name="Google Shape;358;p38"/>
              <p:cNvGrpSpPr/>
              <p:nvPr/>
            </p:nvGrpSpPr>
            <p:grpSpPr>
              <a:xfrm flipH="1">
                <a:off x="280300" y="186475"/>
                <a:ext cx="553603" cy="186900"/>
                <a:chOff x="3213997" y="4769500"/>
                <a:chExt cx="553603" cy="186900"/>
              </a:xfrm>
            </p:grpSpPr>
            <p:sp>
              <p:nvSpPr>
                <p:cNvPr id="359" name="Google Shape;359;p38"/>
                <p:cNvSpPr/>
                <p:nvPr/>
              </p:nvSpPr>
              <p:spPr>
                <a:xfrm flipH="1">
                  <a:off x="3580700"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0" name="Google Shape;360;p38"/>
                <p:cNvSpPr/>
                <p:nvPr/>
              </p:nvSpPr>
              <p:spPr>
                <a:xfrm flipH="1">
                  <a:off x="3213997" y="4769500"/>
                  <a:ext cx="186900" cy="1869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nvGrpSpPr>
              <p:cNvPr id="361" name="Google Shape;361;p38"/>
              <p:cNvGrpSpPr/>
              <p:nvPr/>
            </p:nvGrpSpPr>
            <p:grpSpPr>
              <a:xfrm flipH="1">
                <a:off x="1023916" y="186475"/>
                <a:ext cx="553603" cy="186900"/>
                <a:chOff x="3213997" y="4769500"/>
                <a:chExt cx="553603" cy="186900"/>
              </a:xfrm>
            </p:grpSpPr>
            <p:sp>
              <p:nvSpPr>
                <p:cNvPr id="362" name="Google Shape;362;p38"/>
                <p:cNvSpPr/>
                <p:nvPr/>
              </p:nvSpPr>
              <p:spPr>
                <a:xfrm flipH="1">
                  <a:off x="3580700" y="4769500"/>
                  <a:ext cx="186900" cy="186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63" name="Google Shape;363;p38"/>
                <p:cNvSpPr/>
                <p:nvPr/>
              </p:nvSpPr>
              <p:spPr>
                <a:xfrm flipH="1">
                  <a:off x="3213997" y="4769500"/>
                  <a:ext cx="186900" cy="1869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theme" Target="../theme/theme1.xml"/><Relationship Id="rId25" Type="http://schemas.openxmlformats.org/officeDocument/2006/relationships/slideLayout" Target="../slideLayouts/slideLayout36.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1pPr>
            <a:lvl2pPr lvl="1"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2pPr>
            <a:lvl3pPr lvl="2"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3pPr>
            <a:lvl4pPr lvl="3"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4pPr>
            <a:lvl5pPr lvl="4"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5pPr>
            <a:lvl6pPr lvl="5"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6pPr>
            <a:lvl7pPr lvl="6"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7pPr>
            <a:lvl8pPr lvl="7"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8pPr>
            <a:lvl9pPr lvl="8" rtl="0">
              <a:spcBef>
                <a:spcPts val="0"/>
              </a:spcBef>
              <a:spcAft>
                <a:spcPts val="0"/>
              </a:spcAft>
              <a:buClr>
                <a:schemeClr val="dk1"/>
              </a:buClr>
              <a:buSzPts val="2300"/>
              <a:buFont typeface="Lexend Mega Black"/>
              <a:buNone/>
              <a:defRPr sz="2300">
                <a:solidFill>
                  <a:schemeClr val="dk1"/>
                </a:solidFill>
                <a:latin typeface="Lexend Mega Black"/>
                <a:ea typeface="Lexend Mega Black"/>
                <a:cs typeface="Lexend Mega Black"/>
                <a:sym typeface="Lexend Mega Black"/>
              </a:defRPr>
            </a:lvl9pPr>
          </a:lstStyle>
          <a:p/>
        </p:txBody>
      </p:sp>
      <p:sp>
        <p:nvSpPr>
          <p:cNvPr id="52" name="Google Shape;52;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1pPr>
            <a:lvl2pPr indent="-304800" lvl="1" marL="914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2pPr>
            <a:lvl3pPr indent="-304800" lvl="2" marL="1371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3pPr>
            <a:lvl4pPr indent="-304800" lvl="3" marL="18288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4pPr>
            <a:lvl5pPr indent="-304800" lvl="4" marL="22860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5pPr>
            <a:lvl6pPr indent="-304800" lvl="5" marL="27432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6pPr>
            <a:lvl7pPr indent="-304800" lvl="6" marL="32004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7pPr>
            <a:lvl8pPr indent="-304800" lvl="7" marL="3657600">
              <a:lnSpc>
                <a:spcPct val="100000"/>
              </a:lnSpc>
              <a:spcBef>
                <a:spcPts val="1600"/>
              </a:spcBef>
              <a:spcAft>
                <a:spcPts val="0"/>
              </a:spcAft>
              <a:buClr>
                <a:schemeClr val="dk1"/>
              </a:buClr>
              <a:buSzPts val="1200"/>
              <a:buFont typeface="Epilogue"/>
              <a:buChar char="○"/>
              <a:defRPr sz="1200">
                <a:solidFill>
                  <a:schemeClr val="dk1"/>
                </a:solidFill>
                <a:latin typeface="Epilogue"/>
                <a:ea typeface="Epilogue"/>
                <a:cs typeface="Epilogue"/>
                <a:sym typeface="Epilogue"/>
              </a:defRPr>
            </a:lvl8pPr>
            <a:lvl9pPr indent="-304800" lvl="8" marL="4114800">
              <a:lnSpc>
                <a:spcPct val="100000"/>
              </a:lnSpc>
              <a:spcBef>
                <a:spcPts val="1600"/>
              </a:spcBef>
              <a:spcAft>
                <a:spcPts val="1600"/>
              </a:spcAft>
              <a:buClr>
                <a:schemeClr val="dk1"/>
              </a:buClr>
              <a:buSzPts val="1200"/>
              <a:buFont typeface="Epilogue"/>
              <a:buChar char="■"/>
              <a:defRPr sz="1200">
                <a:solidFill>
                  <a:schemeClr val="dk1"/>
                </a:solidFill>
                <a:latin typeface="Epilogue"/>
                <a:ea typeface="Epilogue"/>
                <a:cs typeface="Epilogue"/>
                <a:sym typeface="Epilogu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4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0.xml"/><Relationship Id="rId3" Type="http://schemas.openxmlformats.org/officeDocument/2006/relationships/image" Target="../media/image21.jpg"/><Relationship Id="rId4" Type="http://schemas.openxmlformats.org/officeDocument/2006/relationships/image" Target="../media/image20.png"/><Relationship Id="rId9" Type="http://schemas.openxmlformats.org/officeDocument/2006/relationships/image" Target="../media/image27.jpg"/><Relationship Id="rId5" Type="http://schemas.openxmlformats.org/officeDocument/2006/relationships/image" Target="../media/image19.png"/><Relationship Id="rId6" Type="http://schemas.openxmlformats.org/officeDocument/2006/relationships/image" Target="../media/image41.jpg"/><Relationship Id="rId7" Type="http://schemas.openxmlformats.org/officeDocument/2006/relationships/image" Target="../media/image26.jpg"/><Relationship Id="rId8" Type="http://schemas.openxmlformats.org/officeDocument/2006/relationships/image" Target="../media/image22.jpg"/><Relationship Id="rId10" Type="http://schemas.openxmlformats.org/officeDocument/2006/relationships/image" Target="../media/image4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 Id="rId3" Type="http://schemas.openxmlformats.org/officeDocument/2006/relationships/image" Target="../media/image25.jpg"/><Relationship Id="rId4" Type="http://schemas.openxmlformats.org/officeDocument/2006/relationships/image" Target="../media/image29.jpg"/><Relationship Id="rId5" Type="http://schemas.openxmlformats.org/officeDocument/2006/relationships/image" Target="../media/image24.jpg"/><Relationship Id="rId6"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8.xml"/><Relationship Id="rId3" Type="http://schemas.openxmlformats.org/officeDocument/2006/relationships/image" Target="../media/image31.jpg"/><Relationship Id="rId4" Type="http://schemas.openxmlformats.org/officeDocument/2006/relationships/image" Target="../media/image29.jpg"/><Relationship Id="rId9" Type="http://schemas.openxmlformats.org/officeDocument/2006/relationships/image" Target="../media/image38.jpg"/><Relationship Id="rId5" Type="http://schemas.openxmlformats.org/officeDocument/2006/relationships/image" Target="../media/image30.jpg"/><Relationship Id="rId6" Type="http://schemas.openxmlformats.org/officeDocument/2006/relationships/image" Target="../media/image24.jpg"/><Relationship Id="rId7" Type="http://schemas.openxmlformats.org/officeDocument/2006/relationships/image" Target="../media/image32.jpg"/><Relationship Id="rId8" Type="http://schemas.openxmlformats.org/officeDocument/2006/relationships/image" Target="../media/image28.jpg"/><Relationship Id="rId10"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9.xml"/><Relationship Id="rId3" Type="http://schemas.openxmlformats.org/officeDocument/2006/relationships/image" Target="../media/image29.jpg"/><Relationship Id="rId4" Type="http://schemas.openxmlformats.org/officeDocument/2006/relationships/image" Target="../media/image24.jpg"/><Relationship Id="rId5" Type="http://schemas.openxmlformats.org/officeDocument/2006/relationships/image" Target="../media/image28.jpg"/><Relationship Id="rId6" Type="http://schemas.openxmlformats.org/officeDocument/2006/relationships/image" Target="../media/image39.jpg"/><Relationship Id="rId7"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2.xml"/><Relationship Id="rId3" Type="http://schemas.openxmlformats.org/officeDocument/2006/relationships/hyperlink" Target="https://beta-i.com/ethical-design-what-is-it-and-why-is-it-important-for-innovator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7.xml"/><Relationship Id="rId3" Type="http://schemas.openxmlformats.org/officeDocument/2006/relationships/image" Target="../media/image37.jpg"/><Relationship Id="rId4" Type="http://schemas.openxmlformats.org/officeDocument/2006/relationships/image" Target="../media/image51.jpg"/><Relationship Id="rId5" Type="http://schemas.openxmlformats.org/officeDocument/2006/relationships/image" Target="../media/image50.jpg"/><Relationship Id="rId6" Type="http://schemas.openxmlformats.org/officeDocument/2006/relationships/image" Target="../media/image56.jpg"/><Relationship Id="rId7"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9.xml"/><Relationship Id="rId3" Type="http://schemas.openxmlformats.org/officeDocument/2006/relationships/image" Target="../media/image5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4.xml"/><Relationship Id="rId3" Type="http://schemas.openxmlformats.org/officeDocument/2006/relationships/hyperlink" Target="https://beta-i.com/ethical-design-what-is-it-and-why-is-it-important-for-innovator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8.xml"/><Relationship Id="rId3" Type="http://schemas.openxmlformats.org/officeDocument/2006/relationships/image" Target="../media/image55.jpg"/><Relationship Id="rId4" Type="http://schemas.openxmlformats.org/officeDocument/2006/relationships/image" Target="../media/image1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9.xml"/><Relationship Id="rId3" Type="http://schemas.openxmlformats.org/officeDocument/2006/relationships/image" Target="../media/image3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0.xml"/><Relationship Id="rId3" Type="http://schemas.openxmlformats.org/officeDocument/2006/relationships/image" Target="../media/image57.jpg"/><Relationship Id="rId4" Type="http://schemas.openxmlformats.org/officeDocument/2006/relationships/image" Target="../media/image52.jpg"/><Relationship Id="rId5"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1.xml"/><Relationship Id="rId3" Type="http://schemas.openxmlformats.org/officeDocument/2006/relationships/image" Target="../media/image57.jpg"/><Relationship Id="rId4" Type="http://schemas.openxmlformats.org/officeDocument/2006/relationships/image" Target="../media/image52.jpg"/><Relationship Id="rId5"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2.xml"/><Relationship Id="rId3" Type="http://schemas.openxmlformats.org/officeDocument/2006/relationships/image" Target="../media/image3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9.xml"/><Relationship Id="rId3" Type="http://schemas.openxmlformats.org/officeDocument/2006/relationships/hyperlink" Target="https://beta-i.com/ethical-design-what-is-it-and-why-is-it-important-for-innovators/"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1.xml"/><Relationship Id="rId3" Type="http://schemas.openxmlformats.org/officeDocument/2006/relationships/image" Target="../media/image3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4.xml"/><Relationship Id="rId3" Type="http://schemas.openxmlformats.org/officeDocument/2006/relationships/image" Target="../media/image3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8.xml"/><Relationship Id="rId3" Type="http://schemas.openxmlformats.org/officeDocument/2006/relationships/hyperlink" Target="https://beta-i.com/ethical-design-what-is-it-and-why-is-it-important-for-innovators/"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 Id="rId3" Type="http://schemas.openxmlformats.org/officeDocument/2006/relationships/image" Target="../media/image47.jpg"/><Relationship Id="rId4" Type="http://schemas.openxmlformats.org/officeDocument/2006/relationships/image" Target="../media/image42.jpg"/><Relationship Id="rId5" Type="http://schemas.openxmlformats.org/officeDocument/2006/relationships/image" Target="../media/image53.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 Id="rId3" Type="http://schemas.openxmlformats.org/officeDocument/2006/relationships/image" Target="../media/image63.png"/><Relationship Id="rId4" Type="http://schemas.openxmlformats.org/officeDocument/2006/relationships/image" Target="../media/image58.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 Id="rId3" Type="http://schemas.openxmlformats.org/officeDocument/2006/relationships/image" Target="../media/image54.jpg"/><Relationship Id="rId4" Type="http://schemas.openxmlformats.org/officeDocument/2006/relationships/image" Target="../media/image5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 Id="rId3" Type="http://schemas.openxmlformats.org/officeDocument/2006/relationships/image" Target="../media/image43.png"/><Relationship Id="rId4" Type="http://schemas.openxmlformats.org/officeDocument/2006/relationships/image" Target="../media/image45.png"/><Relationship Id="rId5" Type="http://schemas.openxmlformats.org/officeDocument/2006/relationships/image" Target="../media/image4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60.jpg"/><Relationship Id="rId4" Type="http://schemas.openxmlformats.org/officeDocument/2006/relationships/image" Target="../media/image62.jpg"/><Relationship Id="rId5" Type="http://schemas.openxmlformats.org/officeDocument/2006/relationships/image" Target="../media/image6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 Id="rId3"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9"/>
          <p:cNvSpPr txBox="1"/>
          <p:nvPr>
            <p:ph type="ctrTitle"/>
          </p:nvPr>
        </p:nvSpPr>
        <p:spPr>
          <a:xfrm>
            <a:off x="1028700" y="1135656"/>
            <a:ext cx="7086600" cy="2872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latin typeface="Lexend Mega Black"/>
                <a:ea typeface="Lexend Mega Black"/>
                <a:cs typeface="Lexend Mega Black"/>
                <a:sym typeface="Lexend Mega Black"/>
              </a:rPr>
              <a:t>Meaning from </a:t>
            </a:r>
            <a:r>
              <a:rPr b="1" lang="en" sz="10000">
                <a:latin typeface="Caveat"/>
                <a:ea typeface="Caveat"/>
                <a:cs typeface="Caveat"/>
                <a:sym typeface="Caveat"/>
              </a:rPr>
              <a:t>Craft</a:t>
            </a:r>
            <a:endParaRPr sz="10000">
              <a:latin typeface="Caveat"/>
              <a:ea typeface="Caveat"/>
              <a:cs typeface="Caveat"/>
              <a:sym typeface="Cave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374" name="Google Shape;374;p40"/>
          <p:cNvSpPr txBox="1"/>
          <p:nvPr/>
        </p:nvSpPr>
        <p:spPr>
          <a:xfrm>
            <a:off x="2400700" y="3331375"/>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Elsa</a:t>
            </a:r>
            <a:endParaRPr b="1" i="1" sz="1720">
              <a:solidFill>
                <a:srgbClr val="000000"/>
              </a:solidFill>
            </a:endParaRPr>
          </a:p>
          <a:p>
            <a:pPr indent="0" lvl="0" marL="0" rtl="0" algn="ctr">
              <a:spcBef>
                <a:spcPts val="0"/>
              </a:spcBef>
              <a:spcAft>
                <a:spcPts val="0"/>
              </a:spcAft>
              <a:buNone/>
            </a:pPr>
            <a:r>
              <a:rPr i="1" lang="en" sz="1164">
                <a:solidFill>
                  <a:srgbClr val="000000"/>
                </a:solidFill>
              </a:rPr>
              <a:t>BS Design</a:t>
            </a:r>
            <a:endParaRPr i="1" sz="1164">
              <a:solidFill>
                <a:srgbClr val="000000"/>
              </a:solidFill>
            </a:endParaRPr>
          </a:p>
          <a:p>
            <a:pPr indent="0" lvl="0" marL="0" rtl="0" algn="ctr">
              <a:spcBef>
                <a:spcPts val="0"/>
              </a:spcBef>
              <a:spcAft>
                <a:spcPts val="0"/>
              </a:spcAft>
              <a:buNone/>
            </a:pPr>
            <a:r>
              <a:rPr i="1" lang="en" sz="1164">
                <a:solidFill>
                  <a:srgbClr val="000000"/>
                </a:solidFill>
              </a:rPr>
              <a:t>MS HCI</a:t>
            </a:r>
            <a:endParaRPr i="1" sz="1164">
              <a:solidFill>
                <a:srgbClr val="000000"/>
              </a:solidFill>
            </a:endParaRPr>
          </a:p>
        </p:txBody>
      </p:sp>
      <p:pic>
        <p:nvPicPr>
          <p:cNvPr id="375" name="Google Shape;375;p40"/>
          <p:cNvPicPr preferRelativeResize="0"/>
          <p:nvPr/>
        </p:nvPicPr>
        <p:blipFill>
          <a:blip r:embed="rId3">
            <a:alphaModFix/>
          </a:blip>
          <a:stretch>
            <a:fillRect/>
          </a:stretch>
        </p:blipFill>
        <p:spPr>
          <a:xfrm>
            <a:off x="2483275" y="1360475"/>
            <a:ext cx="1691942" cy="1993050"/>
          </a:xfrm>
          <a:prstGeom prst="rect">
            <a:avLst/>
          </a:prstGeom>
          <a:noFill/>
          <a:ln>
            <a:noFill/>
          </a:ln>
        </p:spPr>
      </p:pic>
      <p:pic>
        <p:nvPicPr>
          <p:cNvPr id="376" name="Google Shape;376;p40"/>
          <p:cNvPicPr preferRelativeResize="0"/>
          <p:nvPr/>
        </p:nvPicPr>
        <p:blipFill>
          <a:blip r:embed="rId4">
            <a:alphaModFix/>
          </a:blip>
          <a:stretch>
            <a:fillRect/>
          </a:stretch>
        </p:blipFill>
        <p:spPr>
          <a:xfrm>
            <a:off x="4491288" y="1371829"/>
            <a:ext cx="1716900" cy="2029721"/>
          </a:xfrm>
          <a:prstGeom prst="rect">
            <a:avLst/>
          </a:prstGeom>
          <a:noFill/>
          <a:ln>
            <a:noFill/>
          </a:ln>
        </p:spPr>
      </p:pic>
      <p:pic>
        <p:nvPicPr>
          <p:cNvPr id="377" name="Google Shape;377;p40"/>
          <p:cNvPicPr preferRelativeResize="0"/>
          <p:nvPr/>
        </p:nvPicPr>
        <p:blipFill>
          <a:blip r:embed="rId5">
            <a:alphaModFix/>
          </a:blip>
          <a:stretch>
            <a:fillRect/>
          </a:stretch>
        </p:blipFill>
        <p:spPr>
          <a:xfrm>
            <a:off x="475250" y="1381178"/>
            <a:ext cx="1691950" cy="1982197"/>
          </a:xfrm>
          <a:prstGeom prst="rect">
            <a:avLst/>
          </a:prstGeom>
          <a:noFill/>
          <a:ln>
            <a:noFill/>
          </a:ln>
        </p:spPr>
      </p:pic>
      <p:pic>
        <p:nvPicPr>
          <p:cNvPr id="378" name="Google Shape;378;p40"/>
          <p:cNvPicPr preferRelativeResize="0"/>
          <p:nvPr/>
        </p:nvPicPr>
        <p:blipFill>
          <a:blip r:embed="rId6">
            <a:alphaModFix/>
          </a:blip>
          <a:stretch>
            <a:fillRect/>
          </a:stretch>
        </p:blipFill>
        <p:spPr>
          <a:xfrm>
            <a:off x="6524250" y="1371825"/>
            <a:ext cx="1752296" cy="2029725"/>
          </a:xfrm>
          <a:prstGeom prst="rect">
            <a:avLst/>
          </a:prstGeom>
          <a:noFill/>
          <a:ln>
            <a:noFill/>
          </a:ln>
        </p:spPr>
      </p:pic>
      <p:sp>
        <p:nvSpPr>
          <p:cNvPr id="379" name="Google Shape;379;p40"/>
          <p:cNvSpPr txBox="1"/>
          <p:nvPr/>
        </p:nvSpPr>
        <p:spPr>
          <a:xfrm>
            <a:off x="4560288" y="3371325"/>
            <a:ext cx="1578900" cy="8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990"/>
              <a:buFont typeface="Arial"/>
              <a:buNone/>
            </a:pPr>
            <a:r>
              <a:rPr b="1" i="1" lang="en" sz="1720">
                <a:solidFill>
                  <a:srgbClr val="000000"/>
                </a:solidFill>
              </a:rPr>
              <a:t>Jia</a:t>
            </a:r>
            <a:endParaRPr b="1" i="1" sz="1720">
              <a:solidFill>
                <a:srgbClr val="000000"/>
              </a:solidFill>
            </a:endParaRPr>
          </a:p>
          <a:p>
            <a:pPr indent="0" lvl="0" marL="0" rtl="0" algn="ctr">
              <a:spcBef>
                <a:spcPts val="0"/>
              </a:spcBef>
              <a:spcAft>
                <a:spcPts val="0"/>
              </a:spcAft>
              <a:buClr>
                <a:srgbClr val="000000"/>
              </a:buClr>
              <a:buSzPts val="990"/>
              <a:buFont typeface="Arial"/>
              <a:buNone/>
            </a:pPr>
            <a:r>
              <a:rPr i="1" lang="en" sz="1164">
                <a:solidFill>
                  <a:srgbClr val="000000"/>
                </a:solidFill>
              </a:rPr>
              <a:t>BS Design</a:t>
            </a:r>
            <a:endParaRPr i="1" sz="1164">
              <a:solidFill>
                <a:srgbClr val="000000"/>
              </a:solidFill>
            </a:endParaRPr>
          </a:p>
          <a:p>
            <a:pPr indent="0" lvl="0" marL="0" rtl="0" algn="ctr">
              <a:spcBef>
                <a:spcPts val="0"/>
              </a:spcBef>
              <a:spcAft>
                <a:spcPts val="0"/>
              </a:spcAft>
              <a:buNone/>
            </a:pPr>
            <a:r>
              <a:rPr i="1" lang="en" sz="1164">
                <a:solidFill>
                  <a:srgbClr val="000000"/>
                </a:solidFill>
              </a:rPr>
              <a:t>MS HCI</a:t>
            </a:r>
            <a:endParaRPr sz="1800">
              <a:solidFill>
                <a:srgbClr val="595959"/>
              </a:solidFill>
            </a:endParaRPr>
          </a:p>
        </p:txBody>
      </p:sp>
      <p:sp>
        <p:nvSpPr>
          <p:cNvPr id="380" name="Google Shape;380;p40"/>
          <p:cNvSpPr txBox="1"/>
          <p:nvPr/>
        </p:nvSpPr>
        <p:spPr>
          <a:xfrm>
            <a:off x="450300" y="3331375"/>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Ahyan</a:t>
            </a:r>
            <a:endParaRPr b="1" i="1" sz="1720">
              <a:solidFill>
                <a:srgbClr val="000000"/>
              </a:solidFill>
            </a:endParaRPr>
          </a:p>
          <a:p>
            <a:pPr indent="0" lvl="0" marL="0" rtl="0" algn="ctr">
              <a:spcBef>
                <a:spcPts val="0"/>
              </a:spcBef>
              <a:spcAft>
                <a:spcPts val="0"/>
              </a:spcAft>
              <a:buNone/>
            </a:pPr>
            <a:r>
              <a:rPr i="1" lang="en" sz="1164">
                <a:solidFill>
                  <a:srgbClr val="000000"/>
                </a:solidFill>
              </a:rPr>
              <a:t>BS </a:t>
            </a:r>
            <a:r>
              <a:rPr i="1" lang="en" sz="1164"/>
              <a:t>CS</a:t>
            </a:r>
            <a:endParaRPr i="1" sz="1164">
              <a:solidFill>
                <a:srgbClr val="000000"/>
              </a:solidFill>
            </a:endParaRPr>
          </a:p>
        </p:txBody>
      </p:sp>
      <p:sp>
        <p:nvSpPr>
          <p:cNvPr id="381" name="Google Shape;381;p40"/>
          <p:cNvSpPr txBox="1"/>
          <p:nvPr/>
        </p:nvSpPr>
        <p:spPr>
          <a:xfrm>
            <a:off x="6541950" y="3401550"/>
            <a:ext cx="1716900" cy="878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i="1" lang="en" sz="1720">
                <a:solidFill>
                  <a:srgbClr val="000000"/>
                </a:solidFill>
              </a:rPr>
              <a:t>Kelly</a:t>
            </a:r>
            <a:endParaRPr b="1" i="1" sz="1720">
              <a:solidFill>
                <a:srgbClr val="000000"/>
              </a:solidFill>
            </a:endParaRPr>
          </a:p>
          <a:p>
            <a:pPr indent="0" lvl="0" marL="0" rtl="0" algn="ctr">
              <a:spcBef>
                <a:spcPts val="0"/>
              </a:spcBef>
              <a:spcAft>
                <a:spcPts val="0"/>
              </a:spcAft>
              <a:buNone/>
            </a:pPr>
            <a:r>
              <a:rPr i="1" lang="en" sz="1164">
                <a:solidFill>
                  <a:srgbClr val="000000"/>
                </a:solidFill>
              </a:rPr>
              <a:t>BS HCI</a:t>
            </a:r>
            <a:endParaRPr i="1" sz="1164">
              <a:solidFill>
                <a:srgbClr val="000000"/>
              </a:solidFill>
            </a:endParaRPr>
          </a:p>
          <a:p>
            <a:pPr indent="0" lvl="0" marL="0" rtl="0" algn="ctr">
              <a:spcBef>
                <a:spcPts val="0"/>
              </a:spcBef>
              <a:spcAft>
                <a:spcPts val="0"/>
              </a:spcAft>
              <a:buNone/>
            </a:pPr>
            <a:r>
              <a:rPr i="1" lang="en" sz="1164">
                <a:solidFill>
                  <a:srgbClr val="000000"/>
                </a:solidFill>
              </a:rPr>
              <a:t>MS AI</a:t>
            </a:r>
            <a:endParaRPr i="1" sz="1164">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OF SECTIONS</a:t>
            </a:r>
            <a:endParaRPr/>
          </a:p>
        </p:txBody>
      </p:sp>
      <p:pic>
        <p:nvPicPr>
          <p:cNvPr id="387" name="Google Shape;387;p41"/>
          <p:cNvPicPr preferRelativeResize="0"/>
          <p:nvPr/>
        </p:nvPicPr>
        <p:blipFill>
          <a:blip r:embed="rId3">
            <a:alphaModFix/>
          </a:blip>
          <a:stretch>
            <a:fillRect/>
          </a:stretch>
        </p:blipFill>
        <p:spPr>
          <a:xfrm>
            <a:off x="792675" y="1754463"/>
            <a:ext cx="7703999" cy="23076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 OVERVIEW</a:t>
            </a:r>
            <a:endParaRPr/>
          </a:p>
        </p:txBody>
      </p:sp>
      <p:pic>
        <p:nvPicPr>
          <p:cNvPr id="393" name="Google Shape;393;p42"/>
          <p:cNvPicPr preferRelativeResize="0"/>
          <p:nvPr/>
        </p:nvPicPr>
        <p:blipFill>
          <a:blip r:embed="rId3">
            <a:alphaModFix/>
          </a:blip>
          <a:stretch>
            <a:fillRect/>
          </a:stretch>
        </p:blipFill>
        <p:spPr>
          <a:xfrm>
            <a:off x="792678" y="1755648"/>
            <a:ext cx="7703999" cy="2307661"/>
          </a:xfrm>
          <a:prstGeom prst="rect">
            <a:avLst/>
          </a:prstGeom>
          <a:noFill/>
          <a:ln>
            <a:noFill/>
          </a:ln>
        </p:spPr>
      </p:pic>
      <p:sp>
        <p:nvSpPr>
          <p:cNvPr id="394" name="Google Shape;394;p42"/>
          <p:cNvSpPr/>
          <p:nvPr/>
        </p:nvSpPr>
        <p:spPr>
          <a:xfrm>
            <a:off x="3550225" y="1806050"/>
            <a:ext cx="4880700" cy="21525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3"/>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u="sng"/>
          </a:p>
          <a:p>
            <a:pPr indent="0" lvl="0" marL="0" rtl="0" algn="ctr">
              <a:spcBef>
                <a:spcPts val="0"/>
              </a:spcBef>
              <a:spcAft>
                <a:spcPts val="0"/>
              </a:spcAft>
              <a:buNone/>
            </a:pPr>
            <a:r>
              <a:rPr lang="en"/>
              <a:t>What Makes Craft Meaningful?</a:t>
            </a:r>
            <a:endParaRPr/>
          </a:p>
        </p:txBody>
      </p:sp>
      <p:sp>
        <p:nvSpPr>
          <p:cNvPr id="400" name="Google Shape;400;p4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NEEDFINDING RECAP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txBox="1"/>
          <p:nvPr>
            <p:ph idx="1" type="subTitle"/>
          </p:nvPr>
        </p:nvSpPr>
        <p:spPr>
          <a:xfrm>
            <a:off x="1704050" y="1337075"/>
            <a:ext cx="5626800" cy="8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u="sng"/>
          </a:p>
          <a:p>
            <a:pPr indent="0" lvl="0" marL="0" rtl="0" algn="ctr">
              <a:spcBef>
                <a:spcPts val="0"/>
              </a:spcBef>
              <a:spcAft>
                <a:spcPts val="0"/>
              </a:spcAft>
              <a:buNone/>
            </a:pPr>
            <a:r>
              <a:rPr lang="en"/>
              <a:t>Meaningful Craft</a:t>
            </a:r>
            <a:endParaRPr/>
          </a:p>
        </p:txBody>
      </p:sp>
      <p:sp>
        <p:nvSpPr>
          <p:cNvPr id="406" name="Google Shape;406;p4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MEANING IS IN THE PROCESS</a:t>
            </a:r>
            <a:endParaRPr/>
          </a:p>
        </p:txBody>
      </p:sp>
      <p:grpSp>
        <p:nvGrpSpPr>
          <p:cNvPr id="407" name="Google Shape;407;p44"/>
          <p:cNvGrpSpPr/>
          <p:nvPr/>
        </p:nvGrpSpPr>
        <p:grpSpPr>
          <a:xfrm>
            <a:off x="3009646" y="2223268"/>
            <a:ext cx="2936442" cy="1488882"/>
            <a:chOff x="2767909" y="2831293"/>
            <a:chExt cx="2936442" cy="1488882"/>
          </a:xfrm>
        </p:grpSpPr>
        <p:pic>
          <p:nvPicPr>
            <p:cNvPr id="408" name="Google Shape;408;p44"/>
            <p:cNvPicPr preferRelativeResize="0"/>
            <p:nvPr/>
          </p:nvPicPr>
          <p:blipFill rotWithShape="1">
            <a:blip r:embed="rId3">
              <a:alphaModFix/>
            </a:blip>
            <a:srcRect b="0" l="0" r="22863" t="21869"/>
            <a:stretch/>
          </p:blipFill>
          <p:spPr>
            <a:xfrm>
              <a:off x="2767909" y="2831293"/>
              <a:ext cx="1469425" cy="1488425"/>
            </a:xfrm>
            <a:prstGeom prst="rect">
              <a:avLst/>
            </a:prstGeom>
            <a:noFill/>
            <a:ln>
              <a:noFill/>
            </a:ln>
          </p:spPr>
        </p:pic>
        <p:pic>
          <p:nvPicPr>
            <p:cNvPr id="409" name="Google Shape;409;p44"/>
            <p:cNvPicPr preferRelativeResize="0"/>
            <p:nvPr/>
          </p:nvPicPr>
          <p:blipFill rotWithShape="1">
            <a:blip r:embed="rId3">
              <a:alphaModFix/>
            </a:blip>
            <a:srcRect b="0" l="0" r="22863" t="21869"/>
            <a:stretch/>
          </p:blipFill>
          <p:spPr>
            <a:xfrm flipH="1">
              <a:off x="4234925" y="2831750"/>
              <a:ext cx="1469425" cy="1488425"/>
            </a:xfrm>
            <a:prstGeom prst="rect">
              <a:avLst/>
            </a:prstGeom>
            <a:noFill/>
            <a:ln>
              <a:noFill/>
            </a:ln>
          </p:spPr>
        </p:pic>
      </p:grpSp>
      <p:sp>
        <p:nvSpPr>
          <p:cNvPr id="410" name="Google Shape;410;p44"/>
          <p:cNvSpPr txBox="1"/>
          <p:nvPr>
            <p:ph idx="1" type="subTitle"/>
          </p:nvPr>
        </p:nvSpPr>
        <p:spPr>
          <a:xfrm>
            <a:off x="1557763" y="3499025"/>
            <a:ext cx="2421600" cy="8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 to start</a:t>
            </a:r>
            <a:endParaRPr/>
          </a:p>
        </p:txBody>
      </p:sp>
      <p:sp>
        <p:nvSpPr>
          <p:cNvPr id="411" name="Google Shape;411;p44"/>
          <p:cNvSpPr txBox="1"/>
          <p:nvPr>
            <p:ph idx="1" type="subTitle"/>
          </p:nvPr>
        </p:nvSpPr>
        <p:spPr>
          <a:xfrm>
            <a:off x="5055538" y="3499025"/>
            <a:ext cx="2421600" cy="88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Freedom to explore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5"/>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ORIGINAL DOMAIN</a:t>
            </a:r>
            <a:endParaRPr/>
          </a:p>
        </p:txBody>
      </p:sp>
      <p:sp>
        <p:nvSpPr>
          <p:cNvPr id="417" name="Google Shape;417;p45"/>
          <p:cNvSpPr txBox="1"/>
          <p:nvPr>
            <p:ph idx="1" type="subTitle"/>
          </p:nvPr>
        </p:nvSpPr>
        <p:spPr>
          <a:xfrm>
            <a:off x="2026950" y="1900025"/>
            <a:ext cx="5090100" cy="212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“Meaning in craft”</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1900"/>
              <a:t>We were initially searching to understand what makes craft feel meaningful.</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6"/>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REFINED DOMAIN</a:t>
            </a:r>
            <a:endParaRPr/>
          </a:p>
        </p:txBody>
      </p:sp>
      <p:sp>
        <p:nvSpPr>
          <p:cNvPr id="423" name="Google Shape;423;p46"/>
          <p:cNvSpPr txBox="1"/>
          <p:nvPr>
            <p:ph idx="1" type="subTitle"/>
          </p:nvPr>
        </p:nvSpPr>
        <p:spPr>
          <a:xfrm>
            <a:off x="2286300" y="1956900"/>
            <a:ext cx="4571400" cy="122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“Staying Engaged in Craft”</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t/>
            </a:r>
            <a:endParaRPr sz="2400"/>
          </a:p>
          <a:p>
            <a:pPr indent="0" lvl="0" marL="0" rtl="0" algn="ctr">
              <a:spcBef>
                <a:spcPts val="0"/>
              </a:spcBef>
              <a:spcAft>
                <a:spcPts val="0"/>
              </a:spcAft>
              <a:buNone/>
            </a:pPr>
            <a:r>
              <a:rPr lang="en" sz="1900"/>
              <a:t>We now focus on what helps people sustain meaning throughout the crafting process.</a:t>
            </a:r>
            <a:endParaRPr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7" name="Shape 427"/>
        <p:cNvGrpSpPr/>
        <p:nvPr/>
      </p:nvGrpSpPr>
      <p:grpSpPr>
        <a:xfrm>
          <a:off x="0" y="0"/>
          <a:ext cx="0" cy="0"/>
          <a:chOff x="0" y="0"/>
          <a:chExt cx="0" cy="0"/>
        </a:xfrm>
      </p:grpSpPr>
      <p:sp>
        <p:nvSpPr>
          <p:cNvPr id="428" name="Google Shape;428;p47"/>
          <p:cNvSpPr txBox="1"/>
          <p:nvPr>
            <p:ph idx="1" type="subTitle"/>
          </p:nvPr>
        </p:nvSpPr>
        <p:spPr>
          <a:xfrm>
            <a:off x="1361100" y="1856675"/>
            <a:ext cx="6421800" cy="188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u="sng"/>
          </a:p>
          <a:p>
            <a:pPr indent="0" lvl="0" marL="0" rtl="0" algn="ctr">
              <a:spcBef>
                <a:spcPts val="0"/>
              </a:spcBef>
              <a:spcAft>
                <a:spcPts val="0"/>
              </a:spcAft>
              <a:buNone/>
            </a:pPr>
            <a:r>
              <a:rPr lang="en"/>
              <a:t>Our interviews from last week focused on </a:t>
            </a:r>
            <a:endParaRPr/>
          </a:p>
          <a:p>
            <a:pPr indent="0" lvl="0" marL="0" rtl="0" algn="ctr">
              <a:spcBef>
                <a:spcPts val="0"/>
              </a:spcBef>
              <a:spcAft>
                <a:spcPts val="0"/>
              </a:spcAft>
              <a:buNone/>
            </a:pPr>
            <a:r>
              <a:rPr b="1" lang="en"/>
              <a:t>seasoned crafters</a:t>
            </a:r>
            <a:r>
              <a:rPr lang="en"/>
              <a:t> </a:t>
            </a:r>
            <a:endParaRPr/>
          </a:p>
          <a:p>
            <a:pPr indent="0" lvl="0" marL="0" rtl="0" algn="ctr">
              <a:spcBef>
                <a:spcPts val="0"/>
              </a:spcBef>
              <a:spcAft>
                <a:spcPts val="0"/>
              </a:spcAft>
              <a:buNone/>
            </a:pPr>
            <a:r>
              <a:rPr lang="en"/>
              <a:t>in their environment</a:t>
            </a:r>
            <a:endParaRPr/>
          </a:p>
        </p:txBody>
      </p:sp>
      <p:sp>
        <p:nvSpPr>
          <p:cNvPr id="429" name="Google Shape;429;p4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NEEDFINDING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8"/>
          <p:cNvSpPr txBox="1"/>
          <p:nvPr>
            <p:ph idx="1" type="subTitle"/>
          </p:nvPr>
        </p:nvSpPr>
        <p:spPr>
          <a:xfrm>
            <a:off x="1064850" y="1856675"/>
            <a:ext cx="7014300" cy="196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Now we wanted to look at </a:t>
            </a:r>
            <a:endParaRPr/>
          </a:p>
          <a:p>
            <a:pPr indent="0" lvl="0" marL="0" rtl="0" algn="ctr">
              <a:spcBef>
                <a:spcPts val="0"/>
              </a:spcBef>
              <a:spcAft>
                <a:spcPts val="0"/>
              </a:spcAft>
              <a:buNone/>
            </a:pPr>
            <a:r>
              <a:rPr b="1" lang="en"/>
              <a:t>everyday people</a:t>
            </a:r>
            <a:r>
              <a:rPr lang="en"/>
              <a:t>, </a:t>
            </a:r>
            <a:endParaRPr/>
          </a:p>
          <a:p>
            <a:pPr indent="0" lvl="0" marL="0" rtl="0" algn="ctr">
              <a:spcBef>
                <a:spcPts val="0"/>
              </a:spcBef>
              <a:spcAft>
                <a:spcPts val="0"/>
              </a:spcAft>
              <a:buNone/>
            </a:pPr>
            <a:r>
              <a:rPr lang="en"/>
              <a:t>especially those experiencing challenges with starting or </a:t>
            </a:r>
            <a:r>
              <a:rPr lang="en"/>
              <a:t>maintaining</a:t>
            </a:r>
            <a:r>
              <a:rPr lang="en"/>
              <a:t> a crafting</a:t>
            </a:r>
            <a:endParaRPr/>
          </a:p>
        </p:txBody>
      </p:sp>
      <p:sp>
        <p:nvSpPr>
          <p:cNvPr id="435" name="Google Shape;435;p4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NEEDFINDING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9" name="Shape 439"/>
        <p:cNvGrpSpPr/>
        <p:nvPr/>
      </p:nvGrpSpPr>
      <p:grpSpPr>
        <a:xfrm>
          <a:off x="0" y="0"/>
          <a:ext cx="0" cy="0"/>
          <a:chOff x="0" y="0"/>
          <a:chExt cx="0" cy="0"/>
        </a:xfrm>
      </p:grpSpPr>
      <p:sp>
        <p:nvSpPr>
          <p:cNvPr id="440" name="Google Shape;440;p49"/>
          <p:cNvSpPr txBox="1"/>
          <p:nvPr>
            <p:ph idx="1" type="subTitle"/>
          </p:nvPr>
        </p:nvSpPr>
        <p:spPr>
          <a:xfrm>
            <a:off x="564175" y="1290200"/>
            <a:ext cx="4906800" cy="331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To find “everyday people” we decided to recruit at the Caltrain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 sz="1800"/>
              <a:t>Asked</a:t>
            </a:r>
            <a:endParaRPr sz="1800"/>
          </a:p>
          <a:p>
            <a:pPr indent="-342900" lvl="0" marL="457200" rtl="0" algn="l">
              <a:spcBef>
                <a:spcPts val="0"/>
              </a:spcBef>
              <a:spcAft>
                <a:spcPts val="0"/>
              </a:spcAft>
              <a:buSzPts val="1800"/>
              <a:buChar char="●"/>
            </a:pPr>
            <a:r>
              <a:rPr lang="en" sz="1800"/>
              <a:t>As there something you loved doing and then stopped?</a:t>
            </a:r>
            <a:endParaRPr sz="1800"/>
          </a:p>
          <a:p>
            <a:pPr indent="-342900" lvl="0" marL="457200" rtl="0" algn="l">
              <a:spcBef>
                <a:spcPts val="0"/>
              </a:spcBef>
              <a:spcAft>
                <a:spcPts val="0"/>
              </a:spcAft>
              <a:buSzPts val="1800"/>
              <a:buChar char="●"/>
            </a:pPr>
            <a:r>
              <a:rPr lang="en" sz="1800"/>
              <a:t>What did making art look like before you stopped?</a:t>
            </a:r>
            <a:endParaRPr sz="1800"/>
          </a:p>
          <a:p>
            <a:pPr indent="-342900" lvl="0" marL="457200" rtl="0" algn="l">
              <a:spcBef>
                <a:spcPts val="0"/>
              </a:spcBef>
              <a:spcAft>
                <a:spcPts val="0"/>
              </a:spcAft>
              <a:buSzPts val="1800"/>
              <a:buChar char="●"/>
            </a:pPr>
            <a:r>
              <a:rPr lang="en" sz="1800"/>
              <a:t>Can you walk me through how that happened? Were there moments when you noticed you were losing touch with your craft?</a:t>
            </a:r>
            <a:endParaRPr sz="1800"/>
          </a:p>
          <a:p>
            <a:pPr indent="0" lvl="0" marL="0" rtl="0" algn="l">
              <a:spcBef>
                <a:spcPts val="0"/>
              </a:spcBef>
              <a:spcAft>
                <a:spcPts val="0"/>
              </a:spcAft>
              <a:buNone/>
            </a:pPr>
            <a:r>
              <a:t/>
            </a:r>
            <a:endParaRPr sz="1800"/>
          </a:p>
        </p:txBody>
      </p:sp>
      <p:sp>
        <p:nvSpPr>
          <p:cNvPr id="441" name="Google Shape;441;p4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RECRUITMENT</a:t>
            </a:r>
            <a:endParaRPr/>
          </a:p>
        </p:txBody>
      </p:sp>
      <p:pic>
        <p:nvPicPr>
          <p:cNvPr id="442" name="Google Shape;442;p49" title="Screenshot 2026-10-08 at 6.13.44 PM.png"/>
          <p:cNvPicPr preferRelativeResize="0"/>
          <p:nvPr/>
        </p:nvPicPr>
        <p:blipFill>
          <a:blip r:embed="rId3">
            <a:alphaModFix/>
          </a:blip>
          <a:stretch>
            <a:fillRect/>
          </a:stretch>
        </p:blipFill>
        <p:spPr>
          <a:xfrm>
            <a:off x="7076446" y="652200"/>
            <a:ext cx="1775478" cy="2605099"/>
          </a:xfrm>
          <a:prstGeom prst="rect">
            <a:avLst/>
          </a:prstGeom>
          <a:noFill/>
          <a:ln>
            <a:noFill/>
          </a:ln>
        </p:spPr>
      </p:pic>
      <p:pic>
        <p:nvPicPr>
          <p:cNvPr id="443" name="Google Shape;443;p49" title="Screenshot 2026-10-08 at 6.13.52 PM.png"/>
          <p:cNvPicPr preferRelativeResize="0"/>
          <p:nvPr/>
        </p:nvPicPr>
        <p:blipFill>
          <a:blip r:embed="rId4">
            <a:alphaModFix/>
          </a:blip>
          <a:stretch>
            <a:fillRect/>
          </a:stretch>
        </p:blipFill>
        <p:spPr>
          <a:xfrm>
            <a:off x="5647325" y="1013025"/>
            <a:ext cx="1645602" cy="1477499"/>
          </a:xfrm>
          <a:prstGeom prst="rect">
            <a:avLst/>
          </a:prstGeom>
          <a:noFill/>
          <a:ln>
            <a:noFill/>
          </a:ln>
        </p:spPr>
      </p:pic>
      <p:sp>
        <p:nvSpPr>
          <p:cNvPr id="444" name="Google Shape;444;p49"/>
          <p:cNvSpPr txBox="1"/>
          <p:nvPr/>
        </p:nvSpPr>
        <p:spPr>
          <a:xfrm>
            <a:off x="5647325" y="3459075"/>
            <a:ext cx="3204600" cy="1231500"/>
          </a:xfrm>
          <a:prstGeom prst="rect">
            <a:avLst/>
          </a:prstGeom>
          <a:solidFill>
            <a:schemeClr val="lt1"/>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Epilogue"/>
                <a:ea typeface="Epilogue"/>
                <a:cs typeface="Epilogue"/>
                <a:sym typeface="Epilogue"/>
              </a:rPr>
              <a:t>Held sign: </a:t>
            </a:r>
            <a:endParaRPr sz="1700">
              <a:solidFill>
                <a:schemeClr val="dk1"/>
              </a:solidFill>
              <a:latin typeface="Epilogue"/>
              <a:ea typeface="Epilogue"/>
              <a:cs typeface="Epilogue"/>
              <a:sym typeface="Epilogue"/>
            </a:endParaRPr>
          </a:p>
          <a:p>
            <a:pPr indent="0" lvl="0" marL="0" rtl="0" algn="l">
              <a:spcBef>
                <a:spcPts val="0"/>
              </a:spcBef>
              <a:spcAft>
                <a:spcPts val="0"/>
              </a:spcAft>
              <a:buNone/>
            </a:pPr>
            <a:r>
              <a:t/>
            </a:r>
            <a:endParaRPr sz="1700">
              <a:solidFill>
                <a:schemeClr val="dk1"/>
              </a:solidFill>
              <a:latin typeface="Epilogue"/>
              <a:ea typeface="Epilogue"/>
              <a:cs typeface="Epilogue"/>
              <a:sym typeface="Epilogue"/>
            </a:endParaRPr>
          </a:p>
          <a:p>
            <a:pPr indent="0" lvl="0" marL="0" rtl="0" algn="l">
              <a:spcBef>
                <a:spcPts val="0"/>
              </a:spcBef>
              <a:spcAft>
                <a:spcPts val="0"/>
              </a:spcAft>
              <a:buNone/>
            </a:pPr>
            <a:r>
              <a:rPr i="1" lang="en" sz="1700">
                <a:solidFill>
                  <a:schemeClr val="dk1"/>
                </a:solidFill>
                <a:latin typeface="Epilogue"/>
                <a:ea typeface="Epilogue"/>
                <a:cs typeface="Epilogue"/>
                <a:sym typeface="Epilogue"/>
              </a:rPr>
              <a:t>“What is something you used to love but stopped?”</a:t>
            </a:r>
            <a:endParaRPr i="1" sz="1700">
              <a:solidFill>
                <a:schemeClr val="dk1"/>
              </a:solidFill>
              <a:latin typeface="Epilogue"/>
              <a:ea typeface="Epilogue"/>
              <a:cs typeface="Epilogue"/>
              <a:sym typeface="Epilog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50"/>
          <p:cNvPicPr preferRelativeResize="0"/>
          <p:nvPr/>
        </p:nvPicPr>
        <p:blipFill>
          <a:blip r:embed="rId3">
            <a:alphaModFix/>
          </a:blip>
          <a:stretch>
            <a:fillRect/>
          </a:stretch>
        </p:blipFill>
        <p:spPr>
          <a:xfrm>
            <a:off x="602200" y="1347425"/>
            <a:ext cx="2752413" cy="3256575"/>
          </a:xfrm>
          <a:prstGeom prst="rect">
            <a:avLst/>
          </a:prstGeom>
          <a:noFill/>
          <a:ln>
            <a:noFill/>
          </a:ln>
        </p:spPr>
      </p:pic>
      <p:sp>
        <p:nvSpPr>
          <p:cNvPr id="450" name="Google Shape;450;p5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LOLA!</a:t>
            </a:r>
            <a:endParaRPr/>
          </a:p>
        </p:txBody>
      </p:sp>
      <p:sp>
        <p:nvSpPr>
          <p:cNvPr id="451" name="Google Shape;451;p50"/>
          <p:cNvSpPr txBox="1"/>
          <p:nvPr>
            <p:ph idx="1" type="subTitle"/>
          </p:nvPr>
        </p:nvSpPr>
        <p:spPr>
          <a:xfrm>
            <a:off x="3278450" y="1614500"/>
            <a:ext cx="5626800" cy="298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Clinical dietitian and former watercolor artist.</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Now rediscovering creativity through new crafts.</a:t>
            </a:r>
            <a:endParaRPr/>
          </a:p>
        </p:txBody>
      </p:sp>
      <p:pic>
        <p:nvPicPr>
          <p:cNvPr id="452" name="Google Shape;452;p50"/>
          <p:cNvPicPr preferRelativeResize="0"/>
          <p:nvPr/>
        </p:nvPicPr>
        <p:blipFill>
          <a:blip r:embed="rId4">
            <a:alphaModFix/>
          </a:blip>
          <a:stretch>
            <a:fillRect/>
          </a:stretch>
        </p:blipFill>
        <p:spPr>
          <a:xfrm rot="333051">
            <a:off x="420925" y="1528375"/>
            <a:ext cx="2419347" cy="241934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6" name="Shape 456"/>
        <p:cNvGrpSpPr/>
        <p:nvPr/>
      </p:nvGrpSpPr>
      <p:grpSpPr>
        <a:xfrm>
          <a:off x="0" y="0"/>
          <a:ext cx="0" cy="0"/>
          <a:chOff x="0" y="0"/>
          <a:chExt cx="0" cy="0"/>
        </a:xfrm>
      </p:grpSpPr>
      <p:pic>
        <p:nvPicPr>
          <p:cNvPr id="457" name="Google Shape;457;p51"/>
          <p:cNvPicPr preferRelativeResize="0"/>
          <p:nvPr/>
        </p:nvPicPr>
        <p:blipFill>
          <a:blip r:embed="rId3">
            <a:alphaModFix/>
          </a:blip>
          <a:stretch>
            <a:fillRect/>
          </a:stretch>
        </p:blipFill>
        <p:spPr>
          <a:xfrm>
            <a:off x="1244375" y="228600"/>
            <a:ext cx="6655247" cy="4838703"/>
          </a:xfrm>
          <a:prstGeom prst="rect">
            <a:avLst/>
          </a:prstGeom>
          <a:noFill/>
          <a:ln>
            <a:noFill/>
          </a:ln>
        </p:spPr>
      </p:pic>
      <p:pic>
        <p:nvPicPr>
          <p:cNvPr id="458" name="Google Shape;458;p51"/>
          <p:cNvPicPr preferRelativeResize="0"/>
          <p:nvPr/>
        </p:nvPicPr>
        <p:blipFill>
          <a:blip r:embed="rId4">
            <a:alphaModFix/>
          </a:blip>
          <a:stretch>
            <a:fillRect/>
          </a:stretch>
        </p:blipFill>
        <p:spPr>
          <a:xfrm rot="333040">
            <a:off x="3856259" y="2109427"/>
            <a:ext cx="924646" cy="924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2" name="Shape 462"/>
        <p:cNvGrpSpPr/>
        <p:nvPr/>
      </p:nvGrpSpPr>
      <p:grpSpPr>
        <a:xfrm>
          <a:off x="0" y="0"/>
          <a:ext cx="0" cy="0"/>
          <a:chOff x="0" y="0"/>
          <a:chExt cx="0" cy="0"/>
        </a:xfrm>
      </p:grpSpPr>
      <p:pic>
        <p:nvPicPr>
          <p:cNvPr id="463" name="Google Shape;463;p52"/>
          <p:cNvPicPr preferRelativeResize="0"/>
          <p:nvPr/>
        </p:nvPicPr>
        <p:blipFill>
          <a:blip r:embed="rId3">
            <a:alphaModFix/>
          </a:blip>
          <a:stretch>
            <a:fillRect/>
          </a:stretch>
        </p:blipFill>
        <p:spPr>
          <a:xfrm>
            <a:off x="117175" y="722400"/>
            <a:ext cx="5087273" cy="3698698"/>
          </a:xfrm>
          <a:prstGeom prst="rect">
            <a:avLst/>
          </a:prstGeom>
          <a:noFill/>
          <a:ln>
            <a:noFill/>
          </a:ln>
        </p:spPr>
      </p:pic>
      <p:pic>
        <p:nvPicPr>
          <p:cNvPr id="464" name="Google Shape;464;p52"/>
          <p:cNvPicPr preferRelativeResize="0"/>
          <p:nvPr/>
        </p:nvPicPr>
        <p:blipFill>
          <a:blip r:embed="rId4">
            <a:alphaModFix/>
          </a:blip>
          <a:stretch>
            <a:fillRect/>
          </a:stretch>
        </p:blipFill>
        <p:spPr>
          <a:xfrm>
            <a:off x="5330550" y="427150"/>
            <a:ext cx="3624850" cy="4669000"/>
          </a:xfrm>
          <a:prstGeom prst="rect">
            <a:avLst/>
          </a:prstGeom>
          <a:noFill/>
          <a:ln>
            <a:noFill/>
          </a:ln>
        </p:spPr>
      </p:pic>
      <p:pic>
        <p:nvPicPr>
          <p:cNvPr id="465" name="Google Shape;465;p52"/>
          <p:cNvPicPr preferRelativeResize="0"/>
          <p:nvPr/>
        </p:nvPicPr>
        <p:blipFill>
          <a:blip r:embed="rId5">
            <a:alphaModFix/>
          </a:blip>
          <a:stretch>
            <a:fillRect/>
          </a:stretch>
        </p:blipFill>
        <p:spPr>
          <a:xfrm rot="333032">
            <a:off x="2095291" y="2159585"/>
            <a:ext cx="731499" cy="731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53"/>
          <p:cNvPicPr preferRelativeResize="0"/>
          <p:nvPr/>
        </p:nvPicPr>
        <p:blipFill>
          <a:blip r:embed="rId3">
            <a:alphaModFix/>
          </a:blip>
          <a:stretch>
            <a:fillRect/>
          </a:stretch>
        </p:blipFill>
        <p:spPr>
          <a:xfrm>
            <a:off x="602200" y="1347425"/>
            <a:ext cx="2752413" cy="3256575"/>
          </a:xfrm>
          <a:prstGeom prst="rect">
            <a:avLst/>
          </a:prstGeom>
          <a:noFill/>
          <a:ln>
            <a:noFill/>
          </a:ln>
        </p:spPr>
      </p:pic>
      <p:sp>
        <p:nvSpPr>
          <p:cNvPr id="471" name="Google Shape;471;p53"/>
          <p:cNvSpPr txBox="1"/>
          <p:nvPr>
            <p:ph type="title"/>
          </p:nvPr>
        </p:nvSpPr>
        <p:spPr>
          <a:xfrm>
            <a:off x="503825" y="652200"/>
            <a:ext cx="7971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LOLA REFOUND HER LOVE</a:t>
            </a:r>
            <a:endParaRPr/>
          </a:p>
        </p:txBody>
      </p:sp>
      <p:sp>
        <p:nvSpPr>
          <p:cNvPr id="472" name="Google Shape;472;p53"/>
          <p:cNvSpPr txBox="1"/>
          <p:nvPr>
            <p:ph idx="1" type="subTitle"/>
          </p:nvPr>
        </p:nvSpPr>
        <p:spPr>
          <a:xfrm>
            <a:off x="3504775" y="1347425"/>
            <a:ext cx="5476800" cy="352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Mom gave her a book of her old paintings</a:t>
            </a:r>
            <a:r>
              <a:rPr lang="en" sz="2200"/>
              <a:t>: </a:t>
            </a:r>
            <a:endParaRPr sz="2200"/>
          </a:p>
          <a:p>
            <a:pPr indent="0" lvl="0" marL="0" rtl="0" algn="l">
              <a:spcBef>
                <a:spcPts val="0"/>
              </a:spcBef>
              <a:spcAft>
                <a:spcPts val="0"/>
              </a:spcAft>
              <a:buNone/>
            </a:pPr>
            <a:r>
              <a:t/>
            </a:r>
            <a:endParaRPr sz="2200"/>
          </a:p>
          <a:p>
            <a:pPr indent="0" lvl="0" marL="0" rtl="0" algn="l">
              <a:spcBef>
                <a:spcPts val="0"/>
              </a:spcBef>
              <a:spcAft>
                <a:spcPts val="0"/>
              </a:spcAft>
              <a:buNone/>
            </a:pPr>
            <a:r>
              <a:rPr lang="en" sz="2200"/>
              <a:t>“I opened it and I was like, wait this actually looks pretty good. Why did I think this was terrible when I was doing this a few years ago? </a:t>
            </a:r>
            <a:r>
              <a:rPr b="1" lang="en" sz="2200"/>
              <a:t>And I was like, wait, do I want to do this again?</a:t>
            </a:r>
            <a:r>
              <a:rPr lang="en" sz="2200"/>
              <a:t> Like this is kind of fun.”</a:t>
            </a:r>
            <a:endParaRPr sz="2200"/>
          </a:p>
        </p:txBody>
      </p:sp>
      <p:pic>
        <p:nvPicPr>
          <p:cNvPr id="473" name="Google Shape;473;p53"/>
          <p:cNvPicPr preferRelativeResize="0"/>
          <p:nvPr/>
        </p:nvPicPr>
        <p:blipFill>
          <a:blip r:embed="rId4">
            <a:alphaModFix/>
          </a:blip>
          <a:stretch>
            <a:fillRect/>
          </a:stretch>
        </p:blipFill>
        <p:spPr>
          <a:xfrm rot="333051">
            <a:off x="420925" y="1528375"/>
            <a:ext cx="2419347" cy="24193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54"/>
          <p:cNvPicPr preferRelativeResize="0"/>
          <p:nvPr/>
        </p:nvPicPr>
        <p:blipFill>
          <a:blip r:embed="rId3">
            <a:alphaModFix/>
          </a:blip>
          <a:stretch>
            <a:fillRect/>
          </a:stretch>
        </p:blipFill>
        <p:spPr>
          <a:xfrm>
            <a:off x="602200" y="1347425"/>
            <a:ext cx="2752413" cy="3256575"/>
          </a:xfrm>
          <a:prstGeom prst="rect">
            <a:avLst/>
          </a:prstGeom>
          <a:noFill/>
          <a:ln>
            <a:noFill/>
          </a:ln>
        </p:spPr>
      </p:pic>
      <p:sp>
        <p:nvSpPr>
          <p:cNvPr id="479" name="Google Shape;479;p5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a:t>
            </a:r>
            <a:endParaRPr/>
          </a:p>
        </p:txBody>
      </p:sp>
      <p:sp>
        <p:nvSpPr>
          <p:cNvPr id="480" name="Google Shape;480;p54"/>
          <p:cNvSpPr txBox="1"/>
          <p:nvPr>
            <p:ph idx="1" type="subTitle"/>
          </p:nvPr>
        </p:nvSpPr>
        <p:spPr>
          <a:xfrm>
            <a:off x="3520700" y="1347425"/>
            <a:ext cx="5397900" cy="401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u="sng"/>
              <a:t>INSIGHT</a:t>
            </a:r>
            <a:endParaRPr sz="2200" u="sng"/>
          </a:p>
          <a:p>
            <a:pPr indent="0" lvl="0" marL="0" rtl="0" algn="ctr">
              <a:spcBef>
                <a:spcPts val="0"/>
              </a:spcBef>
              <a:spcAft>
                <a:spcPts val="0"/>
              </a:spcAft>
              <a:buNone/>
            </a:pPr>
            <a:r>
              <a:rPr lang="en" sz="2200"/>
              <a:t>Seeing her old paintings helped Lola recognize her ability again and reconnect with the joy of creating</a:t>
            </a:r>
            <a:endParaRPr sz="2200"/>
          </a:p>
          <a:p>
            <a:pPr indent="0" lvl="0" marL="0" rtl="0" algn="ctr">
              <a:spcBef>
                <a:spcPts val="0"/>
              </a:spcBef>
              <a:spcAft>
                <a:spcPts val="0"/>
              </a:spcAft>
              <a:buNone/>
            </a:pPr>
            <a:r>
              <a:t/>
            </a:r>
            <a:endParaRPr sz="2200"/>
          </a:p>
          <a:p>
            <a:pPr indent="0" lvl="0" marL="0" rtl="0" algn="ctr">
              <a:spcBef>
                <a:spcPts val="0"/>
              </a:spcBef>
              <a:spcAft>
                <a:spcPts val="0"/>
              </a:spcAft>
              <a:buNone/>
            </a:pPr>
            <a:r>
              <a:rPr lang="en" sz="2200" u="sng"/>
              <a:t>NEED</a:t>
            </a:r>
            <a:endParaRPr sz="2200"/>
          </a:p>
          <a:p>
            <a:pPr indent="0" lvl="0" marL="0" rtl="0" algn="ctr">
              <a:spcBef>
                <a:spcPts val="0"/>
              </a:spcBef>
              <a:spcAft>
                <a:spcPts val="0"/>
              </a:spcAft>
              <a:buNone/>
            </a:pPr>
            <a:r>
              <a:rPr lang="en" sz="2200"/>
              <a:t>A way to remember what she loved about creating, as her craft may change or fall out of practice.</a:t>
            </a:r>
            <a:endParaRPr sz="2200"/>
          </a:p>
        </p:txBody>
      </p:sp>
      <p:pic>
        <p:nvPicPr>
          <p:cNvPr id="481" name="Google Shape;481;p54"/>
          <p:cNvPicPr preferRelativeResize="0"/>
          <p:nvPr/>
        </p:nvPicPr>
        <p:blipFill>
          <a:blip r:embed="rId4">
            <a:alphaModFix/>
          </a:blip>
          <a:stretch>
            <a:fillRect/>
          </a:stretch>
        </p:blipFill>
        <p:spPr>
          <a:xfrm rot="333051">
            <a:off x="420925" y="1528375"/>
            <a:ext cx="2419347" cy="241934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CELI!</a:t>
            </a:r>
            <a:endParaRPr/>
          </a:p>
        </p:txBody>
      </p:sp>
      <p:sp>
        <p:nvSpPr>
          <p:cNvPr id="487" name="Google Shape;487;p55"/>
          <p:cNvSpPr txBox="1"/>
          <p:nvPr>
            <p:ph idx="1" type="subTitle"/>
          </p:nvPr>
        </p:nvSpPr>
        <p:spPr>
          <a:xfrm>
            <a:off x="3485000" y="1614500"/>
            <a:ext cx="5302800" cy="298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working designer, also </a:t>
            </a:r>
            <a:r>
              <a:rPr lang="en"/>
              <a:t>pursuing</a:t>
            </a:r>
            <a:r>
              <a:rPr lang="en"/>
              <a:t> a masters in packaging</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Becoming</a:t>
            </a:r>
            <a:r>
              <a:rPr lang="en"/>
              <a:t> </a:t>
            </a:r>
            <a:r>
              <a:rPr lang="en"/>
              <a:t>exhausted</a:t>
            </a:r>
            <a:r>
              <a:rPr lang="en"/>
              <a:t> and drained from her design work</a:t>
            </a:r>
            <a:endParaRPr/>
          </a:p>
        </p:txBody>
      </p:sp>
      <p:pic>
        <p:nvPicPr>
          <p:cNvPr id="488" name="Google Shape;488;p55"/>
          <p:cNvPicPr preferRelativeResize="0"/>
          <p:nvPr/>
        </p:nvPicPr>
        <p:blipFill>
          <a:blip r:embed="rId3">
            <a:alphaModFix/>
          </a:blip>
          <a:stretch>
            <a:fillRect/>
          </a:stretch>
        </p:blipFill>
        <p:spPr>
          <a:xfrm>
            <a:off x="583450" y="1335425"/>
            <a:ext cx="2701524" cy="3173024"/>
          </a:xfrm>
          <a:prstGeom prst="rect">
            <a:avLst/>
          </a:prstGeom>
          <a:noFill/>
          <a:ln>
            <a:noFill/>
          </a:ln>
        </p:spPr>
      </p:pic>
      <p:pic>
        <p:nvPicPr>
          <p:cNvPr id="489" name="Google Shape;489;p55"/>
          <p:cNvPicPr preferRelativeResize="0"/>
          <p:nvPr/>
        </p:nvPicPr>
        <p:blipFill>
          <a:blip r:embed="rId4">
            <a:alphaModFix/>
          </a:blip>
          <a:stretch>
            <a:fillRect/>
          </a:stretch>
        </p:blipFill>
        <p:spPr>
          <a:xfrm rot="1328345">
            <a:off x="1222159" y="1403522"/>
            <a:ext cx="1917465" cy="19174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3" name="Shape 493"/>
        <p:cNvGrpSpPr/>
        <p:nvPr/>
      </p:nvGrpSpPr>
      <p:grpSpPr>
        <a:xfrm>
          <a:off x="0" y="0"/>
          <a:ext cx="0" cy="0"/>
          <a:chOff x="0" y="0"/>
          <a:chExt cx="0" cy="0"/>
        </a:xfrm>
      </p:grpSpPr>
      <p:pic>
        <p:nvPicPr>
          <p:cNvPr id="494" name="Google Shape;494;p56"/>
          <p:cNvPicPr preferRelativeResize="0"/>
          <p:nvPr/>
        </p:nvPicPr>
        <p:blipFill>
          <a:blip r:embed="rId3">
            <a:alphaModFix/>
          </a:blip>
          <a:stretch>
            <a:fillRect/>
          </a:stretch>
        </p:blipFill>
        <p:spPr>
          <a:xfrm>
            <a:off x="1244375" y="209550"/>
            <a:ext cx="6655247" cy="4838703"/>
          </a:xfrm>
          <a:prstGeom prst="rect">
            <a:avLst/>
          </a:prstGeom>
          <a:noFill/>
          <a:ln>
            <a:noFill/>
          </a:ln>
        </p:spPr>
      </p:pic>
      <p:pic>
        <p:nvPicPr>
          <p:cNvPr id="495" name="Google Shape;495;p56"/>
          <p:cNvPicPr preferRelativeResize="0"/>
          <p:nvPr/>
        </p:nvPicPr>
        <p:blipFill>
          <a:blip r:embed="rId4">
            <a:alphaModFix/>
          </a:blip>
          <a:stretch>
            <a:fillRect/>
          </a:stretch>
        </p:blipFill>
        <p:spPr>
          <a:xfrm rot="1328356">
            <a:off x="4037432" y="1901844"/>
            <a:ext cx="1069137" cy="10691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FOUND</a:t>
            </a:r>
            <a:endParaRPr/>
          </a:p>
        </p:txBody>
      </p:sp>
      <p:sp>
        <p:nvSpPr>
          <p:cNvPr id="501" name="Google Shape;501;p57"/>
          <p:cNvSpPr txBox="1"/>
          <p:nvPr>
            <p:ph idx="1" type="subTitle"/>
          </p:nvPr>
        </p:nvSpPr>
        <p:spPr>
          <a:xfrm>
            <a:off x="3520700" y="1224900"/>
            <a:ext cx="5397900" cy="40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After working “</a:t>
            </a:r>
            <a:r>
              <a:rPr b="1" lang="en" sz="2100"/>
              <a:t>80-hour weeks</a:t>
            </a:r>
            <a:r>
              <a:rPr lang="en" sz="2100"/>
              <a:t>” on a demanding client event, she turned to a hands-on booklet assignment:</a:t>
            </a:r>
            <a:endParaRPr sz="2100"/>
          </a:p>
          <a:p>
            <a:pPr indent="0" lvl="0" marL="0" rtl="0" algn="l">
              <a:spcBef>
                <a:spcPts val="0"/>
              </a:spcBef>
              <a:spcAft>
                <a:spcPts val="0"/>
              </a:spcAft>
              <a:buNone/>
            </a:pPr>
            <a:r>
              <a:rPr lang="en" sz="2100"/>
              <a:t> </a:t>
            </a:r>
            <a:endParaRPr sz="2100"/>
          </a:p>
          <a:p>
            <a:pPr indent="0" lvl="0" marL="0" rtl="0" algn="l">
              <a:spcBef>
                <a:spcPts val="0"/>
              </a:spcBef>
              <a:spcAft>
                <a:spcPts val="0"/>
              </a:spcAft>
              <a:buNone/>
            </a:pPr>
            <a:r>
              <a:rPr lang="en" sz="2100"/>
              <a:t>“I was really excited for this one project … by the time I touched the project, it's just like </a:t>
            </a:r>
            <a:r>
              <a:rPr b="1" lang="en" sz="2100"/>
              <a:t>I don't know what to do</a:t>
            </a:r>
            <a:r>
              <a:rPr lang="en" sz="2100"/>
              <a:t>.” </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 sz="2100"/>
              <a:t>“You're so exhausted. It's like … you run out of ideas and you kind of just like stuck.”</a:t>
            </a:r>
            <a:endParaRPr sz="2100"/>
          </a:p>
        </p:txBody>
      </p:sp>
      <p:pic>
        <p:nvPicPr>
          <p:cNvPr id="502" name="Google Shape;502;p57"/>
          <p:cNvPicPr preferRelativeResize="0"/>
          <p:nvPr/>
        </p:nvPicPr>
        <p:blipFill>
          <a:blip r:embed="rId3">
            <a:alphaModFix/>
          </a:blip>
          <a:stretch>
            <a:fillRect/>
          </a:stretch>
        </p:blipFill>
        <p:spPr>
          <a:xfrm>
            <a:off x="583450" y="1335425"/>
            <a:ext cx="2701524" cy="3173024"/>
          </a:xfrm>
          <a:prstGeom prst="rect">
            <a:avLst/>
          </a:prstGeom>
          <a:noFill/>
          <a:ln>
            <a:noFill/>
          </a:ln>
        </p:spPr>
      </p:pic>
      <p:pic>
        <p:nvPicPr>
          <p:cNvPr id="503" name="Google Shape;503;p57"/>
          <p:cNvPicPr preferRelativeResize="0"/>
          <p:nvPr/>
        </p:nvPicPr>
        <p:blipFill>
          <a:blip r:embed="rId4">
            <a:alphaModFix/>
          </a:blip>
          <a:stretch>
            <a:fillRect/>
          </a:stretch>
        </p:blipFill>
        <p:spPr>
          <a:xfrm rot="1328345">
            <a:off x="1222159" y="1403522"/>
            <a:ext cx="1917465" cy="191745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FINDING</a:t>
            </a:r>
            <a:endParaRPr/>
          </a:p>
        </p:txBody>
      </p:sp>
      <p:sp>
        <p:nvSpPr>
          <p:cNvPr id="509" name="Google Shape;509;p58"/>
          <p:cNvSpPr txBox="1"/>
          <p:nvPr>
            <p:ph idx="1" type="subTitle"/>
          </p:nvPr>
        </p:nvSpPr>
        <p:spPr>
          <a:xfrm>
            <a:off x="3520700" y="1347425"/>
            <a:ext cx="5397900" cy="401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u="sng"/>
              <a:t>INSIGHT</a:t>
            </a:r>
            <a:endParaRPr sz="2200" u="sng"/>
          </a:p>
          <a:p>
            <a:pPr indent="0" lvl="0" marL="0" rtl="0" algn="ctr">
              <a:spcBef>
                <a:spcPts val="0"/>
              </a:spcBef>
              <a:spcAft>
                <a:spcPts val="0"/>
              </a:spcAft>
              <a:buNone/>
            </a:pPr>
            <a:r>
              <a:rPr lang="en" sz="2200"/>
              <a:t>After generating ideas for clients all day, Celi’s personal creative </a:t>
            </a:r>
            <a:r>
              <a:rPr lang="en" sz="2200"/>
              <a:t>work </a:t>
            </a:r>
            <a:r>
              <a:rPr lang="en" sz="2200"/>
              <a:t>can feel like another demand, even when she’s excited about it</a:t>
            </a:r>
            <a:endParaRPr sz="2200"/>
          </a:p>
          <a:p>
            <a:pPr indent="0" lvl="0" marL="0" rtl="0" algn="ctr">
              <a:spcBef>
                <a:spcPts val="0"/>
              </a:spcBef>
              <a:spcAft>
                <a:spcPts val="0"/>
              </a:spcAft>
              <a:buNone/>
            </a:pPr>
            <a:r>
              <a:t/>
            </a:r>
            <a:endParaRPr sz="2200"/>
          </a:p>
          <a:p>
            <a:pPr indent="0" lvl="0" marL="0" rtl="0" algn="ctr">
              <a:spcBef>
                <a:spcPts val="0"/>
              </a:spcBef>
              <a:spcAft>
                <a:spcPts val="0"/>
              </a:spcAft>
              <a:buNone/>
            </a:pPr>
            <a:r>
              <a:rPr lang="en" sz="2200" u="sng"/>
              <a:t>NEED</a:t>
            </a:r>
            <a:endParaRPr sz="2200"/>
          </a:p>
          <a:p>
            <a:pPr indent="0" lvl="0" marL="0" rtl="0" algn="ctr">
              <a:spcBef>
                <a:spcPts val="0"/>
              </a:spcBef>
              <a:spcAft>
                <a:spcPts val="0"/>
              </a:spcAft>
              <a:buNone/>
            </a:pPr>
            <a:r>
              <a:rPr lang="en" sz="2200"/>
              <a:t>Space to enjoy making without pressure to generate a strong idea or prove her ability</a:t>
            </a:r>
            <a:endParaRPr sz="2200"/>
          </a:p>
        </p:txBody>
      </p:sp>
      <p:pic>
        <p:nvPicPr>
          <p:cNvPr id="510" name="Google Shape;510;p58"/>
          <p:cNvPicPr preferRelativeResize="0"/>
          <p:nvPr/>
        </p:nvPicPr>
        <p:blipFill>
          <a:blip r:embed="rId3">
            <a:alphaModFix/>
          </a:blip>
          <a:stretch>
            <a:fillRect/>
          </a:stretch>
        </p:blipFill>
        <p:spPr>
          <a:xfrm>
            <a:off x="583450" y="1335425"/>
            <a:ext cx="2701524" cy="3173024"/>
          </a:xfrm>
          <a:prstGeom prst="rect">
            <a:avLst/>
          </a:prstGeom>
          <a:noFill/>
          <a:ln>
            <a:noFill/>
          </a:ln>
        </p:spPr>
      </p:pic>
      <p:pic>
        <p:nvPicPr>
          <p:cNvPr id="511" name="Google Shape;511;p58"/>
          <p:cNvPicPr preferRelativeResize="0"/>
          <p:nvPr/>
        </p:nvPicPr>
        <p:blipFill>
          <a:blip r:embed="rId4">
            <a:alphaModFix/>
          </a:blip>
          <a:stretch>
            <a:fillRect/>
          </a:stretch>
        </p:blipFill>
        <p:spPr>
          <a:xfrm rot="1328345">
            <a:off x="1222159" y="1403522"/>
            <a:ext cx="1917465" cy="19174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MEET JACOB!</a:t>
            </a:r>
            <a:endParaRPr/>
          </a:p>
        </p:txBody>
      </p:sp>
      <p:sp>
        <p:nvSpPr>
          <p:cNvPr id="517" name="Google Shape;517;p59"/>
          <p:cNvSpPr txBox="1"/>
          <p:nvPr>
            <p:ph idx="1" type="subTitle"/>
          </p:nvPr>
        </p:nvSpPr>
        <p:spPr>
          <a:xfrm>
            <a:off x="3931225" y="1322500"/>
            <a:ext cx="4974000" cy="29895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lang="en" sz="2300"/>
              <a:t>Runs Stanford’s Makery and teaches craft classes.</a:t>
            </a:r>
            <a:endParaRPr sz="2300"/>
          </a:p>
          <a:p>
            <a:pPr indent="0" lvl="0" marL="0" rtl="0" algn="ctr">
              <a:lnSpc>
                <a:spcPct val="115000"/>
              </a:lnSpc>
              <a:spcBef>
                <a:spcPts val="1200"/>
              </a:spcBef>
              <a:spcAft>
                <a:spcPts val="0"/>
              </a:spcAft>
              <a:buNone/>
            </a:pPr>
            <a:r>
              <a:t/>
            </a:r>
            <a:endParaRPr sz="2300"/>
          </a:p>
          <a:p>
            <a:pPr indent="0" lvl="0" marL="0" rtl="0" algn="ctr">
              <a:lnSpc>
                <a:spcPct val="115000"/>
              </a:lnSpc>
              <a:spcBef>
                <a:spcPts val="1200"/>
              </a:spcBef>
              <a:spcAft>
                <a:spcPts val="0"/>
              </a:spcAft>
              <a:buNone/>
            </a:pPr>
            <a:r>
              <a:rPr lang="en" sz="2300"/>
              <a:t>Designs spaces and tools that make it easier for anyone to start making.</a:t>
            </a:r>
            <a:endParaRPr sz="2300"/>
          </a:p>
          <a:p>
            <a:pPr indent="0" lvl="0" marL="0" rtl="0" algn="ctr">
              <a:spcBef>
                <a:spcPts val="1200"/>
              </a:spcBef>
              <a:spcAft>
                <a:spcPts val="0"/>
              </a:spcAft>
              <a:buNone/>
            </a:pPr>
            <a:r>
              <a:t/>
            </a:r>
            <a:endParaRPr sz="2300"/>
          </a:p>
        </p:txBody>
      </p:sp>
      <p:pic>
        <p:nvPicPr>
          <p:cNvPr id="518" name="Google Shape;518;p59"/>
          <p:cNvPicPr preferRelativeResize="0"/>
          <p:nvPr/>
        </p:nvPicPr>
        <p:blipFill>
          <a:blip r:embed="rId3">
            <a:alphaModFix/>
          </a:blip>
          <a:stretch>
            <a:fillRect/>
          </a:stretch>
        </p:blipFill>
        <p:spPr>
          <a:xfrm>
            <a:off x="592600" y="1698875"/>
            <a:ext cx="3183201" cy="2373549"/>
          </a:xfrm>
          <a:prstGeom prst="rect">
            <a:avLst/>
          </a:prstGeom>
          <a:noFill/>
          <a:ln>
            <a:noFill/>
          </a:ln>
        </p:spPr>
      </p:pic>
      <p:pic>
        <p:nvPicPr>
          <p:cNvPr id="519" name="Google Shape;519;p59"/>
          <p:cNvPicPr preferRelativeResize="0"/>
          <p:nvPr/>
        </p:nvPicPr>
        <p:blipFill>
          <a:blip r:embed="rId4">
            <a:alphaModFix/>
          </a:blip>
          <a:stretch>
            <a:fillRect/>
          </a:stretch>
        </p:blipFill>
        <p:spPr>
          <a:xfrm rot="262733">
            <a:off x="1027701" y="2120249"/>
            <a:ext cx="1942350" cy="1942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3" name="Shape 523"/>
        <p:cNvGrpSpPr/>
        <p:nvPr/>
      </p:nvGrpSpPr>
      <p:grpSpPr>
        <a:xfrm>
          <a:off x="0" y="0"/>
          <a:ext cx="0" cy="0"/>
          <a:chOff x="0" y="0"/>
          <a:chExt cx="0" cy="0"/>
        </a:xfrm>
      </p:grpSpPr>
      <p:pic>
        <p:nvPicPr>
          <p:cNvPr id="524" name="Google Shape;524;p60"/>
          <p:cNvPicPr preferRelativeResize="0"/>
          <p:nvPr/>
        </p:nvPicPr>
        <p:blipFill>
          <a:blip r:embed="rId3">
            <a:alphaModFix/>
          </a:blip>
          <a:stretch>
            <a:fillRect/>
          </a:stretch>
        </p:blipFill>
        <p:spPr>
          <a:xfrm>
            <a:off x="1404700" y="539500"/>
            <a:ext cx="6334602" cy="4364301"/>
          </a:xfrm>
          <a:prstGeom prst="rect">
            <a:avLst/>
          </a:prstGeom>
          <a:noFill/>
          <a:ln>
            <a:noFill/>
          </a:ln>
        </p:spPr>
      </p:pic>
      <p:pic>
        <p:nvPicPr>
          <p:cNvPr id="525" name="Google Shape;525;p60"/>
          <p:cNvPicPr preferRelativeResize="0"/>
          <p:nvPr/>
        </p:nvPicPr>
        <p:blipFill>
          <a:blip r:embed="rId4">
            <a:alphaModFix/>
          </a:blip>
          <a:stretch>
            <a:fillRect/>
          </a:stretch>
        </p:blipFill>
        <p:spPr>
          <a:xfrm rot="262732">
            <a:off x="4137074" y="2270849"/>
            <a:ext cx="764625" cy="764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FOUND</a:t>
            </a:r>
            <a:endParaRPr/>
          </a:p>
        </p:txBody>
      </p:sp>
      <p:sp>
        <p:nvSpPr>
          <p:cNvPr id="531" name="Google Shape;531;p61"/>
          <p:cNvSpPr txBox="1"/>
          <p:nvPr>
            <p:ph idx="1" type="subTitle"/>
          </p:nvPr>
        </p:nvSpPr>
        <p:spPr>
          <a:xfrm>
            <a:off x="3931225" y="1224900"/>
            <a:ext cx="4974000" cy="298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200" u="sng"/>
              <a:t>INSIGHT</a:t>
            </a:r>
            <a:endParaRPr sz="2200"/>
          </a:p>
          <a:p>
            <a:pPr indent="0" lvl="0" marL="381000" marR="381000" rtl="0" algn="l">
              <a:lnSpc>
                <a:spcPct val="115000"/>
              </a:lnSpc>
              <a:spcBef>
                <a:spcPts val="1200"/>
              </a:spcBef>
              <a:spcAft>
                <a:spcPts val="0"/>
              </a:spcAft>
              <a:buNone/>
            </a:pPr>
            <a:r>
              <a:rPr lang="en" sz="1900"/>
              <a:t>Beginners don’t quit from lack of interest. They quit when early friction and failure make it feel high-stakes</a:t>
            </a:r>
            <a:endParaRPr sz="2200"/>
          </a:p>
          <a:p>
            <a:pPr indent="0" lvl="0" marL="0" rtl="0" algn="ctr">
              <a:spcBef>
                <a:spcPts val="1200"/>
              </a:spcBef>
              <a:spcAft>
                <a:spcPts val="0"/>
              </a:spcAft>
              <a:buNone/>
            </a:pPr>
            <a:r>
              <a:rPr lang="en" sz="2200" u="sng"/>
              <a:t>NEED</a:t>
            </a:r>
            <a:endParaRPr sz="2200"/>
          </a:p>
          <a:p>
            <a:pPr indent="0" lvl="0" marL="381000" marR="381000" rtl="0" algn="l">
              <a:lnSpc>
                <a:spcPct val="115000"/>
              </a:lnSpc>
              <a:spcBef>
                <a:spcPts val="1200"/>
              </a:spcBef>
              <a:spcAft>
                <a:spcPts val="0"/>
              </a:spcAft>
              <a:buNone/>
            </a:pPr>
            <a:r>
              <a:rPr lang="en" sz="1900"/>
              <a:t>A low-pressure way to start making, where mistakes feel like part of the fun</a:t>
            </a:r>
            <a:endParaRPr sz="1900"/>
          </a:p>
          <a:p>
            <a:pPr indent="0" lvl="0" marL="0" rtl="0" algn="l">
              <a:spcBef>
                <a:spcPts val="1200"/>
              </a:spcBef>
              <a:spcAft>
                <a:spcPts val="0"/>
              </a:spcAft>
              <a:buNone/>
            </a:pPr>
            <a:r>
              <a:t/>
            </a:r>
            <a:endParaRPr sz="2200"/>
          </a:p>
        </p:txBody>
      </p:sp>
      <p:pic>
        <p:nvPicPr>
          <p:cNvPr id="532" name="Google Shape;532;p61"/>
          <p:cNvPicPr preferRelativeResize="0"/>
          <p:nvPr/>
        </p:nvPicPr>
        <p:blipFill>
          <a:blip r:embed="rId3">
            <a:alphaModFix/>
          </a:blip>
          <a:stretch>
            <a:fillRect/>
          </a:stretch>
        </p:blipFill>
        <p:spPr>
          <a:xfrm>
            <a:off x="592600" y="1601275"/>
            <a:ext cx="3183201" cy="2373549"/>
          </a:xfrm>
          <a:prstGeom prst="rect">
            <a:avLst/>
          </a:prstGeom>
          <a:noFill/>
          <a:ln>
            <a:noFill/>
          </a:ln>
        </p:spPr>
      </p:pic>
      <p:pic>
        <p:nvPicPr>
          <p:cNvPr id="533" name="Google Shape;533;p61"/>
          <p:cNvPicPr preferRelativeResize="0"/>
          <p:nvPr/>
        </p:nvPicPr>
        <p:blipFill>
          <a:blip r:embed="rId4">
            <a:alphaModFix/>
          </a:blip>
          <a:stretch>
            <a:fillRect/>
          </a:stretch>
        </p:blipFill>
        <p:spPr>
          <a:xfrm rot="262733">
            <a:off x="1054901" y="2051874"/>
            <a:ext cx="1942350" cy="1942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6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OVERVIEW</a:t>
            </a:r>
            <a:endParaRPr/>
          </a:p>
        </p:txBody>
      </p:sp>
      <p:pic>
        <p:nvPicPr>
          <p:cNvPr id="539" name="Google Shape;539;p62"/>
          <p:cNvPicPr preferRelativeResize="0"/>
          <p:nvPr/>
        </p:nvPicPr>
        <p:blipFill>
          <a:blip r:embed="rId3">
            <a:alphaModFix/>
          </a:blip>
          <a:stretch>
            <a:fillRect/>
          </a:stretch>
        </p:blipFill>
        <p:spPr>
          <a:xfrm>
            <a:off x="795528" y="1755648"/>
            <a:ext cx="7703999" cy="2307661"/>
          </a:xfrm>
          <a:prstGeom prst="rect">
            <a:avLst/>
          </a:prstGeom>
          <a:noFill/>
          <a:ln>
            <a:noFill/>
          </a:ln>
        </p:spPr>
      </p:pic>
      <p:sp>
        <p:nvSpPr>
          <p:cNvPr id="540" name="Google Shape;540;p62"/>
          <p:cNvSpPr/>
          <p:nvPr/>
        </p:nvSpPr>
        <p:spPr>
          <a:xfrm>
            <a:off x="6234550" y="1806050"/>
            <a:ext cx="2196300" cy="21525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62"/>
          <p:cNvSpPr/>
          <p:nvPr/>
        </p:nvSpPr>
        <p:spPr>
          <a:xfrm>
            <a:off x="857325" y="1755650"/>
            <a:ext cx="2196300" cy="21525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5" name="Shape 545"/>
        <p:cNvGrpSpPr/>
        <p:nvPr/>
      </p:nvGrpSpPr>
      <p:grpSpPr>
        <a:xfrm>
          <a:off x="0" y="0"/>
          <a:ext cx="0" cy="0"/>
          <a:chOff x="0" y="0"/>
          <a:chExt cx="0" cy="0"/>
        </a:xfrm>
      </p:grpSpPr>
      <p:sp>
        <p:nvSpPr>
          <p:cNvPr id="546" name="Google Shape;546;p63"/>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Initial POVs</a:t>
            </a:r>
            <a:endParaRPr/>
          </a:p>
        </p:txBody>
      </p:sp>
      <p:sp>
        <p:nvSpPr>
          <p:cNvPr id="547" name="Google Shape;547;p63"/>
          <p:cNvSpPr txBox="1"/>
          <p:nvPr>
            <p:ph idx="1" type="subTitle"/>
          </p:nvPr>
        </p:nvSpPr>
        <p:spPr>
          <a:xfrm>
            <a:off x="1487175" y="1685525"/>
            <a:ext cx="6257700" cy="20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Initially, our POVs focused on how people </a:t>
            </a:r>
            <a:r>
              <a:rPr b="1" lang="en" sz="2400"/>
              <a:t>start new crafts, embrace being beginners, and challenge themselves, drawing primarily from expert crafters</a:t>
            </a:r>
            <a:endParaRPr b="1"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4"/>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POV DEVELOPMENT</a:t>
            </a:r>
            <a:endParaRPr/>
          </a:p>
        </p:txBody>
      </p:sp>
      <p:sp>
        <p:nvSpPr>
          <p:cNvPr id="553" name="Google Shape;553;p64"/>
          <p:cNvSpPr txBox="1"/>
          <p:nvPr>
            <p:ph idx="1" type="subTitle"/>
          </p:nvPr>
        </p:nvSpPr>
        <p:spPr>
          <a:xfrm>
            <a:off x="1541625" y="1685525"/>
            <a:ext cx="6480000" cy="204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Now, we want to focus on POVs that highlight crafters most at risk of </a:t>
            </a:r>
            <a:r>
              <a:rPr b="1" lang="en" sz="2400"/>
              <a:t>losing meaning in their creativity or </a:t>
            </a:r>
            <a:r>
              <a:rPr b="1" lang="en" sz="2400"/>
              <a:t>struggling to sustain it in their lives</a:t>
            </a:r>
            <a:endParaRPr b="1"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65"/>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EDDY POV</a:t>
            </a:r>
            <a:endParaRPr/>
          </a:p>
        </p:txBody>
      </p:sp>
      <p:sp>
        <p:nvSpPr>
          <p:cNvPr id="559" name="Google Shape;559;p65"/>
          <p:cNvSpPr txBox="1"/>
          <p:nvPr>
            <p:ph idx="1" type="subTitle"/>
          </p:nvPr>
        </p:nvSpPr>
        <p:spPr>
          <a:xfrm>
            <a:off x="821700" y="1194050"/>
            <a:ext cx="7975800" cy="38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We met Eddy, </a:t>
            </a:r>
            <a:r>
              <a:rPr lang="en" sz="1500"/>
              <a:t>a recently retired software professional who has admired glass art for decades and enjoyed making crafts like glass blowing while traveling.</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We were surprised to notice that he tries crafting while traveling, </a:t>
            </a:r>
            <a:r>
              <a:rPr lang="en" sz="1500"/>
              <a:t>yet hasn’t made it part of his life back home, even though he’ll browse local glass blowing classes.</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We wonder if this means </a:t>
            </a:r>
            <a:r>
              <a:rPr lang="en" sz="1500"/>
              <a:t>that travel lets him experience crafting as an adventure, while calling himself a beginner eases the pressure to measure up to the artists he admires.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highlight>
                  <a:srgbClr val="FFF2CC"/>
                </a:highlight>
              </a:rPr>
              <a:t>It would be game-changing to help </a:t>
            </a:r>
            <a:r>
              <a:rPr lang="en" sz="1500">
                <a:highlight>
                  <a:srgbClr val="FFF2CC"/>
                </a:highlight>
              </a:rPr>
              <a:t>Eddy experience crafting at home as an adventure he can try, without feeling he must prove an identity as a maker.</a:t>
            </a:r>
            <a:endParaRPr sz="1500">
              <a:highlight>
                <a:srgbClr val="FFF2CC"/>
              </a:highlight>
            </a:endParaRPr>
          </a:p>
          <a:p>
            <a:pPr indent="0" lvl="0" marL="0" rtl="0" algn="l">
              <a:spcBef>
                <a:spcPts val="0"/>
              </a:spcBef>
              <a:spcAft>
                <a:spcPts val="0"/>
              </a:spcAft>
              <a:buNone/>
            </a:pPr>
            <a:r>
              <a:t/>
            </a:r>
            <a:endParaRPr b="1" sz="1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6"/>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NOAH POV</a:t>
            </a:r>
            <a:endParaRPr/>
          </a:p>
        </p:txBody>
      </p:sp>
      <p:sp>
        <p:nvSpPr>
          <p:cNvPr id="565" name="Google Shape;565;p66"/>
          <p:cNvSpPr txBox="1"/>
          <p:nvPr>
            <p:ph idx="1" type="subTitle"/>
          </p:nvPr>
        </p:nvSpPr>
        <p:spPr>
          <a:xfrm>
            <a:off x="821700" y="1194050"/>
            <a:ext cx="7975800" cy="38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We met Noah,</a:t>
            </a:r>
            <a:r>
              <a:rPr lang="en" sz="1500"/>
              <a:t> a professional glass artist who balances reliable catalogue sales with creating unique pieces.</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We were surprised to notice </a:t>
            </a:r>
            <a:r>
              <a:rPr lang="en" sz="1500"/>
              <a:t>that he pulled back from successful catalogue work to make pieces he wasn’t sure anyone would buy, because he found the unique work more fulfilling.</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We wonder if this means </a:t>
            </a:r>
            <a:r>
              <a:rPr lang="en" sz="1500"/>
              <a:t>that reproducing what already sells makes him feel confined by past successes, while uncertainty gives him room to discover what he wants to express as an artist.</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highlight>
                  <a:srgbClr val="FFF2CC"/>
                </a:highlight>
              </a:rPr>
              <a:t>It would be game-changing to help</a:t>
            </a:r>
            <a:r>
              <a:rPr lang="en" sz="1500">
                <a:highlight>
                  <a:srgbClr val="FFF2CC"/>
                </a:highlight>
              </a:rPr>
              <a:t> Noah feel free to let his artistic voice evolve beyond what buyers already expect from him, while sustaining his livelihood.</a:t>
            </a:r>
            <a:endParaRPr sz="1500">
              <a:highlight>
                <a:srgbClr val="FFF2CC"/>
              </a:highlight>
            </a:endParaRPr>
          </a:p>
          <a:p>
            <a:pPr indent="0" lvl="0" marL="0" rtl="0" algn="l">
              <a:spcBef>
                <a:spcPts val="0"/>
              </a:spcBef>
              <a:spcAft>
                <a:spcPts val="0"/>
              </a:spcAft>
              <a:buNone/>
            </a:pPr>
            <a:r>
              <a:t/>
            </a:r>
            <a:endParaRPr b="1" sz="1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7"/>
          <p:cNvSpPr txBox="1"/>
          <p:nvPr>
            <p:ph type="title"/>
          </p:nvPr>
        </p:nvSpPr>
        <p:spPr>
          <a:xfrm>
            <a:off x="821711" y="621350"/>
            <a:ext cx="70545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LOLA POV</a:t>
            </a:r>
            <a:endParaRPr/>
          </a:p>
        </p:txBody>
      </p:sp>
      <p:sp>
        <p:nvSpPr>
          <p:cNvPr id="571" name="Google Shape;571;p67"/>
          <p:cNvSpPr txBox="1"/>
          <p:nvPr>
            <p:ph idx="1" type="subTitle"/>
          </p:nvPr>
        </p:nvSpPr>
        <p:spPr>
          <a:xfrm>
            <a:off x="821700" y="1194050"/>
            <a:ext cx="7975800" cy="384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We met Lola,</a:t>
            </a:r>
            <a:r>
              <a:rPr lang="en" sz="1500"/>
              <a:t> a newly hired clinical dietitian who once sold watercolor commissions but lost touch with her creative hobbies—and her sense of self—during intensive schooling</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b="1" lang="en" sz="1500"/>
              <a:t>We were surprised to notice </a:t>
            </a:r>
            <a:r>
              <a:rPr lang="en" sz="1500"/>
              <a:t>that she returned to creativity through unfamiliar crafts with friends, while seeing her old paintings reminded her of a creative side she had left behind</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We wonder if this means </a:t>
            </a:r>
            <a:r>
              <a:rPr lang="en" sz="1500"/>
              <a:t>that reconnecting with creativity involves both remembering who she was and discovering who she can become through new ways of making.</a:t>
            </a:r>
            <a:endParaRPr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highlight>
                  <a:srgbClr val="FFF2CC"/>
                </a:highlight>
              </a:rPr>
              <a:t>It would be game-changing to help </a:t>
            </a:r>
            <a:r>
              <a:rPr lang="en" sz="1500">
                <a:highlight>
                  <a:srgbClr val="FFF2CC"/>
                </a:highlight>
              </a:rPr>
              <a:t>Lola carry what she loved about past crafts into new creative experiences, without feeling she has to pick up exactly where she left off</a:t>
            </a:r>
            <a:endParaRPr sz="1500">
              <a:highlight>
                <a:srgbClr val="FFF2CC"/>
              </a:highlight>
            </a:endParaRPr>
          </a:p>
          <a:p>
            <a:pPr indent="0" lvl="0" marL="0" rtl="0" algn="l">
              <a:spcBef>
                <a:spcPts val="0"/>
              </a:spcBef>
              <a:spcAft>
                <a:spcPts val="0"/>
              </a:spcAft>
              <a:buNone/>
            </a:pPr>
            <a:r>
              <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5" name="Shape 575"/>
        <p:cNvGrpSpPr/>
        <p:nvPr/>
      </p:nvGrpSpPr>
      <p:grpSpPr>
        <a:xfrm>
          <a:off x="0" y="0"/>
          <a:ext cx="0" cy="0"/>
          <a:chOff x="0" y="0"/>
          <a:chExt cx="0" cy="0"/>
        </a:xfrm>
      </p:grpSpPr>
      <p:sp>
        <p:nvSpPr>
          <p:cNvPr id="576" name="Google Shape;576;p6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ITERATION CYCLE</a:t>
            </a:r>
            <a:endParaRPr/>
          </a:p>
        </p:txBody>
      </p:sp>
      <p:pic>
        <p:nvPicPr>
          <p:cNvPr id="577" name="Google Shape;577;p68" title="Screenshot 2026-10-08 at 2.17.02 PM.png"/>
          <p:cNvPicPr preferRelativeResize="0"/>
          <p:nvPr/>
        </p:nvPicPr>
        <p:blipFill>
          <a:blip r:embed="rId3">
            <a:alphaModFix/>
          </a:blip>
          <a:stretch>
            <a:fillRect/>
          </a:stretch>
        </p:blipFill>
        <p:spPr>
          <a:xfrm>
            <a:off x="455904" y="1873117"/>
            <a:ext cx="1227833" cy="1582478"/>
          </a:xfrm>
          <a:prstGeom prst="rect">
            <a:avLst/>
          </a:prstGeom>
          <a:noFill/>
          <a:ln>
            <a:noFill/>
          </a:ln>
        </p:spPr>
      </p:pic>
      <p:pic>
        <p:nvPicPr>
          <p:cNvPr id="578" name="Google Shape;578;p68" title="Screenshot 2026-10-08 at 2.17.31 PM.png"/>
          <p:cNvPicPr preferRelativeResize="0"/>
          <p:nvPr/>
        </p:nvPicPr>
        <p:blipFill>
          <a:blip r:embed="rId4">
            <a:alphaModFix/>
          </a:blip>
          <a:stretch>
            <a:fillRect/>
          </a:stretch>
        </p:blipFill>
        <p:spPr>
          <a:xfrm>
            <a:off x="1135408" y="2426533"/>
            <a:ext cx="1026821" cy="593771"/>
          </a:xfrm>
          <a:prstGeom prst="rect">
            <a:avLst/>
          </a:prstGeom>
          <a:noFill/>
          <a:ln>
            <a:noFill/>
          </a:ln>
        </p:spPr>
      </p:pic>
      <p:sp>
        <p:nvSpPr>
          <p:cNvPr id="579" name="Google Shape;579;p68"/>
          <p:cNvSpPr txBox="1"/>
          <p:nvPr>
            <p:ph idx="1" type="subTitle"/>
          </p:nvPr>
        </p:nvSpPr>
        <p:spPr>
          <a:xfrm>
            <a:off x="418800" y="1454927"/>
            <a:ext cx="2061300" cy="5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Initial HMW</a:t>
            </a:r>
            <a:endParaRPr sz="1700"/>
          </a:p>
        </p:txBody>
      </p:sp>
      <p:sp>
        <p:nvSpPr>
          <p:cNvPr id="580" name="Google Shape;580;p68"/>
          <p:cNvSpPr txBox="1"/>
          <p:nvPr>
            <p:ph idx="1" type="subTitle"/>
          </p:nvPr>
        </p:nvSpPr>
        <p:spPr>
          <a:xfrm>
            <a:off x="2489687" y="1446850"/>
            <a:ext cx="2061300" cy="5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Solutions V1</a:t>
            </a:r>
            <a:endParaRPr sz="1700"/>
          </a:p>
        </p:txBody>
      </p:sp>
      <p:pic>
        <p:nvPicPr>
          <p:cNvPr id="581" name="Google Shape;581;p68" title="Screenshot 2026-10-08 at 2.19.21 PM.png"/>
          <p:cNvPicPr preferRelativeResize="0"/>
          <p:nvPr/>
        </p:nvPicPr>
        <p:blipFill rotWithShape="1">
          <a:blip r:embed="rId5">
            <a:alphaModFix/>
          </a:blip>
          <a:srcRect b="0" l="0" r="31248" t="0"/>
          <a:stretch/>
        </p:blipFill>
        <p:spPr>
          <a:xfrm>
            <a:off x="2353975" y="1859625"/>
            <a:ext cx="2524452" cy="943050"/>
          </a:xfrm>
          <a:prstGeom prst="rect">
            <a:avLst/>
          </a:prstGeom>
          <a:noFill/>
          <a:ln>
            <a:noFill/>
          </a:ln>
        </p:spPr>
      </p:pic>
      <p:sp>
        <p:nvSpPr>
          <p:cNvPr id="582" name="Google Shape;582;p68"/>
          <p:cNvSpPr txBox="1"/>
          <p:nvPr>
            <p:ph idx="1" type="subTitle"/>
          </p:nvPr>
        </p:nvSpPr>
        <p:spPr>
          <a:xfrm>
            <a:off x="5023734" y="1468900"/>
            <a:ext cx="1884900" cy="470400"/>
          </a:xfrm>
          <a:prstGeom prst="rect">
            <a:avLst/>
          </a:prstGeom>
        </p:spPr>
        <p:txBody>
          <a:bodyPr anchorCtr="0" anchor="t" bIns="83600" lIns="83600" spcFirstLastPara="1" rIns="83600" wrap="square" tIns="83600">
            <a:noAutofit/>
          </a:bodyPr>
          <a:lstStyle/>
          <a:p>
            <a:pPr indent="0" lvl="0" marL="0" rtl="0" algn="l">
              <a:spcBef>
                <a:spcPts val="0"/>
              </a:spcBef>
              <a:spcAft>
                <a:spcPts val="0"/>
              </a:spcAft>
              <a:buNone/>
            </a:pPr>
            <a:r>
              <a:rPr lang="en" sz="1555"/>
              <a:t>Revised</a:t>
            </a:r>
            <a:r>
              <a:rPr lang="en" sz="1555"/>
              <a:t> HMW</a:t>
            </a:r>
            <a:endParaRPr sz="1555"/>
          </a:p>
        </p:txBody>
      </p:sp>
      <p:pic>
        <p:nvPicPr>
          <p:cNvPr id="583" name="Google Shape;583;p68" title="Screenshot 2026-10-08 at 2.21.51 PM.png"/>
          <p:cNvPicPr preferRelativeResize="0"/>
          <p:nvPr/>
        </p:nvPicPr>
        <p:blipFill>
          <a:blip r:embed="rId6">
            <a:alphaModFix/>
          </a:blip>
          <a:stretch>
            <a:fillRect/>
          </a:stretch>
        </p:blipFill>
        <p:spPr>
          <a:xfrm>
            <a:off x="5124250" y="1938175"/>
            <a:ext cx="1122812" cy="1076491"/>
          </a:xfrm>
          <a:prstGeom prst="rect">
            <a:avLst/>
          </a:prstGeom>
          <a:noFill/>
          <a:ln>
            <a:noFill/>
          </a:ln>
        </p:spPr>
      </p:pic>
      <p:pic>
        <p:nvPicPr>
          <p:cNvPr id="584" name="Google Shape;584;p68" title="IMG_4887.jpeg"/>
          <p:cNvPicPr preferRelativeResize="0"/>
          <p:nvPr/>
        </p:nvPicPr>
        <p:blipFill rotWithShape="1">
          <a:blip r:embed="rId7">
            <a:alphaModFix/>
          </a:blip>
          <a:srcRect b="12792" l="0" r="0" t="22437"/>
          <a:stretch/>
        </p:blipFill>
        <p:spPr>
          <a:xfrm>
            <a:off x="5662111" y="3155673"/>
            <a:ext cx="1246514" cy="1076475"/>
          </a:xfrm>
          <a:prstGeom prst="rect">
            <a:avLst/>
          </a:prstGeom>
          <a:noFill/>
          <a:ln>
            <a:noFill/>
          </a:ln>
        </p:spPr>
      </p:pic>
      <p:sp>
        <p:nvSpPr>
          <p:cNvPr id="585" name="Google Shape;585;p68"/>
          <p:cNvSpPr txBox="1"/>
          <p:nvPr>
            <p:ph idx="1" type="subTitle"/>
          </p:nvPr>
        </p:nvSpPr>
        <p:spPr>
          <a:xfrm>
            <a:off x="7211498" y="1458043"/>
            <a:ext cx="2061300" cy="5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Solutions V2</a:t>
            </a:r>
            <a:endParaRPr sz="1700"/>
          </a:p>
        </p:txBody>
      </p:sp>
      <p:pic>
        <p:nvPicPr>
          <p:cNvPr id="586" name="Google Shape;586;p68" title="IMG_4872.jpeg"/>
          <p:cNvPicPr preferRelativeResize="0"/>
          <p:nvPr/>
        </p:nvPicPr>
        <p:blipFill rotWithShape="1">
          <a:blip r:embed="rId8">
            <a:alphaModFix/>
          </a:blip>
          <a:srcRect b="0" l="26643" r="0" t="0"/>
          <a:stretch/>
        </p:blipFill>
        <p:spPr>
          <a:xfrm>
            <a:off x="5966246" y="2266414"/>
            <a:ext cx="939003" cy="960035"/>
          </a:xfrm>
          <a:prstGeom prst="rect">
            <a:avLst/>
          </a:prstGeom>
          <a:noFill/>
          <a:ln>
            <a:noFill/>
          </a:ln>
        </p:spPr>
      </p:pic>
      <p:pic>
        <p:nvPicPr>
          <p:cNvPr id="587" name="Google Shape;587;p68" title="IMG_4880.jpeg"/>
          <p:cNvPicPr preferRelativeResize="0"/>
          <p:nvPr/>
        </p:nvPicPr>
        <p:blipFill>
          <a:blip r:embed="rId9">
            <a:alphaModFix/>
          </a:blip>
          <a:stretch>
            <a:fillRect/>
          </a:stretch>
        </p:blipFill>
        <p:spPr>
          <a:xfrm>
            <a:off x="4719724" y="3014678"/>
            <a:ext cx="1246515" cy="934894"/>
          </a:xfrm>
          <a:prstGeom prst="rect">
            <a:avLst/>
          </a:prstGeom>
          <a:noFill/>
          <a:ln>
            <a:noFill/>
          </a:ln>
        </p:spPr>
      </p:pic>
      <p:pic>
        <p:nvPicPr>
          <p:cNvPr id="588" name="Google Shape;588;p68" title="Screenshot 2026-10-08 at 2.19.21 PM.png"/>
          <p:cNvPicPr preferRelativeResize="0"/>
          <p:nvPr/>
        </p:nvPicPr>
        <p:blipFill rotWithShape="1">
          <a:blip r:embed="rId5">
            <a:alphaModFix/>
          </a:blip>
          <a:srcRect b="0" l="66561" r="0" t="0"/>
          <a:stretch/>
        </p:blipFill>
        <p:spPr>
          <a:xfrm>
            <a:off x="2353974" y="2802675"/>
            <a:ext cx="1227827" cy="943050"/>
          </a:xfrm>
          <a:prstGeom prst="rect">
            <a:avLst/>
          </a:prstGeom>
          <a:noFill/>
          <a:ln>
            <a:noFill/>
          </a:ln>
        </p:spPr>
      </p:pic>
      <p:pic>
        <p:nvPicPr>
          <p:cNvPr id="589" name="Google Shape;589;p68" title="Screenshot 2026-10-08 at 8.58.30 PM.png"/>
          <p:cNvPicPr preferRelativeResize="0"/>
          <p:nvPr/>
        </p:nvPicPr>
        <p:blipFill>
          <a:blip r:embed="rId10">
            <a:alphaModFix/>
          </a:blip>
          <a:stretch>
            <a:fillRect/>
          </a:stretch>
        </p:blipFill>
        <p:spPr>
          <a:xfrm>
            <a:off x="7104174" y="2083025"/>
            <a:ext cx="1884901" cy="1548495"/>
          </a:xfrm>
          <a:prstGeom prst="rect">
            <a:avLst/>
          </a:prstGeom>
          <a:noFill/>
          <a:ln>
            <a:noFill/>
          </a:ln>
        </p:spPr>
      </p:pic>
      <p:cxnSp>
        <p:nvCxnSpPr>
          <p:cNvPr id="590" name="Google Shape;590;p68"/>
          <p:cNvCxnSpPr/>
          <p:nvPr/>
        </p:nvCxnSpPr>
        <p:spPr>
          <a:xfrm>
            <a:off x="1822900" y="1704100"/>
            <a:ext cx="288300" cy="0"/>
          </a:xfrm>
          <a:prstGeom prst="straightConnector1">
            <a:avLst/>
          </a:prstGeom>
          <a:noFill/>
          <a:ln cap="flat" cmpd="sng" w="9525">
            <a:solidFill>
              <a:schemeClr val="dk2"/>
            </a:solidFill>
            <a:prstDash val="solid"/>
            <a:round/>
            <a:headEnd len="med" w="med" type="none"/>
            <a:tailEnd len="med" w="med" type="triangle"/>
          </a:ln>
        </p:spPr>
      </p:cxnSp>
      <p:cxnSp>
        <p:nvCxnSpPr>
          <p:cNvPr id="591" name="Google Shape;591;p68"/>
          <p:cNvCxnSpPr/>
          <p:nvPr/>
        </p:nvCxnSpPr>
        <p:spPr>
          <a:xfrm>
            <a:off x="4338075" y="1672087"/>
            <a:ext cx="288300" cy="0"/>
          </a:xfrm>
          <a:prstGeom prst="straightConnector1">
            <a:avLst/>
          </a:prstGeom>
          <a:noFill/>
          <a:ln cap="flat" cmpd="sng" w="9525">
            <a:solidFill>
              <a:schemeClr val="dk2"/>
            </a:solidFill>
            <a:prstDash val="solid"/>
            <a:round/>
            <a:headEnd len="med" w="med" type="none"/>
            <a:tailEnd len="med" w="med" type="triangle"/>
          </a:ln>
        </p:spPr>
      </p:cxnSp>
      <p:cxnSp>
        <p:nvCxnSpPr>
          <p:cNvPr id="592" name="Google Shape;592;p68"/>
          <p:cNvCxnSpPr/>
          <p:nvPr/>
        </p:nvCxnSpPr>
        <p:spPr>
          <a:xfrm>
            <a:off x="6684975" y="1704100"/>
            <a:ext cx="2883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6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 OVERVIEW</a:t>
            </a:r>
            <a:endParaRPr/>
          </a:p>
        </p:txBody>
      </p:sp>
      <p:pic>
        <p:nvPicPr>
          <p:cNvPr id="598" name="Google Shape;598;p69"/>
          <p:cNvPicPr preferRelativeResize="0"/>
          <p:nvPr/>
        </p:nvPicPr>
        <p:blipFill>
          <a:blip r:embed="rId3">
            <a:alphaModFix/>
          </a:blip>
          <a:stretch>
            <a:fillRect/>
          </a:stretch>
        </p:blipFill>
        <p:spPr>
          <a:xfrm>
            <a:off x="795528" y="1755648"/>
            <a:ext cx="7703999" cy="2307661"/>
          </a:xfrm>
          <a:prstGeom prst="rect">
            <a:avLst/>
          </a:prstGeom>
          <a:noFill/>
          <a:ln>
            <a:noFill/>
          </a:ln>
        </p:spPr>
      </p:pic>
      <p:sp>
        <p:nvSpPr>
          <p:cNvPr id="599" name="Google Shape;599;p69"/>
          <p:cNvSpPr/>
          <p:nvPr/>
        </p:nvSpPr>
        <p:spPr>
          <a:xfrm>
            <a:off x="862350" y="1833225"/>
            <a:ext cx="4880700" cy="21465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0"/>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might we help crafters preserve a sense of play to lower the stakes of </a:t>
            </a:r>
            <a:r>
              <a:rPr lang="en"/>
              <a:t>entry</a:t>
            </a:r>
            <a:r>
              <a:rPr lang="en"/>
              <a:t> into a craft</a:t>
            </a:r>
            <a:r>
              <a:rPr lang="en"/>
              <a:t>?</a:t>
            </a:r>
            <a:endParaRPr/>
          </a:p>
        </p:txBody>
      </p:sp>
      <p:sp>
        <p:nvSpPr>
          <p:cNvPr id="605" name="Google Shape;605;p7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1</a:t>
            </a:r>
            <a:endParaRPr/>
          </a:p>
        </p:txBody>
      </p:sp>
      <p:sp>
        <p:nvSpPr>
          <p:cNvPr id="606" name="Google Shape;606;p70"/>
          <p:cNvSpPr txBox="1"/>
          <p:nvPr>
            <p:ph idx="1" type="subTitle"/>
          </p:nvPr>
        </p:nvSpPr>
        <p:spPr>
          <a:xfrm>
            <a:off x="658725" y="3712800"/>
            <a:ext cx="8008800" cy="11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900"/>
              <a:t>From Eddy: </a:t>
            </a:r>
            <a:r>
              <a:rPr i="1" lang="en" sz="1900"/>
              <a:t>“It’s an opportunity to do something new and fun.”</a:t>
            </a:r>
            <a:endParaRPr i="1" sz="1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1"/>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Gamify crafting by having crafters go to different locations and craft at that location</a:t>
            </a:r>
            <a:endParaRPr/>
          </a:p>
        </p:txBody>
      </p:sp>
      <p:sp>
        <p:nvSpPr>
          <p:cNvPr id="612" name="Google Shape;612;p7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1</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2"/>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Crafting in different locations makes the crafting experience feel more playful/</a:t>
            </a:r>
            <a:r>
              <a:rPr lang="en"/>
              <a:t>adventurous</a:t>
            </a:r>
            <a:endParaRPr/>
          </a:p>
        </p:txBody>
      </p:sp>
      <p:sp>
        <p:nvSpPr>
          <p:cNvPr id="618" name="Google Shape;618;p7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1</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2" name="Shape 622"/>
        <p:cNvGrpSpPr/>
        <p:nvPr/>
      </p:nvGrpSpPr>
      <p:grpSpPr>
        <a:xfrm>
          <a:off x="0" y="0"/>
          <a:ext cx="0" cy="0"/>
          <a:chOff x="0" y="0"/>
          <a:chExt cx="0" cy="0"/>
        </a:xfrm>
      </p:grpSpPr>
      <p:sp>
        <p:nvSpPr>
          <p:cNvPr id="623" name="Google Shape;623;p73"/>
          <p:cNvSpPr txBox="1"/>
          <p:nvPr>
            <p:ph idx="1" type="subTitle"/>
          </p:nvPr>
        </p:nvSpPr>
        <p:spPr>
          <a:xfrm>
            <a:off x="798875" y="1392900"/>
            <a:ext cx="7409100" cy="3410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Crafters would be willing to leave their usual workspace.</a:t>
            </a:r>
            <a:endParaRPr sz="1400"/>
          </a:p>
          <a:p>
            <a:pPr indent="-317500" lvl="0" marL="457200" rtl="0" algn="l">
              <a:spcBef>
                <a:spcPts val="0"/>
              </a:spcBef>
              <a:spcAft>
                <a:spcPts val="0"/>
              </a:spcAft>
              <a:buSzPts val="1400"/>
              <a:buChar char="-"/>
            </a:pPr>
            <a:r>
              <a:rPr lang="en" sz="1400"/>
              <a:t>An unfamiliar location would feel inspiring rather than distracting.</a:t>
            </a:r>
            <a:endParaRPr sz="1400"/>
          </a:p>
          <a:p>
            <a:pPr indent="-317500" lvl="0" marL="457200" rtl="0" algn="l">
              <a:spcBef>
                <a:spcPts val="0"/>
              </a:spcBef>
              <a:spcAft>
                <a:spcPts val="0"/>
              </a:spcAft>
              <a:buSzPts val="1400"/>
              <a:buChar char="-"/>
            </a:pPr>
            <a:r>
              <a:rPr lang="en" sz="1400"/>
              <a:t>The environment itself would influence what someone creates.</a:t>
            </a:r>
            <a:endParaRPr sz="1400"/>
          </a:p>
          <a:p>
            <a:pPr indent="-317500" lvl="0" marL="457200" rtl="0" algn="l">
              <a:spcBef>
                <a:spcPts val="0"/>
              </a:spcBef>
              <a:spcAft>
                <a:spcPts val="0"/>
              </a:spcAft>
              <a:buSzPts val="1400"/>
              <a:buChar char="-"/>
            </a:pPr>
            <a:r>
              <a:rPr lang="en" sz="1400"/>
              <a:t>Portable materials would be sufficient for spontaneous crafting.</a:t>
            </a:r>
            <a:endParaRPr sz="1400"/>
          </a:p>
          <a:p>
            <a:pPr indent="-317500" lvl="0" marL="457200" rtl="0" algn="l">
              <a:spcBef>
                <a:spcPts val="0"/>
              </a:spcBef>
              <a:spcAft>
                <a:spcPts val="0"/>
              </a:spcAft>
              <a:buSzPts val="1400"/>
              <a:buChar char="-"/>
            </a:pPr>
            <a:r>
              <a:rPr lang="en" sz="1400"/>
              <a:t>People would feel less perfectionistic outside their normal workspace.</a:t>
            </a:r>
            <a:endParaRPr sz="1400"/>
          </a:p>
          <a:p>
            <a:pPr indent="-317500" lvl="0" marL="457200" rtl="0" algn="l">
              <a:spcBef>
                <a:spcPts val="0"/>
              </a:spcBef>
              <a:spcAft>
                <a:spcPts val="0"/>
              </a:spcAft>
              <a:buSzPts val="1400"/>
              <a:buChar char="-"/>
            </a:pPr>
            <a:r>
              <a:rPr lang="en" sz="1400"/>
              <a:t>The effect would come from the location itself, not simply from being given a new task.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Our </a:t>
            </a:r>
            <a:r>
              <a:rPr lang="en" sz="1400" u="sng"/>
              <a:t>key assumption</a:t>
            </a:r>
            <a:r>
              <a:rPr lang="en" sz="1400"/>
              <a:t> includes the whole solution depending on location changing the emotional experience of making. </a:t>
            </a:r>
            <a:r>
              <a:rPr lang="en" sz="1400"/>
              <a:t>If a new environment does not reduc</a:t>
            </a:r>
            <a:r>
              <a:rPr lang="en" sz="1400"/>
              <a:t>e pressure or increase playfulness, then sending crafters elsewhere adds friction without adding value. This assumption tests the core experience, not just whether the concept is convenient or usable.</a:t>
            </a:r>
            <a:endParaRPr sz="1400"/>
          </a:p>
        </p:txBody>
      </p:sp>
      <p:sp>
        <p:nvSpPr>
          <p:cNvPr id="624" name="Google Shape;624;p7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ASSUMPTIONS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4"/>
          <p:cNvSpPr txBox="1"/>
          <p:nvPr>
            <p:ph type="title"/>
          </p:nvPr>
        </p:nvSpPr>
        <p:spPr>
          <a:xfrm>
            <a:off x="503825" y="652200"/>
            <a:ext cx="3232200" cy="9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PROTOTYPE 1</a:t>
            </a:r>
            <a:endParaRPr/>
          </a:p>
          <a:p>
            <a:pPr indent="0" lvl="0" marL="0" rtl="0" algn="l">
              <a:spcBef>
                <a:spcPts val="0"/>
              </a:spcBef>
              <a:spcAft>
                <a:spcPts val="0"/>
              </a:spcAft>
              <a:buNone/>
            </a:pPr>
            <a:r>
              <a:t/>
            </a:r>
            <a:endParaRPr/>
          </a:p>
        </p:txBody>
      </p:sp>
      <p:sp>
        <p:nvSpPr>
          <p:cNvPr id="630" name="Google Shape;630;p74"/>
          <p:cNvSpPr txBox="1"/>
          <p:nvPr>
            <p:ph idx="1" type="subTitle"/>
          </p:nvPr>
        </p:nvSpPr>
        <p:spPr>
          <a:xfrm>
            <a:off x="503825" y="1640900"/>
            <a:ext cx="3764700" cy="29631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1800"/>
              <a:t>Request a crafter to craft in their regular crafting space</a:t>
            </a:r>
            <a:endParaRPr sz="1800"/>
          </a:p>
          <a:p>
            <a:pPr indent="0" lvl="0" marL="0" rtl="0" algn="l">
              <a:spcBef>
                <a:spcPts val="0"/>
              </a:spcBef>
              <a:spcAft>
                <a:spcPts val="0"/>
              </a:spcAft>
              <a:buNone/>
            </a:pPr>
            <a:r>
              <a:t/>
            </a:r>
            <a:endParaRPr sz="1800"/>
          </a:p>
          <a:p>
            <a:pPr indent="-381000" lvl="0" marL="457200" rtl="0" algn="l">
              <a:spcBef>
                <a:spcPts val="0"/>
              </a:spcBef>
              <a:spcAft>
                <a:spcPts val="0"/>
              </a:spcAft>
              <a:buSzPts val="2400"/>
              <a:buAutoNum type="arabicPeriod"/>
            </a:pPr>
            <a:r>
              <a:rPr lang="en" sz="1800"/>
              <a:t>Request the same crafter to follow us to an ~</a:t>
            </a:r>
            <a:r>
              <a:rPr i="1" lang="en" sz="1800"/>
              <a:t>unknown~</a:t>
            </a:r>
            <a:r>
              <a:rPr lang="en" sz="1800"/>
              <a:t> location and craft there</a:t>
            </a:r>
            <a:endParaRPr sz="1800"/>
          </a:p>
        </p:txBody>
      </p:sp>
      <p:pic>
        <p:nvPicPr>
          <p:cNvPr id="631" name="Google Shape;631;p74" title="Screenshot 2026-10-08 at 5.08.45 PM.png"/>
          <p:cNvPicPr preferRelativeResize="0"/>
          <p:nvPr/>
        </p:nvPicPr>
        <p:blipFill rotWithShape="1">
          <a:blip r:embed="rId3">
            <a:alphaModFix/>
          </a:blip>
          <a:srcRect b="0" l="17632" r="4867" t="0"/>
          <a:stretch/>
        </p:blipFill>
        <p:spPr>
          <a:xfrm>
            <a:off x="4684125" y="1224900"/>
            <a:ext cx="3542276" cy="3152926"/>
          </a:xfrm>
          <a:prstGeom prst="rect">
            <a:avLst/>
          </a:prstGeom>
          <a:noFill/>
          <a:ln>
            <a:noFill/>
          </a:ln>
        </p:spPr>
      </p:pic>
      <p:pic>
        <p:nvPicPr>
          <p:cNvPr id="632" name="Google Shape;632;p74" title="IMG_4902.jpeg"/>
          <p:cNvPicPr preferRelativeResize="0"/>
          <p:nvPr/>
        </p:nvPicPr>
        <p:blipFill>
          <a:blip r:embed="rId4">
            <a:alphaModFix/>
          </a:blip>
          <a:stretch>
            <a:fillRect/>
          </a:stretch>
        </p:blipFill>
        <p:spPr>
          <a:xfrm>
            <a:off x="8140175" y="3804093"/>
            <a:ext cx="888449" cy="1184584"/>
          </a:xfrm>
          <a:prstGeom prst="rect">
            <a:avLst/>
          </a:prstGeom>
          <a:noFill/>
          <a:ln>
            <a:noFill/>
          </a:ln>
        </p:spPr>
      </p:pic>
      <p:pic>
        <p:nvPicPr>
          <p:cNvPr id="633" name="Google Shape;633;p74" title="IMG_4932.jpeg"/>
          <p:cNvPicPr preferRelativeResize="0"/>
          <p:nvPr/>
        </p:nvPicPr>
        <p:blipFill>
          <a:blip r:embed="rId5">
            <a:alphaModFix/>
          </a:blip>
          <a:stretch>
            <a:fillRect/>
          </a:stretch>
        </p:blipFill>
        <p:spPr>
          <a:xfrm>
            <a:off x="3903025" y="539502"/>
            <a:ext cx="888449" cy="1184625"/>
          </a:xfrm>
          <a:prstGeom prst="rect">
            <a:avLst/>
          </a:prstGeom>
          <a:noFill/>
          <a:ln>
            <a:noFill/>
          </a:ln>
        </p:spPr>
      </p:pic>
      <p:sp>
        <p:nvSpPr>
          <p:cNvPr id="634" name="Google Shape;634;p74"/>
          <p:cNvSpPr/>
          <p:nvPr/>
        </p:nvSpPr>
        <p:spPr>
          <a:xfrm>
            <a:off x="4975675" y="1799000"/>
            <a:ext cx="278100" cy="310500"/>
          </a:xfrm>
          <a:prstGeom prst="rect">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635" name="Google Shape;635;p74"/>
          <p:cNvSpPr txBox="1"/>
          <p:nvPr/>
        </p:nvSpPr>
        <p:spPr>
          <a:xfrm>
            <a:off x="4892040" y="1724125"/>
            <a:ext cx="406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Epilogue"/>
                <a:ea typeface="Epilogue"/>
                <a:cs typeface="Epilogue"/>
                <a:sym typeface="Epilogue"/>
              </a:rPr>
              <a:t>📍</a:t>
            </a:r>
            <a:endParaRPr sz="2000">
              <a:solidFill>
                <a:schemeClr val="dk1"/>
              </a:solidFill>
              <a:latin typeface="Epilogue"/>
              <a:ea typeface="Epilogue"/>
              <a:cs typeface="Epilogue"/>
              <a:sym typeface="Epilogue"/>
            </a:endParaRPr>
          </a:p>
        </p:txBody>
      </p:sp>
      <p:sp>
        <p:nvSpPr>
          <p:cNvPr id="636" name="Google Shape;636;p74"/>
          <p:cNvSpPr/>
          <p:nvPr/>
        </p:nvSpPr>
        <p:spPr>
          <a:xfrm>
            <a:off x="8051750" y="3679925"/>
            <a:ext cx="278100" cy="310500"/>
          </a:xfrm>
          <a:prstGeom prst="rect">
            <a:avLst/>
          </a:prstGeom>
          <a:solidFill>
            <a:schemeClr val="lt1"/>
          </a:solid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637" name="Google Shape;637;p74"/>
          <p:cNvSpPr txBox="1"/>
          <p:nvPr/>
        </p:nvSpPr>
        <p:spPr>
          <a:xfrm>
            <a:off x="7973568" y="3588875"/>
            <a:ext cx="469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Epilogue"/>
                <a:ea typeface="Epilogue"/>
                <a:cs typeface="Epilogue"/>
                <a:sym typeface="Epilogue"/>
              </a:rPr>
              <a:t>🏠</a:t>
            </a:r>
            <a:endParaRPr sz="2000">
              <a:solidFill>
                <a:schemeClr val="dk1"/>
              </a:solidFill>
              <a:latin typeface="Epilogue"/>
              <a:ea typeface="Epilogue"/>
              <a:cs typeface="Epilogue"/>
              <a:sym typeface="Epilogue"/>
            </a:endParaRPr>
          </a:p>
        </p:txBody>
      </p:sp>
      <p:pic>
        <p:nvPicPr>
          <p:cNvPr id="638" name="Google Shape;638;p74"/>
          <p:cNvPicPr preferRelativeResize="0"/>
          <p:nvPr/>
        </p:nvPicPr>
        <p:blipFill>
          <a:blip r:embed="rId6">
            <a:alphaModFix/>
          </a:blip>
          <a:stretch>
            <a:fillRect/>
          </a:stretch>
        </p:blipFill>
        <p:spPr>
          <a:xfrm rot="1132196">
            <a:off x="8260857" y="3839535"/>
            <a:ext cx="490835" cy="49087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2" name="Shape 642"/>
        <p:cNvGrpSpPr/>
        <p:nvPr/>
      </p:nvGrpSpPr>
      <p:grpSpPr>
        <a:xfrm>
          <a:off x="0" y="0"/>
          <a:ext cx="0" cy="0"/>
          <a:chOff x="0" y="0"/>
          <a:chExt cx="0" cy="0"/>
        </a:xfrm>
      </p:grpSpPr>
      <p:sp>
        <p:nvSpPr>
          <p:cNvPr id="643" name="Google Shape;643;p7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PARTICIPANT INFO</a:t>
            </a:r>
            <a:endParaRPr/>
          </a:p>
        </p:txBody>
      </p:sp>
      <p:sp>
        <p:nvSpPr>
          <p:cNvPr id="644" name="Google Shape;644;p75"/>
          <p:cNvSpPr txBox="1"/>
          <p:nvPr>
            <p:ph idx="1" type="subTitle"/>
          </p:nvPr>
        </p:nvSpPr>
        <p:spPr>
          <a:xfrm>
            <a:off x="1432800" y="1677900"/>
            <a:ext cx="6278400" cy="2572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Who: </a:t>
            </a:r>
            <a:r>
              <a:rPr lang="en" sz="1600"/>
              <a:t>Crafter with prior drawing experience</a:t>
            </a:r>
            <a:endParaRPr sz="1600"/>
          </a:p>
          <a:p>
            <a:pPr indent="-330200" lvl="0" marL="457200" rtl="0" algn="l">
              <a:spcBef>
                <a:spcPts val="0"/>
              </a:spcBef>
              <a:spcAft>
                <a:spcPts val="0"/>
              </a:spcAft>
              <a:buSzPts val="1600"/>
              <a:buChar char="-"/>
            </a:pPr>
            <a:r>
              <a:rPr b="1" lang="en" sz="1600"/>
              <a:t>Why relevant: </a:t>
            </a:r>
            <a:r>
              <a:rPr lang="en" sz="1600"/>
              <a:t>Familiar with crafting, but still feels pressure around making something “good”</a:t>
            </a:r>
            <a:endParaRPr sz="1600"/>
          </a:p>
          <a:p>
            <a:pPr indent="-330200" lvl="0" marL="457200" rtl="0" algn="l">
              <a:spcBef>
                <a:spcPts val="0"/>
              </a:spcBef>
              <a:spcAft>
                <a:spcPts val="0"/>
              </a:spcAft>
              <a:buSzPts val="1600"/>
              <a:buChar char="-"/>
            </a:pPr>
            <a:r>
              <a:rPr b="1" lang="en" sz="1600"/>
              <a:t>How recruited: </a:t>
            </a:r>
            <a:r>
              <a:rPr lang="en" sz="1600"/>
              <a:t>Existing contact / convenience recruitment</a:t>
            </a:r>
            <a:endParaRPr sz="1600"/>
          </a:p>
          <a:p>
            <a:pPr indent="-330200" lvl="0" marL="457200" rtl="0" algn="l">
              <a:spcBef>
                <a:spcPts val="0"/>
              </a:spcBef>
              <a:spcAft>
                <a:spcPts val="0"/>
              </a:spcAft>
              <a:buSzPts val="1600"/>
              <a:buChar char="-"/>
            </a:pPr>
            <a:r>
              <a:rPr b="1" lang="en" sz="1600"/>
              <a:t>Why useful: </a:t>
            </a:r>
            <a:r>
              <a:rPr lang="en" sz="1600"/>
              <a:t>Let us compare the same person crafting in a familiar vs. unfamiliar environment</a:t>
            </a:r>
            <a:endParaRPr sz="16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48" name="Shape 648"/>
        <p:cNvGrpSpPr/>
        <p:nvPr/>
      </p:nvGrpSpPr>
      <p:grpSpPr>
        <a:xfrm>
          <a:off x="0" y="0"/>
          <a:ext cx="0" cy="0"/>
          <a:chOff x="0" y="0"/>
          <a:chExt cx="0" cy="0"/>
        </a:xfrm>
      </p:grpSpPr>
      <p:pic>
        <p:nvPicPr>
          <p:cNvPr id="649" name="Google Shape;649;p76" title="IMG_4901.jpeg"/>
          <p:cNvPicPr preferRelativeResize="0"/>
          <p:nvPr/>
        </p:nvPicPr>
        <p:blipFill>
          <a:blip r:embed="rId3">
            <a:alphaModFix/>
          </a:blip>
          <a:stretch>
            <a:fillRect/>
          </a:stretch>
        </p:blipFill>
        <p:spPr>
          <a:xfrm>
            <a:off x="556825" y="700616"/>
            <a:ext cx="1252009" cy="1669309"/>
          </a:xfrm>
          <a:prstGeom prst="rect">
            <a:avLst/>
          </a:prstGeom>
          <a:noFill/>
          <a:ln>
            <a:noFill/>
          </a:ln>
        </p:spPr>
      </p:pic>
      <p:pic>
        <p:nvPicPr>
          <p:cNvPr id="650" name="Google Shape;650;p76" title="IMG_4902.jpeg"/>
          <p:cNvPicPr preferRelativeResize="0"/>
          <p:nvPr/>
        </p:nvPicPr>
        <p:blipFill>
          <a:blip r:embed="rId4">
            <a:alphaModFix/>
          </a:blip>
          <a:stretch>
            <a:fillRect/>
          </a:stretch>
        </p:blipFill>
        <p:spPr>
          <a:xfrm>
            <a:off x="1899908" y="700602"/>
            <a:ext cx="1252009" cy="1669345"/>
          </a:xfrm>
          <a:prstGeom prst="rect">
            <a:avLst/>
          </a:prstGeom>
          <a:noFill/>
          <a:ln>
            <a:noFill/>
          </a:ln>
        </p:spPr>
      </p:pic>
      <p:pic>
        <p:nvPicPr>
          <p:cNvPr id="651" name="Google Shape;651;p76" title="IMG_4909.jpeg"/>
          <p:cNvPicPr preferRelativeResize="0"/>
          <p:nvPr/>
        </p:nvPicPr>
        <p:blipFill>
          <a:blip r:embed="rId5">
            <a:alphaModFix/>
          </a:blip>
          <a:stretch>
            <a:fillRect/>
          </a:stretch>
        </p:blipFill>
        <p:spPr>
          <a:xfrm>
            <a:off x="556843" y="2519262"/>
            <a:ext cx="2564803" cy="1923644"/>
          </a:xfrm>
          <a:prstGeom prst="rect">
            <a:avLst/>
          </a:prstGeom>
          <a:noFill/>
          <a:ln>
            <a:noFill/>
          </a:ln>
        </p:spPr>
      </p:pic>
      <p:pic>
        <p:nvPicPr>
          <p:cNvPr id="652" name="Google Shape;652;p76" title="IMG_4932.jpeg"/>
          <p:cNvPicPr preferRelativeResize="0"/>
          <p:nvPr/>
        </p:nvPicPr>
        <p:blipFill>
          <a:blip r:embed="rId6">
            <a:alphaModFix/>
          </a:blip>
          <a:stretch>
            <a:fillRect/>
          </a:stretch>
        </p:blipFill>
        <p:spPr>
          <a:xfrm>
            <a:off x="5117287" y="700594"/>
            <a:ext cx="1252009" cy="1669356"/>
          </a:xfrm>
          <a:prstGeom prst="rect">
            <a:avLst/>
          </a:prstGeom>
          <a:noFill/>
          <a:ln>
            <a:noFill/>
          </a:ln>
        </p:spPr>
      </p:pic>
      <p:pic>
        <p:nvPicPr>
          <p:cNvPr id="653" name="Google Shape;653;p76" title="IMG_4937.jpeg"/>
          <p:cNvPicPr preferRelativeResize="0"/>
          <p:nvPr/>
        </p:nvPicPr>
        <p:blipFill>
          <a:blip r:embed="rId7">
            <a:alphaModFix/>
          </a:blip>
          <a:stretch>
            <a:fillRect/>
          </a:stretch>
        </p:blipFill>
        <p:spPr>
          <a:xfrm>
            <a:off x="3778289" y="700588"/>
            <a:ext cx="1252009" cy="1669356"/>
          </a:xfrm>
          <a:prstGeom prst="rect">
            <a:avLst/>
          </a:prstGeom>
          <a:noFill/>
          <a:ln>
            <a:noFill/>
          </a:ln>
        </p:spPr>
      </p:pic>
      <p:pic>
        <p:nvPicPr>
          <p:cNvPr id="654" name="Google Shape;654;p76" title="IMG_4957.jpeg"/>
          <p:cNvPicPr preferRelativeResize="0"/>
          <p:nvPr/>
        </p:nvPicPr>
        <p:blipFill>
          <a:blip r:embed="rId8">
            <a:alphaModFix/>
          </a:blip>
          <a:stretch>
            <a:fillRect/>
          </a:stretch>
        </p:blipFill>
        <p:spPr>
          <a:xfrm>
            <a:off x="3778290" y="2536714"/>
            <a:ext cx="1396527" cy="1862052"/>
          </a:xfrm>
          <a:prstGeom prst="rect">
            <a:avLst/>
          </a:prstGeom>
          <a:noFill/>
          <a:ln>
            <a:noFill/>
          </a:ln>
        </p:spPr>
      </p:pic>
      <p:pic>
        <p:nvPicPr>
          <p:cNvPr id="655" name="Google Shape;655;p76" title="Screenshot 2026-10-08 at 2.49.30 PM.png"/>
          <p:cNvPicPr preferRelativeResize="0"/>
          <p:nvPr/>
        </p:nvPicPr>
        <p:blipFill>
          <a:blip r:embed="rId9">
            <a:alphaModFix/>
          </a:blip>
          <a:stretch>
            <a:fillRect/>
          </a:stretch>
        </p:blipFill>
        <p:spPr>
          <a:xfrm>
            <a:off x="5313203" y="2536713"/>
            <a:ext cx="3273976" cy="1530399"/>
          </a:xfrm>
          <a:prstGeom prst="rect">
            <a:avLst/>
          </a:prstGeom>
          <a:noFill/>
          <a:ln>
            <a:noFill/>
          </a:ln>
        </p:spPr>
      </p:pic>
      <p:pic>
        <p:nvPicPr>
          <p:cNvPr id="656" name="Google Shape;656;p76"/>
          <p:cNvPicPr preferRelativeResize="0"/>
          <p:nvPr/>
        </p:nvPicPr>
        <p:blipFill>
          <a:blip r:embed="rId10">
            <a:alphaModFix/>
          </a:blip>
          <a:stretch>
            <a:fillRect/>
          </a:stretch>
        </p:blipFill>
        <p:spPr>
          <a:xfrm rot="262743">
            <a:off x="341596" y="2739578"/>
            <a:ext cx="1124642" cy="1124663"/>
          </a:xfrm>
          <a:prstGeom prst="rect">
            <a:avLst/>
          </a:prstGeom>
          <a:noFill/>
          <a:ln>
            <a:noFill/>
          </a:ln>
        </p:spPr>
      </p:pic>
      <p:pic>
        <p:nvPicPr>
          <p:cNvPr id="657" name="Google Shape;657;p76"/>
          <p:cNvPicPr preferRelativeResize="0"/>
          <p:nvPr/>
        </p:nvPicPr>
        <p:blipFill>
          <a:blip r:embed="rId10">
            <a:alphaModFix/>
          </a:blip>
          <a:stretch>
            <a:fillRect/>
          </a:stretch>
        </p:blipFill>
        <p:spPr>
          <a:xfrm rot="626875">
            <a:off x="2050636" y="720967"/>
            <a:ext cx="718554" cy="718589"/>
          </a:xfrm>
          <a:prstGeom prst="rect">
            <a:avLst/>
          </a:prstGeom>
          <a:noFill/>
          <a:ln>
            <a:noFill/>
          </a:ln>
        </p:spPr>
      </p:pic>
      <p:pic>
        <p:nvPicPr>
          <p:cNvPr id="658" name="Google Shape;658;p76"/>
          <p:cNvPicPr preferRelativeResize="0"/>
          <p:nvPr/>
        </p:nvPicPr>
        <p:blipFill>
          <a:blip r:embed="rId10">
            <a:alphaModFix/>
          </a:blip>
          <a:stretch>
            <a:fillRect/>
          </a:stretch>
        </p:blipFill>
        <p:spPr>
          <a:xfrm rot="949317">
            <a:off x="866353" y="825532"/>
            <a:ext cx="684937" cy="6849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FOUND 1</a:t>
            </a:r>
            <a:endParaRPr/>
          </a:p>
        </p:txBody>
      </p:sp>
      <p:sp>
        <p:nvSpPr>
          <p:cNvPr id="664" name="Google Shape;664;p77"/>
          <p:cNvSpPr txBox="1"/>
          <p:nvPr>
            <p:ph idx="1" type="subTitle"/>
          </p:nvPr>
        </p:nvSpPr>
        <p:spPr>
          <a:xfrm>
            <a:off x="4872350" y="1224888"/>
            <a:ext cx="2340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Unknown Location</a:t>
            </a:r>
            <a:endParaRPr sz="1600"/>
          </a:p>
        </p:txBody>
      </p:sp>
      <p:pic>
        <p:nvPicPr>
          <p:cNvPr id="665" name="Google Shape;665;p77" title="IMG_4902.jpeg"/>
          <p:cNvPicPr preferRelativeResize="0"/>
          <p:nvPr/>
        </p:nvPicPr>
        <p:blipFill>
          <a:blip r:embed="rId3">
            <a:alphaModFix/>
          </a:blip>
          <a:stretch>
            <a:fillRect/>
          </a:stretch>
        </p:blipFill>
        <p:spPr>
          <a:xfrm>
            <a:off x="600150" y="1763325"/>
            <a:ext cx="1311448" cy="1748618"/>
          </a:xfrm>
          <a:prstGeom prst="rect">
            <a:avLst/>
          </a:prstGeom>
          <a:noFill/>
          <a:ln>
            <a:noFill/>
          </a:ln>
        </p:spPr>
      </p:pic>
      <p:sp>
        <p:nvSpPr>
          <p:cNvPr id="666" name="Google Shape;666;p77"/>
          <p:cNvSpPr txBox="1"/>
          <p:nvPr>
            <p:ph idx="1" type="subTitle"/>
          </p:nvPr>
        </p:nvSpPr>
        <p:spPr>
          <a:xfrm>
            <a:off x="503813" y="1305438"/>
            <a:ext cx="254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Home</a:t>
            </a:r>
            <a:endParaRPr sz="1600"/>
          </a:p>
        </p:txBody>
      </p:sp>
      <p:sp>
        <p:nvSpPr>
          <p:cNvPr id="667" name="Google Shape;667;p77"/>
          <p:cNvSpPr txBox="1"/>
          <p:nvPr/>
        </p:nvSpPr>
        <p:spPr>
          <a:xfrm>
            <a:off x="432950" y="3847725"/>
            <a:ext cx="3751500" cy="892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Epilogue"/>
              <a:buChar char="●"/>
            </a:pPr>
            <a:r>
              <a:rPr lang="en">
                <a:latin typeface="Epilogue"/>
                <a:ea typeface="Epilogue"/>
                <a:cs typeface="Epilogue"/>
                <a:sym typeface="Epilogue"/>
              </a:rPr>
              <a:t>c</a:t>
            </a:r>
            <a:r>
              <a:rPr lang="en">
                <a:latin typeface="Epilogue"/>
                <a:ea typeface="Epilogue"/>
                <a:cs typeface="Epilogue"/>
                <a:sym typeface="Epilogue"/>
              </a:rPr>
              <a:t>rafting was about proving his skill as an artist</a:t>
            </a:r>
            <a:endParaRPr>
              <a:latin typeface="Epilogue"/>
              <a:ea typeface="Epilogue"/>
              <a:cs typeface="Epilogue"/>
              <a:sym typeface="Epilogue"/>
            </a:endParaRPr>
          </a:p>
          <a:p>
            <a:pPr indent="-330200" lvl="0" marL="457200" rtl="0" algn="l">
              <a:spcBef>
                <a:spcPts val="0"/>
              </a:spcBef>
              <a:spcAft>
                <a:spcPts val="0"/>
              </a:spcAft>
              <a:buClr>
                <a:schemeClr val="dk1"/>
              </a:buClr>
              <a:buSzPts val="1600"/>
              <a:buFont typeface="Epilogue"/>
              <a:buChar char="●"/>
            </a:pPr>
            <a:r>
              <a:rPr lang="en">
                <a:latin typeface="Epilogue"/>
                <a:ea typeface="Epilogue"/>
                <a:cs typeface="Epilogue"/>
                <a:sym typeface="Epilogue"/>
              </a:rPr>
              <a:t>e</a:t>
            </a:r>
            <a:r>
              <a:rPr lang="en">
                <a:latin typeface="Epilogue"/>
                <a:ea typeface="Epilogue"/>
                <a:cs typeface="Epilogue"/>
                <a:sym typeface="Epilogue"/>
              </a:rPr>
              <a:t>xperience was rigid</a:t>
            </a:r>
            <a:endParaRPr>
              <a:latin typeface="Epilogue"/>
              <a:ea typeface="Epilogue"/>
              <a:cs typeface="Epilogue"/>
              <a:sym typeface="Epilogue"/>
            </a:endParaRPr>
          </a:p>
        </p:txBody>
      </p:sp>
      <p:sp>
        <p:nvSpPr>
          <p:cNvPr id="668" name="Google Shape;668;p77"/>
          <p:cNvSpPr txBox="1"/>
          <p:nvPr/>
        </p:nvSpPr>
        <p:spPr>
          <a:xfrm>
            <a:off x="4821725" y="3847725"/>
            <a:ext cx="4037700" cy="8928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Epilogue"/>
              <a:buChar char="●"/>
            </a:pPr>
            <a:r>
              <a:rPr lang="en">
                <a:solidFill>
                  <a:schemeClr val="dk1"/>
                </a:solidFill>
                <a:latin typeface="Epilogue"/>
                <a:ea typeface="Epilogue"/>
                <a:cs typeface="Epilogue"/>
                <a:sym typeface="Epilogue"/>
              </a:rPr>
              <a:t>crafting became about expressing himself</a:t>
            </a:r>
            <a:endParaRPr>
              <a:solidFill>
                <a:schemeClr val="dk1"/>
              </a:solidFill>
              <a:latin typeface="Epilogue"/>
              <a:ea typeface="Epilogue"/>
              <a:cs typeface="Epilogue"/>
              <a:sym typeface="Epilogue"/>
            </a:endParaRPr>
          </a:p>
          <a:p>
            <a:pPr indent="-330200" lvl="0" marL="457200" rtl="0" algn="l">
              <a:spcBef>
                <a:spcPts val="0"/>
              </a:spcBef>
              <a:spcAft>
                <a:spcPts val="0"/>
              </a:spcAft>
              <a:buClr>
                <a:schemeClr val="dk1"/>
              </a:buClr>
              <a:buSzPts val="1600"/>
              <a:buFont typeface="Epilogue"/>
              <a:buChar char="●"/>
            </a:pPr>
            <a:r>
              <a:rPr lang="en">
                <a:solidFill>
                  <a:schemeClr val="dk1"/>
                </a:solidFill>
                <a:latin typeface="Epilogue"/>
                <a:ea typeface="Epilogue"/>
                <a:cs typeface="Epilogue"/>
                <a:sym typeface="Epilogue"/>
              </a:rPr>
              <a:t>e</a:t>
            </a:r>
            <a:r>
              <a:rPr lang="en">
                <a:solidFill>
                  <a:schemeClr val="dk1"/>
                </a:solidFill>
                <a:latin typeface="Epilogue"/>
                <a:ea typeface="Epilogue"/>
                <a:cs typeface="Epilogue"/>
                <a:sym typeface="Epilogue"/>
              </a:rPr>
              <a:t>xperience was meaningful</a:t>
            </a:r>
            <a:endParaRPr>
              <a:solidFill>
                <a:schemeClr val="dk1"/>
              </a:solidFill>
              <a:latin typeface="Epilogue"/>
              <a:ea typeface="Epilogue"/>
              <a:cs typeface="Epilogue"/>
              <a:sym typeface="Epilogue"/>
            </a:endParaRPr>
          </a:p>
        </p:txBody>
      </p:sp>
      <p:sp>
        <p:nvSpPr>
          <p:cNvPr id="669" name="Google Shape;669;p77"/>
          <p:cNvSpPr txBox="1"/>
          <p:nvPr/>
        </p:nvSpPr>
        <p:spPr>
          <a:xfrm>
            <a:off x="3375513" y="2189400"/>
            <a:ext cx="1540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pilogue"/>
                <a:ea typeface="Epilogue"/>
                <a:cs typeface="Epilogue"/>
                <a:sym typeface="Epilogue"/>
              </a:rPr>
              <a:t>“</a:t>
            </a:r>
            <a:r>
              <a:rPr b="1" lang="en">
                <a:latin typeface="Epilogue"/>
                <a:ea typeface="Epilogue"/>
                <a:cs typeface="Epilogue"/>
                <a:sym typeface="Epilogue"/>
              </a:rPr>
              <a:t>this is your job,</a:t>
            </a:r>
            <a:r>
              <a:rPr lang="en">
                <a:latin typeface="Epilogue"/>
                <a:ea typeface="Epilogue"/>
                <a:cs typeface="Epilogue"/>
                <a:sym typeface="Epilogue"/>
              </a:rPr>
              <a:t> draw this to the best of your ability.”</a:t>
            </a:r>
            <a:endParaRPr>
              <a:latin typeface="Epilogue"/>
              <a:ea typeface="Epilogue"/>
              <a:cs typeface="Epilogue"/>
              <a:sym typeface="Epilogue"/>
            </a:endParaRPr>
          </a:p>
        </p:txBody>
      </p:sp>
      <p:sp>
        <p:nvSpPr>
          <p:cNvPr id="670" name="Google Shape;670;p77"/>
          <p:cNvSpPr txBox="1"/>
          <p:nvPr/>
        </p:nvSpPr>
        <p:spPr>
          <a:xfrm>
            <a:off x="7691400" y="2016338"/>
            <a:ext cx="1420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pilogue"/>
                <a:ea typeface="Epilogue"/>
                <a:cs typeface="Epilogue"/>
                <a:sym typeface="Epilogue"/>
              </a:rPr>
              <a:t>“even though I think it ‘</a:t>
            </a:r>
            <a:r>
              <a:rPr lang="en">
                <a:latin typeface="Epilogue"/>
                <a:ea typeface="Epilogue"/>
                <a:cs typeface="Epilogue"/>
                <a:sym typeface="Epilogue"/>
              </a:rPr>
              <a:t>looks bad</a:t>
            </a:r>
            <a:r>
              <a:rPr lang="en">
                <a:latin typeface="Epilogue"/>
                <a:ea typeface="Epilogue"/>
                <a:cs typeface="Epilogue"/>
                <a:sym typeface="Epilogue"/>
              </a:rPr>
              <a:t>,' I liked doing it. </a:t>
            </a:r>
            <a:r>
              <a:rPr lang="en">
                <a:latin typeface="Epilogue"/>
                <a:ea typeface="Epilogue"/>
                <a:cs typeface="Epilogue"/>
                <a:sym typeface="Epilogue"/>
              </a:rPr>
              <a:t>I took in the </a:t>
            </a:r>
            <a:r>
              <a:rPr b="1" lang="en">
                <a:latin typeface="Epilogue"/>
                <a:ea typeface="Epilogue"/>
                <a:cs typeface="Epilogue"/>
                <a:sym typeface="Epilogue"/>
              </a:rPr>
              <a:t>vibe</a:t>
            </a:r>
            <a:r>
              <a:rPr lang="en">
                <a:latin typeface="Epilogue"/>
                <a:ea typeface="Epilogue"/>
                <a:cs typeface="Epilogue"/>
                <a:sym typeface="Epilogue"/>
              </a:rPr>
              <a:t>, and it was memorable.</a:t>
            </a:r>
            <a:r>
              <a:rPr lang="en">
                <a:latin typeface="Epilogue"/>
                <a:ea typeface="Epilogue"/>
                <a:cs typeface="Epilogue"/>
                <a:sym typeface="Epilogue"/>
              </a:rPr>
              <a:t>”</a:t>
            </a:r>
            <a:endParaRPr>
              <a:latin typeface="Epilogue"/>
              <a:ea typeface="Epilogue"/>
              <a:cs typeface="Epilogue"/>
              <a:sym typeface="Epilogue"/>
            </a:endParaRPr>
          </a:p>
        </p:txBody>
      </p:sp>
      <p:pic>
        <p:nvPicPr>
          <p:cNvPr id="671" name="Google Shape;671;p77" title="IMG_4932.jpeg"/>
          <p:cNvPicPr preferRelativeResize="0"/>
          <p:nvPr/>
        </p:nvPicPr>
        <p:blipFill>
          <a:blip r:embed="rId4">
            <a:alphaModFix/>
          </a:blip>
          <a:stretch>
            <a:fillRect/>
          </a:stretch>
        </p:blipFill>
        <p:spPr>
          <a:xfrm>
            <a:off x="4959692" y="1709848"/>
            <a:ext cx="1311452" cy="1749842"/>
          </a:xfrm>
          <a:prstGeom prst="rect">
            <a:avLst/>
          </a:prstGeom>
          <a:noFill/>
          <a:ln>
            <a:noFill/>
          </a:ln>
        </p:spPr>
      </p:pic>
      <p:pic>
        <p:nvPicPr>
          <p:cNvPr id="672" name="Google Shape;672;p77" title="IMG_4957.jpeg"/>
          <p:cNvPicPr preferRelativeResize="0"/>
          <p:nvPr/>
        </p:nvPicPr>
        <p:blipFill rotWithShape="1">
          <a:blip r:embed="rId5">
            <a:alphaModFix/>
          </a:blip>
          <a:srcRect b="16181" l="5594" r="19522" t="8940"/>
          <a:stretch/>
        </p:blipFill>
        <p:spPr>
          <a:xfrm>
            <a:off x="6271152" y="1866745"/>
            <a:ext cx="1420236" cy="1894922"/>
          </a:xfrm>
          <a:prstGeom prst="rect">
            <a:avLst/>
          </a:prstGeom>
          <a:noFill/>
          <a:ln>
            <a:noFill/>
          </a:ln>
        </p:spPr>
      </p:pic>
      <p:pic>
        <p:nvPicPr>
          <p:cNvPr id="673" name="Google Shape;673;p77" title="IMG_4973.jpeg"/>
          <p:cNvPicPr preferRelativeResize="0"/>
          <p:nvPr/>
        </p:nvPicPr>
        <p:blipFill>
          <a:blip r:embed="rId6">
            <a:alphaModFix/>
          </a:blip>
          <a:stretch>
            <a:fillRect/>
          </a:stretch>
        </p:blipFill>
        <p:spPr>
          <a:xfrm>
            <a:off x="1911607" y="1915472"/>
            <a:ext cx="1420236" cy="1894932"/>
          </a:xfrm>
          <a:prstGeom prst="rect">
            <a:avLst/>
          </a:prstGeom>
          <a:noFill/>
          <a:ln>
            <a:noFill/>
          </a:ln>
        </p:spPr>
      </p:pic>
      <p:pic>
        <p:nvPicPr>
          <p:cNvPr id="674" name="Google Shape;674;p77"/>
          <p:cNvPicPr preferRelativeResize="0"/>
          <p:nvPr/>
        </p:nvPicPr>
        <p:blipFill>
          <a:blip r:embed="rId7">
            <a:alphaModFix/>
          </a:blip>
          <a:stretch>
            <a:fillRect/>
          </a:stretch>
        </p:blipFill>
        <p:spPr>
          <a:xfrm rot="976644">
            <a:off x="794429" y="1844543"/>
            <a:ext cx="676242" cy="67626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8" name="Shape 678"/>
        <p:cNvGrpSpPr/>
        <p:nvPr/>
      </p:nvGrpSpPr>
      <p:grpSpPr>
        <a:xfrm>
          <a:off x="0" y="0"/>
          <a:ext cx="0" cy="0"/>
          <a:chOff x="0" y="0"/>
          <a:chExt cx="0" cy="0"/>
        </a:xfrm>
      </p:grpSpPr>
      <p:sp>
        <p:nvSpPr>
          <p:cNvPr id="679" name="Google Shape;679;p7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THIS MEANS</a:t>
            </a:r>
            <a:endParaRPr/>
          </a:p>
        </p:txBody>
      </p:sp>
      <p:sp>
        <p:nvSpPr>
          <p:cNvPr id="680" name="Google Shape;680;p78"/>
          <p:cNvSpPr txBox="1"/>
          <p:nvPr>
            <p:ph idx="1" type="subTitle"/>
          </p:nvPr>
        </p:nvSpPr>
        <p:spPr>
          <a:xfrm>
            <a:off x="503825" y="1452550"/>
            <a:ext cx="8162700" cy="31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Traveling to a new location turned crafting into an adventure</a:t>
            </a:r>
            <a:endParaRPr b="1" sz="1600"/>
          </a:p>
          <a:p>
            <a:pPr indent="0" lvl="0" marL="0" rtl="0" algn="l">
              <a:spcBef>
                <a:spcPts val="1000"/>
              </a:spcBef>
              <a:spcAft>
                <a:spcPts val="0"/>
              </a:spcAft>
              <a:buNone/>
            </a:pPr>
            <a:r>
              <a:rPr lang="en" sz="1600"/>
              <a:t>Upon arriving at the new location, he explored, picked his own crafting spot for its "positive energy," and drew whatever caught his eye as it happened.</a:t>
            </a:r>
            <a:endParaRPr sz="1600"/>
          </a:p>
          <a:p>
            <a:pPr indent="0" lvl="0" marL="0" rtl="0" algn="l">
              <a:spcBef>
                <a:spcPts val="1000"/>
              </a:spcBef>
              <a:spcAft>
                <a:spcPts val="0"/>
              </a:spcAft>
              <a:buNone/>
            </a:pPr>
            <a:r>
              <a:t/>
            </a:r>
            <a:endParaRPr b="1" sz="1600"/>
          </a:p>
          <a:p>
            <a:pPr indent="0" lvl="0" marL="0" rtl="0" algn="l">
              <a:spcBef>
                <a:spcPts val="1000"/>
              </a:spcBef>
              <a:spcAft>
                <a:spcPts val="0"/>
              </a:spcAft>
              <a:buNone/>
            </a:pPr>
            <a:r>
              <a:rPr b="1" lang="en" sz="1600"/>
              <a:t>Adventure put the meaning back into the process</a:t>
            </a:r>
            <a:endParaRPr sz="1600"/>
          </a:p>
          <a:p>
            <a:pPr indent="0" lvl="0" marL="0" rtl="0" algn="l">
              <a:spcBef>
                <a:spcPts val="1000"/>
              </a:spcBef>
              <a:spcAft>
                <a:spcPts val="0"/>
              </a:spcAft>
              <a:buNone/>
            </a:pPr>
            <a:r>
              <a:rPr lang="en" sz="1600"/>
              <a:t>His first drawing felt "complete but not personally meaningful," like a job. The second one was rougher, but he called it "my own language on a piece of paper" and it's the one he'll remember, because it's tied to a real afternoon. Our solution should make the memory of making the keepsake, so the outcome never has to be "good."</a:t>
            </a:r>
            <a:endParaRPr sz="1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4" name="Shape 684"/>
        <p:cNvGrpSpPr/>
        <p:nvPr/>
      </p:nvGrpSpPr>
      <p:grpSpPr>
        <a:xfrm>
          <a:off x="0" y="0"/>
          <a:ext cx="0" cy="0"/>
          <a:chOff x="0" y="0"/>
          <a:chExt cx="0" cy="0"/>
        </a:xfrm>
      </p:grpSpPr>
      <p:sp>
        <p:nvSpPr>
          <p:cNvPr id="685" name="Google Shape;685;p7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SUPPORTED</a:t>
            </a:r>
            <a:endParaRPr/>
          </a:p>
        </p:txBody>
      </p:sp>
      <p:sp>
        <p:nvSpPr>
          <p:cNvPr id="686" name="Google Shape;686;p79"/>
          <p:cNvSpPr txBox="1"/>
          <p:nvPr>
            <p:ph idx="1" type="subTitle"/>
          </p:nvPr>
        </p:nvSpPr>
        <p:spPr>
          <a:xfrm>
            <a:off x="503825" y="1452550"/>
            <a:ext cx="8162700" cy="31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Valid: </a:t>
            </a:r>
            <a:r>
              <a:rPr lang="en" sz="1600"/>
              <a:t>Changing locations made crafting feel more adventurous, personal, and memorable.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Evidence: </a:t>
            </a:r>
            <a:r>
              <a:rPr lang="en" sz="1600"/>
              <a:t>At home, he focused on doing it “to the best of [his] ability”; at the new location, he cared less about quality and more about the experience.</a:t>
            </a:r>
            <a:endParaRPr sz="1600"/>
          </a:p>
          <a:p>
            <a:pPr indent="0" lvl="0" marL="0" rtl="0" algn="l">
              <a:spcBef>
                <a:spcPts val="0"/>
              </a:spcBef>
              <a:spcAft>
                <a:spcPts val="0"/>
              </a:spcAft>
              <a:buNone/>
            </a:pPr>
            <a:r>
              <a:rPr lang="en" sz="1600"/>
              <a:t>Implication: The environment can lower pressure and shift attention from performance to exploration.</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New environments reduced pressure and made crafting feel more personal and adventurous.</a:t>
            </a:r>
            <a:endParaRPr b="1" sz="16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0" name="Shape 690"/>
        <p:cNvGrpSpPr/>
        <p:nvPr/>
      </p:nvGrpSpPr>
      <p:grpSpPr>
        <a:xfrm>
          <a:off x="0" y="0"/>
          <a:ext cx="0" cy="0"/>
          <a:chOff x="0" y="0"/>
          <a:chExt cx="0" cy="0"/>
        </a:xfrm>
      </p:grpSpPr>
      <p:sp>
        <p:nvSpPr>
          <p:cNvPr id="691" name="Google Shape;691;p80"/>
          <p:cNvSpPr txBox="1"/>
          <p:nvPr>
            <p:ph type="title"/>
          </p:nvPr>
        </p:nvSpPr>
        <p:spPr>
          <a:xfrm>
            <a:off x="0" y="0"/>
            <a:ext cx="391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ETHICAL IMPLICATIONS</a:t>
            </a:r>
            <a:endParaRPr/>
          </a:p>
        </p:txBody>
      </p:sp>
      <p:sp>
        <p:nvSpPr>
          <p:cNvPr id="692" name="Google Shape;692;p80"/>
          <p:cNvSpPr txBox="1"/>
          <p:nvPr/>
        </p:nvSpPr>
        <p:spPr>
          <a:xfrm>
            <a:off x="7416200" y="4189200"/>
            <a:ext cx="1590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Epilogue"/>
                <a:ea typeface="Epilogue"/>
                <a:cs typeface="Epilogue"/>
                <a:sym typeface="Epilogue"/>
              </a:rPr>
              <a:t>Analysis Framework from </a:t>
            </a:r>
            <a:r>
              <a:rPr lang="en" sz="1000" u="sng">
                <a:solidFill>
                  <a:schemeClr val="hlink"/>
                </a:solidFill>
                <a:latin typeface="Epilogue"/>
                <a:ea typeface="Epilogue"/>
                <a:cs typeface="Epilogue"/>
                <a:sym typeface="Epilogue"/>
                <a:hlinkClick r:id="rId3"/>
              </a:rPr>
              <a:t>Ethical Design: What is it and why is it important for innovators</a:t>
            </a:r>
            <a:r>
              <a:rPr lang="en" sz="1000">
                <a:solidFill>
                  <a:schemeClr val="dk1"/>
                </a:solidFill>
                <a:latin typeface="Epilogue"/>
                <a:ea typeface="Epilogue"/>
                <a:cs typeface="Epilogue"/>
                <a:sym typeface="Epilogue"/>
              </a:rPr>
              <a:t>?</a:t>
            </a:r>
            <a:endParaRPr sz="1000">
              <a:solidFill>
                <a:schemeClr val="dk1"/>
              </a:solidFill>
              <a:latin typeface="Epilogue"/>
              <a:ea typeface="Epilogue"/>
              <a:cs typeface="Epilogue"/>
              <a:sym typeface="Epilogue"/>
            </a:endParaRPr>
          </a:p>
        </p:txBody>
      </p:sp>
      <p:cxnSp>
        <p:nvCxnSpPr>
          <p:cNvPr id="693" name="Google Shape;693;p80"/>
          <p:cNvCxnSpPr/>
          <p:nvPr/>
        </p:nvCxnSpPr>
        <p:spPr>
          <a:xfrm>
            <a:off x="3886200" y="1417320"/>
            <a:ext cx="937200" cy="1088100"/>
          </a:xfrm>
          <a:prstGeom prst="straightConnector1">
            <a:avLst/>
          </a:prstGeom>
          <a:noFill/>
          <a:ln cap="flat" cmpd="sng" w="9525">
            <a:solidFill>
              <a:srgbClr val="222222"/>
            </a:solidFill>
            <a:prstDash val="solid"/>
            <a:round/>
            <a:headEnd len="sm" w="sm" type="none"/>
            <a:tailEnd len="sm" w="sm" type="none"/>
          </a:ln>
        </p:spPr>
      </p:cxnSp>
      <p:cxnSp>
        <p:nvCxnSpPr>
          <p:cNvPr id="694" name="Google Shape;694;p80"/>
          <p:cNvCxnSpPr/>
          <p:nvPr/>
        </p:nvCxnSpPr>
        <p:spPr>
          <a:xfrm flipH="1">
            <a:off x="4823474" y="1371600"/>
            <a:ext cx="900" cy="1134000"/>
          </a:xfrm>
          <a:prstGeom prst="straightConnector1">
            <a:avLst/>
          </a:prstGeom>
          <a:noFill/>
          <a:ln cap="flat" cmpd="sng" w="9525">
            <a:solidFill>
              <a:srgbClr val="222222"/>
            </a:solidFill>
            <a:prstDash val="solid"/>
            <a:round/>
            <a:headEnd len="sm" w="sm" type="none"/>
            <a:tailEnd len="sm" w="sm" type="none"/>
          </a:ln>
        </p:spPr>
      </p:cxnSp>
      <p:cxnSp>
        <p:nvCxnSpPr>
          <p:cNvPr id="695" name="Google Shape;695;p80"/>
          <p:cNvCxnSpPr/>
          <p:nvPr/>
        </p:nvCxnSpPr>
        <p:spPr>
          <a:xfrm flipH="1">
            <a:off x="4823460" y="1417320"/>
            <a:ext cx="1257300" cy="1088100"/>
          </a:xfrm>
          <a:prstGeom prst="straightConnector1">
            <a:avLst/>
          </a:prstGeom>
          <a:noFill/>
          <a:ln cap="flat" cmpd="sng" w="9525">
            <a:solidFill>
              <a:srgbClr val="222222"/>
            </a:solidFill>
            <a:prstDash val="solid"/>
            <a:round/>
            <a:headEnd len="sm" w="sm" type="none"/>
            <a:tailEnd len="sm" w="sm" type="none"/>
          </a:ln>
        </p:spPr>
      </p:cxnSp>
      <p:cxnSp>
        <p:nvCxnSpPr>
          <p:cNvPr id="696" name="Google Shape;696;p80"/>
          <p:cNvCxnSpPr/>
          <p:nvPr/>
        </p:nvCxnSpPr>
        <p:spPr>
          <a:xfrm>
            <a:off x="4823460" y="2505456"/>
            <a:ext cx="1714500" cy="900"/>
          </a:xfrm>
          <a:prstGeom prst="straightConnector1">
            <a:avLst/>
          </a:prstGeom>
          <a:noFill/>
          <a:ln cap="flat" cmpd="sng" w="9525">
            <a:solidFill>
              <a:srgbClr val="222222"/>
            </a:solidFill>
            <a:prstDash val="solid"/>
            <a:round/>
            <a:headEnd len="sm" w="sm" type="none"/>
            <a:tailEnd len="sm" w="sm" type="none"/>
          </a:ln>
        </p:spPr>
      </p:cxnSp>
      <p:cxnSp>
        <p:nvCxnSpPr>
          <p:cNvPr id="697" name="Google Shape;697;p80"/>
          <p:cNvCxnSpPr/>
          <p:nvPr/>
        </p:nvCxnSpPr>
        <p:spPr>
          <a:xfrm>
            <a:off x="4823460" y="2505456"/>
            <a:ext cx="1211700" cy="1106400"/>
          </a:xfrm>
          <a:prstGeom prst="straightConnector1">
            <a:avLst/>
          </a:prstGeom>
          <a:noFill/>
          <a:ln cap="flat" cmpd="sng" w="9525">
            <a:solidFill>
              <a:srgbClr val="222222"/>
            </a:solidFill>
            <a:prstDash val="solid"/>
            <a:round/>
            <a:headEnd len="sm" w="sm" type="none"/>
            <a:tailEnd len="sm" w="sm" type="none"/>
          </a:ln>
        </p:spPr>
      </p:cxnSp>
      <p:cxnSp>
        <p:nvCxnSpPr>
          <p:cNvPr id="698" name="Google Shape;698;p80"/>
          <p:cNvCxnSpPr/>
          <p:nvPr/>
        </p:nvCxnSpPr>
        <p:spPr>
          <a:xfrm>
            <a:off x="4823460" y="2505456"/>
            <a:ext cx="900" cy="1197900"/>
          </a:xfrm>
          <a:prstGeom prst="straightConnector1">
            <a:avLst/>
          </a:prstGeom>
          <a:noFill/>
          <a:ln cap="flat" cmpd="sng" w="9525">
            <a:solidFill>
              <a:srgbClr val="222222"/>
            </a:solidFill>
            <a:prstDash val="solid"/>
            <a:round/>
            <a:headEnd len="sm" w="sm" type="none"/>
            <a:tailEnd len="sm" w="sm" type="none"/>
          </a:ln>
        </p:spPr>
      </p:cxnSp>
      <p:cxnSp>
        <p:nvCxnSpPr>
          <p:cNvPr id="699" name="Google Shape;699;p80"/>
          <p:cNvCxnSpPr/>
          <p:nvPr/>
        </p:nvCxnSpPr>
        <p:spPr>
          <a:xfrm flipH="1">
            <a:off x="3703260" y="2505456"/>
            <a:ext cx="1120200" cy="1060800"/>
          </a:xfrm>
          <a:prstGeom prst="straightConnector1">
            <a:avLst/>
          </a:prstGeom>
          <a:noFill/>
          <a:ln cap="flat" cmpd="sng" w="9525">
            <a:solidFill>
              <a:srgbClr val="222222"/>
            </a:solidFill>
            <a:prstDash val="solid"/>
            <a:round/>
            <a:headEnd len="sm" w="sm" type="none"/>
            <a:tailEnd len="sm" w="sm" type="none"/>
          </a:ln>
        </p:spPr>
      </p:cxnSp>
      <p:cxnSp>
        <p:nvCxnSpPr>
          <p:cNvPr id="700" name="Google Shape;700;p80"/>
          <p:cNvCxnSpPr/>
          <p:nvPr/>
        </p:nvCxnSpPr>
        <p:spPr>
          <a:xfrm flipH="1">
            <a:off x="3063360" y="2505456"/>
            <a:ext cx="1760100" cy="900"/>
          </a:xfrm>
          <a:prstGeom prst="straightConnector1">
            <a:avLst/>
          </a:prstGeom>
          <a:noFill/>
          <a:ln cap="flat" cmpd="sng" w="9525">
            <a:solidFill>
              <a:srgbClr val="222222"/>
            </a:solidFill>
            <a:prstDash val="solid"/>
            <a:round/>
            <a:headEnd len="sm" w="sm" type="none"/>
            <a:tailEnd len="sm" w="sm" type="none"/>
          </a:ln>
        </p:spPr>
      </p:cxnSp>
      <p:sp>
        <p:nvSpPr>
          <p:cNvPr id="701" name="Google Shape;701;p80"/>
          <p:cNvSpPr/>
          <p:nvPr/>
        </p:nvSpPr>
        <p:spPr>
          <a:xfrm>
            <a:off x="3977640" y="2176272"/>
            <a:ext cx="1691700" cy="658500"/>
          </a:xfrm>
          <a:prstGeom prst="rect">
            <a:avLst/>
          </a:prstGeom>
          <a:solidFill>
            <a:srgbClr val="FFFFFF"/>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0"/>
          <p:cNvSpPr txBox="1"/>
          <p:nvPr/>
        </p:nvSpPr>
        <p:spPr>
          <a:xfrm>
            <a:off x="3977640" y="2176272"/>
            <a:ext cx="1691700" cy="6585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Ethical Implications</a:t>
            </a:r>
            <a:endParaRPr b="0" i="0" sz="120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Patrick Hand"/>
              <a:buNone/>
            </a:pPr>
            <a:r>
              <a:rPr b="0" i="0" lang="en" sz="900" u="none" cap="none" strike="noStrike">
                <a:solidFill>
                  <a:srgbClr val="222222"/>
                </a:solidFill>
                <a:latin typeface="Patrick Hand"/>
                <a:ea typeface="Patrick Hand"/>
                <a:cs typeface="Patrick Hand"/>
                <a:sym typeface="Patrick Hand"/>
              </a:rPr>
              <a:t>Gamify crafting by having crafters go to different locations &amp; craft at that location</a:t>
            </a:r>
            <a:endParaRPr b="0" i="0" sz="1200" u="none" cap="none" strike="noStrike">
              <a:solidFill>
                <a:srgbClr val="000000"/>
              </a:solidFill>
              <a:latin typeface="Calibri"/>
              <a:ea typeface="Calibri"/>
              <a:cs typeface="Calibri"/>
              <a:sym typeface="Calibri"/>
            </a:endParaRPr>
          </a:p>
        </p:txBody>
      </p:sp>
      <p:sp>
        <p:nvSpPr>
          <p:cNvPr id="703" name="Google Shape;703;p80"/>
          <p:cNvSpPr txBox="1"/>
          <p:nvPr/>
        </p:nvSpPr>
        <p:spPr>
          <a:xfrm>
            <a:off x="3429000" y="1143000"/>
            <a:ext cx="822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Society</a:t>
            </a:r>
            <a:endParaRPr b="0" i="0" sz="1200" u="none" cap="none" strike="noStrike">
              <a:solidFill>
                <a:srgbClr val="000000"/>
              </a:solidFill>
              <a:latin typeface="Calibri"/>
              <a:ea typeface="Calibri"/>
              <a:cs typeface="Calibri"/>
              <a:sym typeface="Calibri"/>
            </a:endParaRPr>
          </a:p>
        </p:txBody>
      </p:sp>
      <p:sp>
        <p:nvSpPr>
          <p:cNvPr id="704" name="Google Shape;704;p80"/>
          <p:cNvSpPr txBox="1"/>
          <p:nvPr/>
        </p:nvSpPr>
        <p:spPr>
          <a:xfrm>
            <a:off x="4343400" y="1078992"/>
            <a:ext cx="1005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Sustainability</a:t>
            </a:r>
            <a:endParaRPr b="0" i="0" sz="1200" u="none" cap="none" strike="noStrike">
              <a:solidFill>
                <a:srgbClr val="000000"/>
              </a:solidFill>
              <a:latin typeface="Calibri"/>
              <a:ea typeface="Calibri"/>
              <a:cs typeface="Calibri"/>
              <a:sym typeface="Calibri"/>
            </a:endParaRPr>
          </a:p>
        </p:txBody>
      </p:sp>
      <p:sp>
        <p:nvSpPr>
          <p:cNvPr id="705" name="Google Shape;705;p80"/>
          <p:cNvSpPr txBox="1"/>
          <p:nvPr/>
        </p:nvSpPr>
        <p:spPr>
          <a:xfrm>
            <a:off x="5989320" y="1143000"/>
            <a:ext cx="8688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Persuasion</a:t>
            </a:r>
            <a:endParaRPr b="0" i="0" sz="1200" u="none" cap="none" strike="noStrike">
              <a:solidFill>
                <a:srgbClr val="000000"/>
              </a:solidFill>
              <a:latin typeface="Calibri"/>
              <a:ea typeface="Calibri"/>
              <a:cs typeface="Calibri"/>
              <a:sym typeface="Calibri"/>
            </a:endParaRPr>
          </a:p>
        </p:txBody>
      </p:sp>
      <p:sp>
        <p:nvSpPr>
          <p:cNvPr id="706" name="Google Shape;706;p80"/>
          <p:cNvSpPr txBox="1"/>
          <p:nvPr/>
        </p:nvSpPr>
        <p:spPr>
          <a:xfrm>
            <a:off x="6565392" y="2322576"/>
            <a:ext cx="777300" cy="3291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User</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Involvement</a:t>
            </a:r>
            <a:endParaRPr b="0" i="0" sz="1200" u="none" cap="none" strike="noStrike">
              <a:solidFill>
                <a:srgbClr val="000000"/>
              </a:solidFill>
              <a:latin typeface="Calibri"/>
              <a:ea typeface="Calibri"/>
              <a:cs typeface="Calibri"/>
              <a:sym typeface="Calibri"/>
            </a:endParaRPr>
          </a:p>
        </p:txBody>
      </p:sp>
      <p:sp>
        <p:nvSpPr>
          <p:cNvPr id="707" name="Google Shape;707;p80"/>
          <p:cNvSpPr txBox="1"/>
          <p:nvPr/>
        </p:nvSpPr>
        <p:spPr>
          <a:xfrm>
            <a:off x="5989320" y="3611880"/>
            <a:ext cx="6402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Focus</a:t>
            </a:r>
            <a:endParaRPr b="0" i="0" sz="1200" u="none" cap="none" strike="noStrike">
              <a:solidFill>
                <a:srgbClr val="000000"/>
              </a:solidFill>
              <a:latin typeface="Calibri"/>
              <a:ea typeface="Calibri"/>
              <a:cs typeface="Calibri"/>
              <a:sym typeface="Calibri"/>
            </a:endParaRPr>
          </a:p>
        </p:txBody>
      </p:sp>
      <p:sp>
        <p:nvSpPr>
          <p:cNvPr id="708" name="Google Shape;708;p80"/>
          <p:cNvSpPr txBox="1"/>
          <p:nvPr/>
        </p:nvSpPr>
        <p:spPr>
          <a:xfrm>
            <a:off x="4526280" y="3703320"/>
            <a:ext cx="5943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Privacy</a:t>
            </a:r>
            <a:endParaRPr b="0" i="0" sz="1200" u="none" cap="none" strike="noStrike">
              <a:solidFill>
                <a:srgbClr val="000000"/>
              </a:solidFill>
              <a:latin typeface="Calibri"/>
              <a:ea typeface="Calibri"/>
              <a:cs typeface="Calibri"/>
              <a:sym typeface="Calibri"/>
            </a:endParaRPr>
          </a:p>
        </p:txBody>
      </p:sp>
      <p:sp>
        <p:nvSpPr>
          <p:cNvPr id="709" name="Google Shape;709;p80"/>
          <p:cNvSpPr txBox="1"/>
          <p:nvPr/>
        </p:nvSpPr>
        <p:spPr>
          <a:xfrm>
            <a:off x="3337560" y="3566160"/>
            <a:ext cx="7314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Usability</a:t>
            </a:r>
            <a:endParaRPr b="0" i="0" sz="1200" u="none" cap="none" strike="noStrike">
              <a:solidFill>
                <a:srgbClr val="000000"/>
              </a:solidFill>
              <a:latin typeface="Calibri"/>
              <a:ea typeface="Calibri"/>
              <a:cs typeface="Calibri"/>
              <a:sym typeface="Calibri"/>
            </a:endParaRPr>
          </a:p>
        </p:txBody>
      </p:sp>
      <p:sp>
        <p:nvSpPr>
          <p:cNvPr id="710" name="Google Shape;710;p80"/>
          <p:cNvSpPr txBox="1"/>
          <p:nvPr/>
        </p:nvSpPr>
        <p:spPr>
          <a:xfrm>
            <a:off x="2103120" y="2386584"/>
            <a:ext cx="9600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Accessibility</a:t>
            </a:r>
            <a:endParaRPr b="0" i="0" sz="1200" u="none" cap="none" strike="noStrike">
              <a:solidFill>
                <a:srgbClr val="000000"/>
              </a:solidFill>
              <a:latin typeface="Calibri"/>
              <a:ea typeface="Calibri"/>
              <a:cs typeface="Calibri"/>
              <a:sym typeface="Calibri"/>
            </a:endParaRPr>
          </a:p>
        </p:txBody>
      </p:sp>
      <p:sp>
        <p:nvSpPr>
          <p:cNvPr id="711" name="Google Shape;711;p80"/>
          <p:cNvSpPr txBox="1"/>
          <p:nvPr/>
        </p:nvSpPr>
        <p:spPr>
          <a:xfrm>
            <a:off x="3611880" y="274320"/>
            <a:ext cx="2286000" cy="7773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if users are crafting @ different locations &amp; bringing their crafting materials, it</a:t>
            </a:r>
            <a:r>
              <a:rPr lang="en" sz="850">
                <a:solidFill>
                  <a:srgbClr val="222222"/>
                </a:solidFill>
                <a:latin typeface="Patrick Hand"/>
                <a:ea typeface="Patrick Hand"/>
                <a:cs typeface="Patrick Hand"/>
                <a:sym typeface="Patrick Hand"/>
              </a:rPr>
              <a:t>’</a:t>
            </a:r>
            <a:r>
              <a:rPr b="0" i="0" lang="en" sz="850" u="none" cap="none" strike="noStrike">
                <a:solidFill>
                  <a:srgbClr val="222222"/>
                </a:solidFill>
                <a:latin typeface="Patrick Hand"/>
                <a:ea typeface="Patrick Hand"/>
                <a:cs typeface="Patrick Hand"/>
                <a:sym typeface="Patrick Hand"/>
              </a:rPr>
              <a:t>s possible they leave trash/litter outside</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could remind users to clean up after themselves @ the end of a crafting session</a:t>
            </a:r>
            <a:endParaRPr b="0" i="0" sz="850" u="none" cap="none" strike="noStrike">
              <a:solidFill>
                <a:srgbClr val="000000"/>
              </a:solidFill>
              <a:latin typeface="Calibri"/>
              <a:ea typeface="Calibri"/>
              <a:cs typeface="Calibri"/>
              <a:sym typeface="Calibri"/>
            </a:endParaRPr>
          </a:p>
        </p:txBody>
      </p:sp>
      <p:sp>
        <p:nvSpPr>
          <p:cNvPr id="712" name="Google Shape;712;p80"/>
          <p:cNvSpPr txBox="1"/>
          <p:nvPr/>
        </p:nvSpPr>
        <p:spPr>
          <a:xfrm>
            <a:off x="1280160" y="2697480"/>
            <a:ext cx="1993500" cy="14631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assumes users can safely walk around where they live &amp; pause at random, unknown locations</a:t>
            </a:r>
            <a:endParaRPr b="0" i="0" sz="850" u="none" cap="none" strike="noStrike">
              <a:solidFill>
                <a:srgbClr val="000000"/>
              </a:solidFill>
              <a:latin typeface="Calibri"/>
              <a:ea typeface="Calibri"/>
              <a:cs typeface="Calibri"/>
              <a:sym typeface="Calibri"/>
            </a:endParaRPr>
          </a:p>
          <a:p>
            <a:pPr indent="-101600" lvl="0" marL="101600" marR="0" rtl="0" algn="l">
              <a:lnSpc>
                <a:spcPct val="95000"/>
              </a:lnSpc>
              <a:spcBef>
                <a:spcPts val="30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assumes users are physically mobile</a:t>
            </a:r>
            <a:endParaRPr b="0" i="0" sz="850" u="none" cap="none" strike="noStrike">
              <a:solidFill>
                <a:srgbClr val="000000"/>
              </a:solidFill>
              <a:latin typeface="Calibri"/>
              <a:ea typeface="Calibri"/>
              <a:cs typeface="Calibri"/>
              <a:sym typeface="Calibri"/>
            </a:endParaRPr>
          </a:p>
          <a:p>
            <a:pPr indent="-101600" lvl="0" marL="101600" marR="0" rtl="0" algn="l">
              <a:lnSpc>
                <a:spcPct val="95000"/>
              </a:lnSpc>
              <a:spcBef>
                <a:spcPts val="30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consider a location, for example, that isn't wheelchair accessible. the experience of being navigated somewhere a wheelchair user can't access could feel exclusionary</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perhaps we can adapt our solution by offering a virtual adventure experience? our solution also can take advantage of just identifying when a user "isn't" home to make the adventure more accessible</a:t>
            </a:r>
            <a:endParaRPr b="0" i="0" sz="850" u="none" cap="none" strike="noStrike">
              <a:solidFill>
                <a:srgbClr val="000000"/>
              </a:solidFill>
              <a:latin typeface="Calibri"/>
              <a:ea typeface="Calibri"/>
              <a:cs typeface="Calibri"/>
              <a:sym typeface="Calibri"/>
            </a:endParaRPr>
          </a:p>
        </p:txBody>
      </p:sp>
      <p:sp>
        <p:nvSpPr>
          <p:cNvPr id="713" name="Google Shape;713;p80"/>
          <p:cNvSpPr txBox="1"/>
          <p:nvPr/>
        </p:nvSpPr>
        <p:spPr>
          <a:xfrm>
            <a:off x="3749040" y="3959352"/>
            <a:ext cx="2030100" cy="10974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when users add their art to a location, &amp; eventually multiple locations, a map/track of their whereabouts is being built → what if this is exploited by a bad actor?</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should be considerate w/ how we store users' data. a bad actor shouldn't be able to track another user through our app. anonymization should hopefully aid w/ this</a:t>
            </a:r>
            <a:endParaRPr b="0" i="0" sz="850" u="none" cap="none" strike="noStrike">
              <a:solidFill>
                <a:srgbClr val="000000"/>
              </a:solidFill>
              <a:latin typeface="Calibri"/>
              <a:ea typeface="Calibri"/>
              <a:cs typeface="Calibri"/>
              <a:sym typeface="Calibri"/>
            </a:endParaRPr>
          </a:p>
        </p:txBody>
      </p:sp>
      <p:sp>
        <p:nvSpPr>
          <p:cNvPr id="714" name="Google Shape;714;p80"/>
          <p:cNvSpPr txBox="1"/>
          <p:nvPr/>
        </p:nvSpPr>
        <p:spPr>
          <a:xfrm>
            <a:off x="5852160" y="3858768"/>
            <a:ext cx="1326000" cy="1188600"/>
          </a:xfrm>
          <a:prstGeom prst="rect">
            <a:avLst/>
          </a:prstGeom>
          <a:noFill/>
          <a:ln>
            <a:noFill/>
          </a:ln>
        </p:spPr>
        <p:txBody>
          <a:bodyPr anchorCtr="0" anchor="t" bIns="12700" lIns="12700" spcFirstLastPara="1" rIns="12700" wrap="square" tIns="12700">
            <a:noAutofit/>
          </a:bodyPr>
          <a:lstStyle/>
          <a:p>
            <a:pPr indent="0" lvl="0" marL="0" marR="0" rtl="0" algn="l">
              <a:lnSpc>
                <a:spcPct val="95000"/>
              </a:lnSpc>
              <a:spcBef>
                <a:spcPts val="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should be wary of a Pokemon Go like addictiveness where users, for the thrill of the adventure, stop being aware of their surroundings</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can look @ what Pokemon Go did to mitigate the ethical problems they ran into &amp; do the same</a:t>
            </a:r>
            <a:endParaRPr b="0" i="0" sz="850" u="none" cap="none" strike="noStrike">
              <a:solidFill>
                <a:srgbClr val="000000"/>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81"/>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might we help crafters make room for creative discovery while financially sustaining themselves?</a:t>
            </a:r>
            <a:endParaRPr/>
          </a:p>
        </p:txBody>
      </p:sp>
      <p:sp>
        <p:nvSpPr>
          <p:cNvPr id="720" name="Google Shape;720;p8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2</a:t>
            </a:r>
            <a:endParaRPr/>
          </a:p>
        </p:txBody>
      </p:sp>
      <p:sp>
        <p:nvSpPr>
          <p:cNvPr id="721" name="Google Shape;721;p81"/>
          <p:cNvSpPr txBox="1"/>
          <p:nvPr>
            <p:ph idx="1" type="subTitle"/>
          </p:nvPr>
        </p:nvSpPr>
        <p:spPr>
          <a:xfrm>
            <a:off x="540975" y="3703075"/>
            <a:ext cx="8244300" cy="11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900"/>
              <a:t>From Noah: </a:t>
            </a:r>
            <a:r>
              <a:rPr i="1" lang="en" sz="1900"/>
              <a:t>“There’s always a financial undertone to some of this.”</a:t>
            </a:r>
            <a:endParaRPr i="1" sz="19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82"/>
          <p:cNvSpPr txBox="1"/>
          <p:nvPr>
            <p:ph idx="1" type="subTitle"/>
          </p:nvPr>
        </p:nvSpPr>
        <p:spPr>
          <a:xfrm>
            <a:off x="1526525" y="1539550"/>
            <a:ext cx="6681300" cy="275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Crafters offer $5 mystery boxes containing something they’ve made through creative experimentation.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Buyers embrace </a:t>
            </a:r>
            <a:r>
              <a:rPr lang="en"/>
              <a:t>the </a:t>
            </a:r>
            <a:r>
              <a:rPr lang="en"/>
              <a:t>surprise, giving crafters room to try new ideas beyond what customers usually expect while earning income from their explorations</a:t>
            </a:r>
            <a:endParaRPr/>
          </a:p>
        </p:txBody>
      </p:sp>
      <p:sp>
        <p:nvSpPr>
          <p:cNvPr id="727" name="Google Shape;727;p8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2</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83"/>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Artists will feel freer to experiment beyond what buyers expect when they can sell their creations through mystery boxes.</a:t>
            </a:r>
            <a:endParaRPr/>
          </a:p>
        </p:txBody>
      </p:sp>
      <p:sp>
        <p:nvSpPr>
          <p:cNvPr id="733" name="Google Shape;733;p8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2</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7" name="Shape 737"/>
        <p:cNvGrpSpPr/>
        <p:nvPr/>
      </p:nvGrpSpPr>
      <p:grpSpPr>
        <a:xfrm>
          <a:off x="0" y="0"/>
          <a:ext cx="0" cy="0"/>
          <a:chOff x="0" y="0"/>
          <a:chExt cx="0" cy="0"/>
        </a:xfrm>
      </p:grpSpPr>
      <p:sp>
        <p:nvSpPr>
          <p:cNvPr id="738" name="Google Shape;738;p84"/>
          <p:cNvSpPr txBox="1"/>
          <p:nvPr>
            <p:ph idx="1" type="subTitle"/>
          </p:nvPr>
        </p:nvSpPr>
        <p:spPr>
          <a:xfrm>
            <a:off x="798725" y="1224900"/>
            <a:ext cx="7409100" cy="3410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Buyers would be willing to purchase art without knowing exactly what they will receive.</a:t>
            </a:r>
            <a:endParaRPr sz="1400"/>
          </a:p>
          <a:p>
            <a:pPr indent="-317500" lvl="0" marL="457200" rtl="0" algn="l">
              <a:spcBef>
                <a:spcPts val="0"/>
              </a:spcBef>
              <a:spcAft>
                <a:spcPts val="0"/>
              </a:spcAft>
              <a:buSzPts val="1400"/>
              <a:buChar char="-"/>
            </a:pPr>
            <a:r>
              <a:rPr lang="en" sz="1400"/>
              <a:t>A low price point would make buyers more comfortable with uncertainty.</a:t>
            </a:r>
            <a:endParaRPr sz="1400"/>
          </a:p>
          <a:p>
            <a:pPr indent="-317500" lvl="0" marL="457200" rtl="0" algn="l">
              <a:spcBef>
                <a:spcPts val="0"/>
              </a:spcBef>
              <a:spcAft>
                <a:spcPts val="0"/>
              </a:spcAft>
              <a:buSzPts val="1400"/>
              <a:buChar char="-"/>
            </a:pPr>
            <a:r>
              <a:rPr lang="en" sz="1400"/>
              <a:t>Artists would trust that experimental work still has market value.</a:t>
            </a:r>
            <a:endParaRPr sz="1400"/>
          </a:p>
          <a:p>
            <a:pPr indent="-317500" lvl="0" marL="457200" rtl="0" algn="l">
              <a:spcBef>
                <a:spcPts val="0"/>
              </a:spcBef>
              <a:spcAft>
                <a:spcPts val="0"/>
              </a:spcAft>
              <a:buSzPts val="1400"/>
              <a:buChar char="-"/>
            </a:pPr>
            <a:r>
              <a:rPr lang="en" sz="1400"/>
              <a:t>Less buyer input would make the process feel more enjoyable.</a:t>
            </a:r>
            <a:endParaRPr sz="1400"/>
          </a:p>
          <a:p>
            <a:pPr indent="-317500" lvl="0" marL="457200" rtl="0" algn="l">
              <a:spcBef>
                <a:spcPts val="0"/>
              </a:spcBef>
              <a:spcAft>
                <a:spcPts val="0"/>
              </a:spcAft>
              <a:buSzPts val="1400"/>
              <a:buChar char="-"/>
            </a:pPr>
            <a:r>
              <a:rPr lang="en" sz="1400"/>
              <a:t>Complete creative freedom would produce more meaningful work.</a:t>
            </a:r>
            <a:endParaRPr sz="1400"/>
          </a:p>
          <a:p>
            <a:pPr indent="-317500" lvl="0" marL="457200" rtl="0" algn="l">
              <a:spcBef>
                <a:spcPts val="0"/>
              </a:spcBef>
              <a:spcAft>
                <a:spcPts val="0"/>
              </a:spcAft>
              <a:buSzPts val="1400"/>
              <a:buChar char="-"/>
            </a:pPr>
            <a:r>
              <a:rPr lang="en" sz="1400"/>
              <a:t>Artists could still balance personal expression with outside inspiration.</a:t>
            </a:r>
            <a:endParaRPr sz="1400"/>
          </a:p>
          <a:p>
            <a:pPr indent="-317500" lvl="0" marL="457200" rtl="0" algn="l">
              <a:spcBef>
                <a:spcPts val="0"/>
              </a:spcBef>
              <a:spcAft>
                <a:spcPts val="0"/>
              </a:spcAft>
              <a:buSzPts val="1400"/>
              <a:buChar char="-"/>
            </a:pPr>
            <a:r>
              <a:rPr lang="en" sz="1400"/>
              <a:t>The mystery-box model could provide enough income to meaningfully support experimentation.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Our </a:t>
            </a:r>
            <a:r>
              <a:rPr lang="en" sz="1400" u="sng"/>
              <a:t>key assumption</a:t>
            </a:r>
            <a:r>
              <a:rPr lang="en" sz="1400"/>
              <a:t> includes t</a:t>
            </a:r>
            <a:r>
              <a:rPr lang="en" sz="1400"/>
              <a:t>he solution only works if reducing buyer control actually creates more creative freedom. If artists still feel constrained by what will sell, then the mystery-box format does not solve the core tension from Noah’s POV. This tests whether the concept can preserve experimentation while still keeping a path to income.</a:t>
            </a:r>
            <a:endParaRPr sz="1400"/>
          </a:p>
        </p:txBody>
      </p:sp>
      <p:sp>
        <p:nvSpPr>
          <p:cNvPr id="739" name="Google Shape;739;p8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ASSUMPTIONS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5"/>
          <p:cNvSpPr txBox="1"/>
          <p:nvPr>
            <p:ph type="title"/>
          </p:nvPr>
        </p:nvSpPr>
        <p:spPr>
          <a:xfrm>
            <a:off x="503825" y="652200"/>
            <a:ext cx="3832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PROTOTYPE 2</a:t>
            </a:r>
            <a:endParaRPr/>
          </a:p>
          <a:p>
            <a:pPr indent="0" lvl="0" marL="0" rtl="0" algn="l">
              <a:spcBef>
                <a:spcPts val="0"/>
              </a:spcBef>
              <a:spcAft>
                <a:spcPts val="0"/>
              </a:spcAft>
              <a:buNone/>
            </a:pPr>
            <a:r>
              <a:t/>
            </a:r>
            <a:endParaRPr/>
          </a:p>
        </p:txBody>
      </p:sp>
      <p:pic>
        <p:nvPicPr>
          <p:cNvPr id="745" name="Google Shape;745;p85" title="Screenshot 2026-10-08 at 1.46.34 PM.png"/>
          <p:cNvPicPr preferRelativeResize="0"/>
          <p:nvPr/>
        </p:nvPicPr>
        <p:blipFill>
          <a:blip r:embed="rId3">
            <a:alphaModFix/>
          </a:blip>
          <a:stretch>
            <a:fillRect/>
          </a:stretch>
        </p:blipFill>
        <p:spPr>
          <a:xfrm rot="-5400000">
            <a:off x="4839863" y="234636"/>
            <a:ext cx="1984075" cy="2593801"/>
          </a:xfrm>
          <a:prstGeom prst="rect">
            <a:avLst/>
          </a:prstGeom>
          <a:noFill/>
          <a:ln>
            <a:noFill/>
          </a:ln>
        </p:spPr>
      </p:pic>
      <p:pic>
        <p:nvPicPr>
          <p:cNvPr id="746" name="Google Shape;746;p85" title="Screenshot 2026-10-08 at 1.46.19 PM.png"/>
          <p:cNvPicPr preferRelativeResize="0"/>
          <p:nvPr/>
        </p:nvPicPr>
        <p:blipFill>
          <a:blip r:embed="rId4">
            <a:alphaModFix/>
          </a:blip>
          <a:stretch>
            <a:fillRect/>
          </a:stretch>
        </p:blipFill>
        <p:spPr>
          <a:xfrm>
            <a:off x="7264274" y="539500"/>
            <a:ext cx="2818720" cy="1984075"/>
          </a:xfrm>
          <a:prstGeom prst="rect">
            <a:avLst/>
          </a:prstGeom>
          <a:noFill/>
          <a:ln>
            <a:noFill/>
          </a:ln>
        </p:spPr>
      </p:pic>
      <p:pic>
        <p:nvPicPr>
          <p:cNvPr id="747" name="Google Shape;747;p85" title="Screenshot 2026-10-08 at 1.47.18 PM.png"/>
          <p:cNvPicPr preferRelativeResize="0"/>
          <p:nvPr/>
        </p:nvPicPr>
        <p:blipFill rotWithShape="1">
          <a:blip r:embed="rId5">
            <a:alphaModFix/>
          </a:blip>
          <a:srcRect b="0" l="0" r="0" t="10177"/>
          <a:stretch/>
        </p:blipFill>
        <p:spPr>
          <a:xfrm>
            <a:off x="7489200" y="2732345"/>
            <a:ext cx="2593799" cy="1834756"/>
          </a:xfrm>
          <a:prstGeom prst="rect">
            <a:avLst/>
          </a:prstGeom>
          <a:noFill/>
          <a:ln>
            <a:noFill/>
          </a:ln>
        </p:spPr>
      </p:pic>
      <p:pic>
        <p:nvPicPr>
          <p:cNvPr id="748" name="Google Shape;748;p85" title="Screenshot 2026-10-08 at 1.47.30 PM.png"/>
          <p:cNvPicPr preferRelativeResize="0"/>
          <p:nvPr/>
        </p:nvPicPr>
        <p:blipFill>
          <a:blip r:embed="rId6">
            <a:alphaModFix/>
          </a:blip>
          <a:stretch>
            <a:fillRect/>
          </a:stretch>
        </p:blipFill>
        <p:spPr>
          <a:xfrm>
            <a:off x="4544876" y="2690075"/>
            <a:ext cx="2719399" cy="1877029"/>
          </a:xfrm>
          <a:prstGeom prst="rect">
            <a:avLst/>
          </a:prstGeom>
          <a:noFill/>
          <a:ln>
            <a:noFill/>
          </a:ln>
        </p:spPr>
      </p:pic>
      <p:sp>
        <p:nvSpPr>
          <p:cNvPr id="749" name="Google Shape;749;p85"/>
          <p:cNvSpPr txBox="1"/>
          <p:nvPr>
            <p:ph idx="1" type="subTitle"/>
          </p:nvPr>
        </p:nvSpPr>
        <p:spPr>
          <a:xfrm>
            <a:off x="503825" y="1640900"/>
            <a:ext cx="3764700" cy="296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Create two mystery artworks for buyers</a:t>
            </a:r>
            <a:endParaRPr sz="1800"/>
          </a:p>
          <a:p>
            <a:pPr indent="0" lvl="0" marL="0" rtl="0" algn="l">
              <a:spcBef>
                <a:spcPts val="0"/>
              </a:spcBef>
              <a:spcAft>
                <a:spcPts val="0"/>
              </a:spcAft>
              <a:buNone/>
            </a:pPr>
            <a:r>
              <a:t/>
            </a:r>
            <a:endParaRPr sz="1800"/>
          </a:p>
          <a:p>
            <a:pPr indent="-381000" lvl="0" marL="457200" rtl="0" algn="l">
              <a:spcBef>
                <a:spcPts val="0"/>
              </a:spcBef>
              <a:spcAft>
                <a:spcPts val="0"/>
              </a:spcAft>
              <a:buSzPts val="2400"/>
              <a:buAutoNum type="arabicPeriod"/>
            </a:pPr>
            <a:r>
              <a:rPr lang="en" sz="1800"/>
              <a:t>based on a request from the recipient</a:t>
            </a:r>
            <a:endParaRPr sz="1800"/>
          </a:p>
          <a:p>
            <a:pPr indent="0" lvl="0" marL="457200" rtl="0" algn="l">
              <a:spcBef>
                <a:spcPts val="0"/>
              </a:spcBef>
              <a:spcAft>
                <a:spcPts val="0"/>
              </a:spcAft>
              <a:buNone/>
            </a:pPr>
            <a:r>
              <a:rPr i="1" lang="en" sz="1300"/>
              <a:t>“Cat by window”</a:t>
            </a:r>
            <a:endParaRPr i="1" sz="1300"/>
          </a:p>
          <a:p>
            <a:pPr indent="0" lvl="0" marL="457200" rtl="0" algn="l">
              <a:spcBef>
                <a:spcPts val="0"/>
              </a:spcBef>
              <a:spcAft>
                <a:spcPts val="0"/>
              </a:spcAft>
              <a:buNone/>
            </a:pPr>
            <a:r>
              <a:t/>
            </a:r>
            <a:endParaRPr i="1" sz="1300"/>
          </a:p>
          <a:p>
            <a:pPr indent="-381000" lvl="0" marL="457200" rtl="0" algn="l">
              <a:spcBef>
                <a:spcPts val="0"/>
              </a:spcBef>
              <a:spcAft>
                <a:spcPts val="0"/>
              </a:spcAft>
              <a:buSzPts val="2400"/>
              <a:buAutoNum type="arabicPeriod"/>
            </a:pPr>
            <a:r>
              <a:rPr lang="en" sz="1800"/>
              <a:t>without input from the recipient</a:t>
            </a:r>
            <a:endParaRPr sz="1800"/>
          </a:p>
        </p:txBody>
      </p:sp>
      <p:pic>
        <p:nvPicPr>
          <p:cNvPr id="750" name="Google Shape;750;p85"/>
          <p:cNvPicPr preferRelativeResize="0"/>
          <p:nvPr/>
        </p:nvPicPr>
        <p:blipFill>
          <a:blip r:embed="rId7">
            <a:alphaModFix/>
          </a:blip>
          <a:stretch>
            <a:fillRect/>
          </a:stretch>
        </p:blipFill>
        <p:spPr>
          <a:xfrm rot="262744">
            <a:off x="7932133" y="2838305"/>
            <a:ext cx="786590" cy="78663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4" name="Shape 754"/>
        <p:cNvGrpSpPr/>
        <p:nvPr/>
      </p:nvGrpSpPr>
      <p:grpSpPr>
        <a:xfrm>
          <a:off x="0" y="0"/>
          <a:ext cx="0" cy="0"/>
          <a:chOff x="0" y="0"/>
          <a:chExt cx="0" cy="0"/>
        </a:xfrm>
      </p:grpSpPr>
      <p:sp>
        <p:nvSpPr>
          <p:cNvPr id="755" name="Google Shape;755;p86"/>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PARTICIPANT INFO</a:t>
            </a:r>
            <a:endParaRPr/>
          </a:p>
        </p:txBody>
      </p:sp>
      <p:sp>
        <p:nvSpPr>
          <p:cNvPr id="756" name="Google Shape;756;p86"/>
          <p:cNvSpPr txBox="1"/>
          <p:nvPr>
            <p:ph idx="1" type="subTitle"/>
          </p:nvPr>
        </p:nvSpPr>
        <p:spPr>
          <a:xfrm>
            <a:off x="1432800" y="1677900"/>
            <a:ext cx="6278400" cy="2572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n" sz="1600"/>
              <a:t>Who: </a:t>
            </a:r>
            <a:r>
              <a:rPr lang="en" sz="1600"/>
              <a:t>Crafter with painting experience</a:t>
            </a:r>
            <a:endParaRPr sz="1600"/>
          </a:p>
          <a:p>
            <a:pPr indent="-330200" lvl="0" marL="457200" rtl="0" algn="l">
              <a:spcBef>
                <a:spcPts val="0"/>
              </a:spcBef>
              <a:spcAft>
                <a:spcPts val="0"/>
              </a:spcAft>
              <a:buSzPts val="1600"/>
              <a:buChar char="-"/>
            </a:pPr>
            <a:r>
              <a:rPr b="1" lang="en" sz="1600"/>
              <a:t>Why relevant: </a:t>
            </a:r>
            <a:r>
              <a:rPr lang="en" sz="1600"/>
              <a:t>Familiar with making art and responding to creative prompts</a:t>
            </a:r>
            <a:endParaRPr sz="1600"/>
          </a:p>
          <a:p>
            <a:pPr indent="-330200" lvl="0" marL="457200" rtl="0" algn="l">
              <a:spcBef>
                <a:spcPts val="0"/>
              </a:spcBef>
              <a:spcAft>
                <a:spcPts val="0"/>
              </a:spcAft>
              <a:buSzPts val="1600"/>
              <a:buChar char="-"/>
            </a:pPr>
            <a:r>
              <a:rPr b="1" lang="en" sz="1600"/>
              <a:t>How recruited: </a:t>
            </a:r>
            <a:r>
              <a:rPr lang="en" sz="1600"/>
              <a:t>Existing contact / convenience recruitment</a:t>
            </a:r>
            <a:endParaRPr sz="1600"/>
          </a:p>
          <a:p>
            <a:pPr indent="-330200" lvl="0" marL="457200" rtl="0" algn="l">
              <a:spcBef>
                <a:spcPts val="0"/>
              </a:spcBef>
              <a:spcAft>
                <a:spcPts val="0"/>
              </a:spcAft>
              <a:buSzPts val="1600"/>
              <a:buChar char="-"/>
            </a:pPr>
            <a:r>
              <a:rPr b="1" lang="en" sz="1600"/>
              <a:t>Why useful: </a:t>
            </a:r>
            <a:r>
              <a:rPr lang="en" sz="1600"/>
              <a:t>Let us compare how the same artist creates with a buyer request vs. complete freedom</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87"/>
          <p:cNvSpPr txBox="1"/>
          <p:nvPr>
            <p:ph idx="1" type="subTitle"/>
          </p:nvPr>
        </p:nvSpPr>
        <p:spPr>
          <a:xfrm>
            <a:off x="5061275" y="1339238"/>
            <a:ext cx="2340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No input </a:t>
            </a:r>
            <a:r>
              <a:rPr lang="en" sz="1600"/>
              <a:t>(25 min)</a:t>
            </a:r>
            <a:endParaRPr sz="1600"/>
          </a:p>
        </p:txBody>
      </p:sp>
      <p:sp>
        <p:nvSpPr>
          <p:cNvPr id="762" name="Google Shape;762;p8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WE FOUND 2</a:t>
            </a:r>
            <a:endParaRPr/>
          </a:p>
        </p:txBody>
      </p:sp>
      <p:pic>
        <p:nvPicPr>
          <p:cNvPr id="763" name="Google Shape;763;p87" title="Screenshot 2026-10-08 at 1.46.19 PM.png"/>
          <p:cNvPicPr preferRelativeResize="0"/>
          <p:nvPr/>
        </p:nvPicPr>
        <p:blipFill rotWithShape="1">
          <a:blip r:embed="rId3">
            <a:alphaModFix/>
          </a:blip>
          <a:srcRect b="54048" l="13800" r="38615" t="-3624"/>
          <a:stretch/>
        </p:blipFill>
        <p:spPr>
          <a:xfrm>
            <a:off x="5061275" y="1911947"/>
            <a:ext cx="1595028" cy="1169701"/>
          </a:xfrm>
          <a:prstGeom prst="rect">
            <a:avLst/>
          </a:prstGeom>
          <a:noFill/>
          <a:ln>
            <a:noFill/>
          </a:ln>
        </p:spPr>
      </p:pic>
      <p:pic>
        <p:nvPicPr>
          <p:cNvPr id="764" name="Google Shape;764;p87" title="Screenshot 2026-10-08 at 1.46.19 PM.png"/>
          <p:cNvPicPr preferRelativeResize="0"/>
          <p:nvPr/>
        </p:nvPicPr>
        <p:blipFill rotWithShape="1">
          <a:blip r:embed="rId3">
            <a:alphaModFix/>
          </a:blip>
          <a:srcRect b="3907" l="37306" r="20772" t="46517"/>
          <a:stretch/>
        </p:blipFill>
        <p:spPr>
          <a:xfrm>
            <a:off x="620025" y="1936038"/>
            <a:ext cx="1405223" cy="1169701"/>
          </a:xfrm>
          <a:prstGeom prst="rect">
            <a:avLst/>
          </a:prstGeom>
          <a:noFill/>
          <a:ln>
            <a:noFill/>
          </a:ln>
        </p:spPr>
      </p:pic>
      <p:sp>
        <p:nvSpPr>
          <p:cNvPr id="765" name="Google Shape;765;p87"/>
          <p:cNvSpPr txBox="1"/>
          <p:nvPr>
            <p:ph idx="1" type="subTitle"/>
          </p:nvPr>
        </p:nvSpPr>
        <p:spPr>
          <a:xfrm>
            <a:off x="503838" y="1419788"/>
            <a:ext cx="2549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Request </a:t>
            </a:r>
            <a:r>
              <a:rPr lang="en" sz="1600"/>
              <a:t>(15min)</a:t>
            </a:r>
            <a:endParaRPr sz="1600"/>
          </a:p>
        </p:txBody>
      </p:sp>
      <p:sp>
        <p:nvSpPr>
          <p:cNvPr id="766" name="Google Shape;766;p87"/>
          <p:cNvSpPr txBox="1"/>
          <p:nvPr/>
        </p:nvSpPr>
        <p:spPr>
          <a:xfrm>
            <a:off x="6767575" y="1782150"/>
            <a:ext cx="2156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pilogue"/>
                <a:ea typeface="Epilogue"/>
                <a:cs typeface="Epilogue"/>
                <a:sym typeface="Epilogue"/>
              </a:rPr>
              <a:t>“There's more </a:t>
            </a:r>
            <a:r>
              <a:rPr b="1" lang="en">
                <a:latin typeface="Epilogue"/>
                <a:ea typeface="Epilogue"/>
                <a:cs typeface="Epilogue"/>
                <a:sym typeface="Epilogue"/>
              </a:rPr>
              <a:t>thought</a:t>
            </a:r>
            <a:r>
              <a:rPr lang="en">
                <a:latin typeface="Epilogue"/>
                <a:ea typeface="Epilogue"/>
                <a:cs typeface="Epilogue"/>
                <a:sym typeface="Epilogue"/>
              </a:rPr>
              <a:t> into it, so there's more of a relationship between making it, the thing, and me”</a:t>
            </a:r>
            <a:endParaRPr>
              <a:latin typeface="Epilogue"/>
              <a:ea typeface="Epilogue"/>
              <a:cs typeface="Epilogue"/>
              <a:sym typeface="Epilogue"/>
            </a:endParaRPr>
          </a:p>
        </p:txBody>
      </p:sp>
      <p:sp>
        <p:nvSpPr>
          <p:cNvPr id="767" name="Google Shape;767;p87"/>
          <p:cNvSpPr txBox="1"/>
          <p:nvPr/>
        </p:nvSpPr>
        <p:spPr>
          <a:xfrm>
            <a:off x="2211400" y="2105238"/>
            <a:ext cx="2043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Epilogue"/>
                <a:ea typeface="Epilogue"/>
                <a:cs typeface="Epilogue"/>
                <a:sym typeface="Epilogue"/>
              </a:rPr>
              <a:t>“</a:t>
            </a:r>
            <a:r>
              <a:rPr lang="en">
                <a:latin typeface="Epilogue"/>
                <a:ea typeface="Epilogue"/>
                <a:cs typeface="Epilogue"/>
                <a:sym typeface="Epilogue"/>
              </a:rPr>
              <a:t>felt like more about the </a:t>
            </a:r>
            <a:r>
              <a:rPr b="1" lang="en">
                <a:latin typeface="Epilogue"/>
                <a:ea typeface="Epilogue"/>
                <a:cs typeface="Epilogue"/>
                <a:sym typeface="Epilogue"/>
              </a:rPr>
              <a:t>action</a:t>
            </a:r>
            <a:r>
              <a:rPr lang="en">
                <a:latin typeface="Epilogue"/>
                <a:ea typeface="Epilogue"/>
                <a:cs typeface="Epilogue"/>
                <a:sym typeface="Epilogue"/>
              </a:rPr>
              <a:t>, like putting paint down</a:t>
            </a:r>
            <a:r>
              <a:rPr lang="en">
                <a:latin typeface="Epilogue"/>
                <a:ea typeface="Epilogue"/>
                <a:cs typeface="Epilogue"/>
                <a:sym typeface="Epilogue"/>
              </a:rPr>
              <a:t>”</a:t>
            </a:r>
            <a:endParaRPr>
              <a:latin typeface="Epilogue"/>
              <a:ea typeface="Epilogue"/>
              <a:cs typeface="Epilogue"/>
              <a:sym typeface="Epilogue"/>
            </a:endParaRPr>
          </a:p>
        </p:txBody>
      </p:sp>
      <p:sp>
        <p:nvSpPr>
          <p:cNvPr id="768" name="Google Shape;768;p87"/>
          <p:cNvSpPr txBox="1"/>
          <p:nvPr/>
        </p:nvSpPr>
        <p:spPr>
          <a:xfrm>
            <a:off x="503825" y="3300625"/>
            <a:ext cx="37515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Epilogue"/>
              <a:buChar char="●"/>
            </a:pPr>
            <a:r>
              <a:rPr b="1" lang="en" sz="1600">
                <a:solidFill>
                  <a:schemeClr val="dk1"/>
                </a:solidFill>
                <a:latin typeface="Epilogue"/>
                <a:ea typeface="Epilogue"/>
                <a:cs typeface="Epilogue"/>
                <a:sym typeface="Epilogue"/>
              </a:rPr>
              <a:t>more enjoyable</a:t>
            </a:r>
            <a:r>
              <a:rPr lang="en" sz="1600">
                <a:solidFill>
                  <a:schemeClr val="dk1"/>
                </a:solidFill>
                <a:latin typeface="Epilogue"/>
                <a:ea typeface="Epilogue"/>
                <a:cs typeface="Epilogue"/>
                <a:sym typeface="Epilogue"/>
              </a:rPr>
              <a:t> since could </a:t>
            </a:r>
            <a:r>
              <a:rPr b="1" lang="en" sz="1600">
                <a:solidFill>
                  <a:schemeClr val="dk1"/>
                </a:solidFill>
                <a:latin typeface="Epilogue"/>
                <a:ea typeface="Epilogue"/>
                <a:cs typeface="Epilogue"/>
                <a:sym typeface="Epilogue"/>
              </a:rPr>
              <a:t>turn off brain</a:t>
            </a:r>
            <a:r>
              <a:rPr lang="en" sz="1600">
                <a:solidFill>
                  <a:schemeClr val="dk1"/>
                </a:solidFill>
                <a:latin typeface="Epilogue"/>
                <a:ea typeface="Epilogue"/>
                <a:cs typeface="Epilogue"/>
                <a:sym typeface="Epilogue"/>
              </a:rPr>
              <a:t> </a:t>
            </a:r>
            <a:endParaRPr sz="1600">
              <a:solidFill>
                <a:schemeClr val="dk1"/>
              </a:solidFill>
              <a:latin typeface="Epilogue"/>
              <a:ea typeface="Epilogue"/>
              <a:cs typeface="Epilogue"/>
              <a:sym typeface="Epilogue"/>
            </a:endParaRPr>
          </a:p>
          <a:p>
            <a:pPr indent="-330200" lvl="0" marL="457200" rtl="0" algn="l">
              <a:spcBef>
                <a:spcPts val="0"/>
              </a:spcBef>
              <a:spcAft>
                <a:spcPts val="0"/>
              </a:spcAft>
              <a:buClr>
                <a:schemeClr val="dk1"/>
              </a:buClr>
              <a:buSzPts val="1600"/>
              <a:buFont typeface="Epilogue"/>
              <a:buChar char="●"/>
            </a:pPr>
            <a:r>
              <a:rPr lang="en" sz="1600">
                <a:solidFill>
                  <a:schemeClr val="dk1"/>
                </a:solidFill>
                <a:latin typeface="Epilogue"/>
                <a:ea typeface="Epilogue"/>
                <a:cs typeface="Epilogue"/>
                <a:sym typeface="Epilogue"/>
              </a:rPr>
              <a:t>made her explore a more novel subject</a:t>
            </a:r>
            <a:endParaRPr/>
          </a:p>
        </p:txBody>
      </p:sp>
      <p:sp>
        <p:nvSpPr>
          <p:cNvPr id="769" name="Google Shape;769;p87"/>
          <p:cNvSpPr txBox="1"/>
          <p:nvPr/>
        </p:nvSpPr>
        <p:spPr>
          <a:xfrm>
            <a:off x="4951800" y="3252275"/>
            <a:ext cx="40377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Epilogue"/>
              <a:buChar char="●"/>
            </a:pPr>
            <a:r>
              <a:rPr b="1" lang="en" sz="1600">
                <a:solidFill>
                  <a:schemeClr val="dk1"/>
                </a:solidFill>
                <a:latin typeface="Epilogue"/>
                <a:ea typeface="Epilogue"/>
                <a:cs typeface="Epilogue"/>
                <a:sym typeface="Epilogue"/>
              </a:rPr>
              <a:t>more meaningful</a:t>
            </a:r>
            <a:r>
              <a:rPr lang="en" sz="1600">
                <a:solidFill>
                  <a:schemeClr val="dk1"/>
                </a:solidFill>
                <a:latin typeface="Epilogue"/>
                <a:ea typeface="Epilogue"/>
                <a:cs typeface="Epilogue"/>
                <a:sym typeface="Epilogue"/>
              </a:rPr>
              <a:t> since had to </a:t>
            </a:r>
            <a:r>
              <a:rPr b="1" lang="en" sz="1600">
                <a:solidFill>
                  <a:schemeClr val="dk1"/>
                </a:solidFill>
                <a:latin typeface="Epilogue"/>
                <a:ea typeface="Epilogue"/>
                <a:cs typeface="Epilogue"/>
                <a:sym typeface="Epilogue"/>
              </a:rPr>
              <a:t>think harder</a:t>
            </a:r>
            <a:r>
              <a:rPr lang="en" sz="1600">
                <a:solidFill>
                  <a:schemeClr val="dk1"/>
                </a:solidFill>
                <a:latin typeface="Epilogue"/>
                <a:ea typeface="Epilogue"/>
                <a:cs typeface="Epilogue"/>
                <a:sym typeface="Epilogue"/>
              </a:rPr>
              <a:t> and embed personal experiences</a:t>
            </a:r>
            <a:endParaRPr sz="1600">
              <a:solidFill>
                <a:schemeClr val="dk1"/>
              </a:solidFill>
              <a:latin typeface="Epilogue"/>
              <a:ea typeface="Epilogue"/>
              <a:cs typeface="Epilogue"/>
              <a:sym typeface="Epilogue"/>
            </a:endParaRPr>
          </a:p>
          <a:p>
            <a:pPr indent="-330200" lvl="0" marL="457200" rtl="0" algn="l">
              <a:spcBef>
                <a:spcPts val="0"/>
              </a:spcBef>
              <a:spcAft>
                <a:spcPts val="0"/>
              </a:spcAft>
              <a:buClr>
                <a:schemeClr val="dk1"/>
              </a:buClr>
              <a:buSzPts val="1600"/>
              <a:buFont typeface="Epilogue"/>
              <a:buChar char="●"/>
            </a:pPr>
            <a:r>
              <a:rPr lang="en" sz="1600">
                <a:solidFill>
                  <a:schemeClr val="dk1"/>
                </a:solidFill>
                <a:latin typeface="Epilogue"/>
                <a:ea typeface="Epilogue"/>
                <a:cs typeface="Epilogue"/>
                <a:sym typeface="Epilogue"/>
              </a:rPr>
              <a:t>felt more experimative </a:t>
            </a:r>
            <a:endParaRPr sz="1600">
              <a:solidFill>
                <a:schemeClr val="dk1"/>
              </a:solidFill>
              <a:latin typeface="Epilogue"/>
              <a:ea typeface="Epilogue"/>
              <a:cs typeface="Epilogue"/>
              <a:sym typeface="Epilogu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3" name="Shape 773"/>
        <p:cNvGrpSpPr/>
        <p:nvPr/>
      </p:nvGrpSpPr>
      <p:grpSpPr>
        <a:xfrm>
          <a:off x="0" y="0"/>
          <a:ext cx="0" cy="0"/>
          <a:chOff x="0" y="0"/>
          <a:chExt cx="0" cy="0"/>
        </a:xfrm>
      </p:grpSpPr>
      <p:sp>
        <p:nvSpPr>
          <p:cNvPr id="774" name="Google Shape;774;p8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THIS MEANS</a:t>
            </a:r>
            <a:endParaRPr/>
          </a:p>
        </p:txBody>
      </p:sp>
      <p:sp>
        <p:nvSpPr>
          <p:cNvPr id="775" name="Google Shape;775;p88"/>
          <p:cNvSpPr txBox="1"/>
          <p:nvPr>
            <p:ph idx="1" type="subTitle"/>
          </p:nvPr>
        </p:nvSpPr>
        <p:spPr>
          <a:xfrm>
            <a:off x="503825" y="1452550"/>
            <a:ext cx="8162700" cy="287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Artists need a balance of personal and external </a:t>
            </a:r>
            <a:r>
              <a:rPr b="1" lang="en" sz="1600"/>
              <a:t>inspiration</a:t>
            </a:r>
            <a:r>
              <a:rPr b="1" lang="en" sz="1600"/>
              <a:t>. </a:t>
            </a:r>
            <a:endParaRPr b="1" sz="1600"/>
          </a:p>
          <a:p>
            <a:pPr indent="0" lvl="0" marL="0" rtl="0" algn="l">
              <a:spcBef>
                <a:spcPts val="0"/>
              </a:spcBef>
              <a:spcAft>
                <a:spcPts val="0"/>
              </a:spcAft>
              <a:buNone/>
            </a:pPr>
            <a:r>
              <a:rPr lang="en" sz="1600"/>
              <a:t>Our solution should support dynamic creation space to draw on personal experiences, alongside outside inspiration when creating from within feels demanding. The push and pull between the two can encourage meaning, experimentation, and discovery.</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Material access did not appear to be the main barrier for this participant. </a:t>
            </a:r>
            <a:r>
              <a:rPr lang="en" sz="1600"/>
              <a:t>She wanted to make more art despite having free paint and paper available at Stanford. This suggests our solution should look beyond supplies to understand what helps her start and sustain creative practice.</a:t>
            </a:r>
            <a:endParaRPr sz="16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9" name="Shape 779"/>
        <p:cNvGrpSpPr/>
        <p:nvPr/>
      </p:nvGrpSpPr>
      <p:grpSpPr>
        <a:xfrm>
          <a:off x="0" y="0"/>
          <a:ext cx="0" cy="0"/>
          <a:chOff x="0" y="0"/>
          <a:chExt cx="0" cy="0"/>
        </a:xfrm>
      </p:grpSpPr>
      <p:sp>
        <p:nvSpPr>
          <p:cNvPr id="780" name="Google Shape;780;p8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TAKEAWAY 2</a:t>
            </a:r>
            <a:endParaRPr/>
          </a:p>
        </p:txBody>
      </p:sp>
      <p:sp>
        <p:nvSpPr>
          <p:cNvPr id="781" name="Google Shape;781;p89"/>
          <p:cNvSpPr txBox="1"/>
          <p:nvPr>
            <p:ph idx="1" type="subTitle"/>
          </p:nvPr>
        </p:nvSpPr>
        <p:spPr>
          <a:xfrm>
            <a:off x="503825" y="1452550"/>
            <a:ext cx="7040100" cy="256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Academic pressure interrupts relaxation but friends mitigate it</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“even if I'm like sitting down to make art I get this little voices that I have this essay to do versus if I'm hanging out with my friends I'm not thinking about that”</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Wonder if</a:t>
            </a:r>
            <a:endParaRPr b="1" sz="1600"/>
          </a:p>
          <a:p>
            <a:pPr indent="0" lvl="0" marL="0" rtl="0" algn="l">
              <a:spcBef>
                <a:spcPts val="0"/>
              </a:spcBef>
              <a:spcAft>
                <a:spcPts val="0"/>
              </a:spcAft>
              <a:buNone/>
            </a:pPr>
            <a:r>
              <a:t/>
            </a:r>
            <a:endParaRPr b="1" sz="1600"/>
          </a:p>
          <a:p>
            <a:pPr indent="0" lvl="0" marL="0" rtl="0" algn="l">
              <a:spcBef>
                <a:spcPts val="0"/>
              </a:spcBef>
              <a:spcAft>
                <a:spcPts val="0"/>
              </a:spcAft>
              <a:buNone/>
            </a:pPr>
            <a:r>
              <a:rPr lang="en" sz="1600"/>
              <a:t>seeing others take a break and relax gives her permission to do the same</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5" name="Shape 785"/>
        <p:cNvGrpSpPr/>
        <p:nvPr/>
      </p:nvGrpSpPr>
      <p:grpSpPr>
        <a:xfrm>
          <a:off x="0" y="0"/>
          <a:ext cx="0" cy="0"/>
          <a:chOff x="0" y="0"/>
          <a:chExt cx="0" cy="0"/>
        </a:xfrm>
      </p:grpSpPr>
      <p:sp>
        <p:nvSpPr>
          <p:cNvPr id="786" name="Google Shape;786;p9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TAKEAWAY 2</a:t>
            </a:r>
            <a:endParaRPr/>
          </a:p>
        </p:txBody>
      </p:sp>
      <p:sp>
        <p:nvSpPr>
          <p:cNvPr id="787" name="Google Shape;787;p90"/>
          <p:cNvSpPr txBox="1"/>
          <p:nvPr>
            <p:ph idx="1" type="subTitle"/>
          </p:nvPr>
        </p:nvSpPr>
        <p:spPr>
          <a:xfrm>
            <a:off x="503825" y="1452550"/>
            <a:ext cx="7040100" cy="29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Having materials nearby makes starting easier</a:t>
            </a:r>
            <a:endParaRPr b="1"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[her </a:t>
            </a:r>
            <a:r>
              <a:rPr lang="en" sz="1600"/>
              <a:t>girlfriend</a:t>
            </a:r>
            <a:r>
              <a:rPr lang="en" sz="1600"/>
              <a:t> carries paint in her bag which] “reminds me that it's not that high activation energy of a thing to do [painting], which for some reason to me it is because I don't have them [paints] in my bag.”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b="1" lang="en" sz="1600"/>
              <a:t>Wonder if</a:t>
            </a:r>
            <a:endParaRPr b="1" sz="1600"/>
          </a:p>
          <a:p>
            <a:pPr indent="0" lvl="0" marL="0" rtl="0" algn="l">
              <a:spcBef>
                <a:spcPts val="0"/>
              </a:spcBef>
              <a:spcAft>
                <a:spcPts val="0"/>
              </a:spcAft>
              <a:buNone/>
            </a:pPr>
            <a:r>
              <a:t/>
            </a:r>
            <a:endParaRPr b="1" sz="1600"/>
          </a:p>
          <a:p>
            <a:pPr indent="0" lvl="0" marL="0" rtl="0" algn="l">
              <a:spcBef>
                <a:spcPts val="0"/>
              </a:spcBef>
              <a:spcAft>
                <a:spcPts val="0"/>
              </a:spcAft>
              <a:buNone/>
            </a:pPr>
            <a:r>
              <a:rPr lang="en" sz="1600"/>
              <a:t>making art supplies immediately available could help people begin by lowering activation barrier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1" name="Shape 791"/>
        <p:cNvGrpSpPr/>
        <p:nvPr/>
      </p:nvGrpSpPr>
      <p:grpSpPr>
        <a:xfrm>
          <a:off x="0" y="0"/>
          <a:ext cx="0" cy="0"/>
          <a:chOff x="0" y="0"/>
          <a:chExt cx="0" cy="0"/>
        </a:xfrm>
      </p:grpSpPr>
      <p:sp>
        <p:nvSpPr>
          <p:cNvPr id="792" name="Google Shape;792;p91"/>
          <p:cNvSpPr txBox="1"/>
          <p:nvPr>
            <p:ph type="title"/>
          </p:nvPr>
        </p:nvSpPr>
        <p:spPr>
          <a:xfrm>
            <a:off x="503825" y="652200"/>
            <a:ext cx="8304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PARTIALLY SUPPORTED</a:t>
            </a:r>
            <a:endParaRPr/>
          </a:p>
        </p:txBody>
      </p:sp>
      <p:sp>
        <p:nvSpPr>
          <p:cNvPr id="793" name="Google Shape;793;p91"/>
          <p:cNvSpPr txBox="1"/>
          <p:nvPr>
            <p:ph idx="1" type="subTitle"/>
          </p:nvPr>
        </p:nvSpPr>
        <p:spPr>
          <a:xfrm>
            <a:off x="503825" y="1452550"/>
            <a:ext cx="8162700" cy="315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Valid: </a:t>
            </a:r>
            <a:r>
              <a:rPr lang="en" sz="1600"/>
              <a:t>Less buyer direction did lead to more experimentation and a more personal result.</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Invalid: </a:t>
            </a:r>
            <a:r>
              <a:rPr lang="en" sz="1600"/>
              <a:t>The requested piece was actually more enjoyable/easier because the prompt reduced mental effort.</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Implication: </a:t>
            </a:r>
            <a:r>
              <a:rPr lang="en" sz="1600"/>
              <a:t>Creative freedom helps discovery, but some external direction can make starting easier.</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Freedom increased meaning and experimentation, but prompts made creating easier.</a:t>
            </a:r>
            <a:endParaRPr b="1" sz="16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7" name="Shape 797"/>
        <p:cNvGrpSpPr/>
        <p:nvPr/>
      </p:nvGrpSpPr>
      <p:grpSpPr>
        <a:xfrm>
          <a:off x="0" y="0"/>
          <a:ext cx="0" cy="0"/>
          <a:chOff x="0" y="0"/>
          <a:chExt cx="0" cy="0"/>
        </a:xfrm>
      </p:grpSpPr>
      <p:sp>
        <p:nvSpPr>
          <p:cNvPr id="798" name="Google Shape;798;p92"/>
          <p:cNvSpPr txBox="1"/>
          <p:nvPr>
            <p:ph type="title"/>
          </p:nvPr>
        </p:nvSpPr>
        <p:spPr>
          <a:xfrm>
            <a:off x="0" y="0"/>
            <a:ext cx="391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ETHICAL IMPLICATIONS</a:t>
            </a:r>
            <a:endParaRPr/>
          </a:p>
        </p:txBody>
      </p:sp>
      <p:sp>
        <p:nvSpPr>
          <p:cNvPr id="799" name="Google Shape;799;p92"/>
          <p:cNvSpPr txBox="1"/>
          <p:nvPr/>
        </p:nvSpPr>
        <p:spPr>
          <a:xfrm>
            <a:off x="7416200" y="4189200"/>
            <a:ext cx="1590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Epilogue"/>
                <a:ea typeface="Epilogue"/>
                <a:cs typeface="Epilogue"/>
                <a:sym typeface="Epilogue"/>
              </a:rPr>
              <a:t>Analysis Framework from </a:t>
            </a:r>
            <a:r>
              <a:rPr lang="en" sz="1000" u="sng">
                <a:solidFill>
                  <a:schemeClr val="hlink"/>
                </a:solidFill>
                <a:latin typeface="Epilogue"/>
                <a:ea typeface="Epilogue"/>
                <a:cs typeface="Epilogue"/>
                <a:sym typeface="Epilogue"/>
                <a:hlinkClick r:id="rId3"/>
              </a:rPr>
              <a:t>Ethical Design: What is it and why is it important for innovators</a:t>
            </a:r>
            <a:r>
              <a:rPr lang="en" sz="1000">
                <a:solidFill>
                  <a:schemeClr val="dk1"/>
                </a:solidFill>
                <a:latin typeface="Epilogue"/>
                <a:ea typeface="Epilogue"/>
                <a:cs typeface="Epilogue"/>
                <a:sym typeface="Epilogue"/>
              </a:rPr>
              <a:t>?</a:t>
            </a:r>
            <a:endParaRPr sz="1000">
              <a:solidFill>
                <a:schemeClr val="dk1"/>
              </a:solidFill>
              <a:latin typeface="Epilogue"/>
              <a:ea typeface="Epilogue"/>
              <a:cs typeface="Epilogue"/>
              <a:sym typeface="Epilogue"/>
            </a:endParaRPr>
          </a:p>
        </p:txBody>
      </p:sp>
      <p:cxnSp>
        <p:nvCxnSpPr>
          <p:cNvPr id="800" name="Google Shape;800;p92"/>
          <p:cNvCxnSpPr/>
          <p:nvPr/>
        </p:nvCxnSpPr>
        <p:spPr>
          <a:xfrm>
            <a:off x="3886200" y="1417320"/>
            <a:ext cx="937200" cy="1088100"/>
          </a:xfrm>
          <a:prstGeom prst="straightConnector1">
            <a:avLst/>
          </a:prstGeom>
          <a:noFill/>
          <a:ln cap="flat" cmpd="sng" w="9525">
            <a:solidFill>
              <a:srgbClr val="222222"/>
            </a:solidFill>
            <a:prstDash val="solid"/>
            <a:round/>
            <a:headEnd len="sm" w="sm" type="none"/>
            <a:tailEnd len="sm" w="sm" type="none"/>
          </a:ln>
        </p:spPr>
      </p:cxnSp>
      <p:cxnSp>
        <p:nvCxnSpPr>
          <p:cNvPr id="801" name="Google Shape;801;p92"/>
          <p:cNvCxnSpPr/>
          <p:nvPr/>
        </p:nvCxnSpPr>
        <p:spPr>
          <a:xfrm flipH="1">
            <a:off x="4823474" y="1371600"/>
            <a:ext cx="900" cy="1134000"/>
          </a:xfrm>
          <a:prstGeom prst="straightConnector1">
            <a:avLst/>
          </a:prstGeom>
          <a:noFill/>
          <a:ln cap="flat" cmpd="sng" w="9525">
            <a:solidFill>
              <a:srgbClr val="222222"/>
            </a:solidFill>
            <a:prstDash val="solid"/>
            <a:round/>
            <a:headEnd len="sm" w="sm" type="none"/>
            <a:tailEnd len="sm" w="sm" type="none"/>
          </a:ln>
        </p:spPr>
      </p:cxnSp>
      <p:cxnSp>
        <p:nvCxnSpPr>
          <p:cNvPr id="802" name="Google Shape;802;p92"/>
          <p:cNvCxnSpPr/>
          <p:nvPr/>
        </p:nvCxnSpPr>
        <p:spPr>
          <a:xfrm flipH="1">
            <a:off x="4823460" y="1417320"/>
            <a:ext cx="1257300" cy="1088100"/>
          </a:xfrm>
          <a:prstGeom prst="straightConnector1">
            <a:avLst/>
          </a:prstGeom>
          <a:noFill/>
          <a:ln cap="flat" cmpd="sng" w="9525">
            <a:solidFill>
              <a:srgbClr val="222222"/>
            </a:solidFill>
            <a:prstDash val="solid"/>
            <a:round/>
            <a:headEnd len="sm" w="sm" type="none"/>
            <a:tailEnd len="sm" w="sm" type="none"/>
          </a:ln>
        </p:spPr>
      </p:cxnSp>
      <p:cxnSp>
        <p:nvCxnSpPr>
          <p:cNvPr id="803" name="Google Shape;803;p92"/>
          <p:cNvCxnSpPr/>
          <p:nvPr/>
        </p:nvCxnSpPr>
        <p:spPr>
          <a:xfrm>
            <a:off x="4823460" y="2505456"/>
            <a:ext cx="1714500" cy="900"/>
          </a:xfrm>
          <a:prstGeom prst="straightConnector1">
            <a:avLst/>
          </a:prstGeom>
          <a:noFill/>
          <a:ln cap="flat" cmpd="sng" w="9525">
            <a:solidFill>
              <a:srgbClr val="222222"/>
            </a:solidFill>
            <a:prstDash val="solid"/>
            <a:round/>
            <a:headEnd len="sm" w="sm" type="none"/>
            <a:tailEnd len="sm" w="sm" type="none"/>
          </a:ln>
        </p:spPr>
      </p:cxnSp>
      <p:cxnSp>
        <p:nvCxnSpPr>
          <p:cNvPr id="804" name="Google Shape;804;p92"/>
          <p:cNvCxnSpPr/>
          <p:nvPr/>
        </p:nvCxnSpPr>
        <p:spPr>
          <a:xfrm>
            <a:off x="4823460" y="2505456"/>
            <a:ext cx="1211700" cy="1106400"/>
          </a:xfrm>
          <a:prstGeom prst="straightConnector1">
            <a:avLst/>
          </a:prstGeom>
          <a:noFill/>
          <a:ln cap="flat" cmpd="sng" w="9525">
            <a:solidFill>
              <a:srgbClr val="222222"/>
            </a:solidFill>
            <a:prstDash val="solid"/>
            <a:round/>
            <a:headEnd len="sm" w="sm" type="none"/>
            <a:tailEnd len="sm" w="sm" type="none"/>
          </a:ln>
        </p:spPr>
      </p:cxnSp>
      <p:cxnSp>
        <p:nvCxnSpPr>
          <p:cNvPr id="805" name="Google Shape;805;p92"/>
          <p:cNvCxnSpPr/>
          <p:nvPr/>
        </p:nvCxnSpPr>
        <p:spPr>
          <a:xfrm>
            <a:off x="4823460" y="2505456"/>
            <a:ext cx="900" cy="1197900"/>
          </a:xfrm>
          <a:prstGeom prst="straightConnector1">
            <a:avLst/>
          </a:prstGeom>
          <a:noFill/>
          <a:ln cap="flat" cmpd="sng" w="9525">
            <a:solidFill>
              <a:srgbClr val="222222"/>
            </a:solidFill>
            <a:prstDash val="solid"/>
            <a:round/>
            <a:headEnd len="sm" w="sm" type="none"/>
            <a:tailEnd len="sm" w="sm" type="none"/>
          </a:ln>
        </p:spPr>
      </p:cxnSp>
      <p:cxnSp>
        <p:nvCxnSpPr>
          <p:cNvPr id="806" name="Google Shape;806;p92"/>
          <p:cNvCxnSpPr/>
          <p:nvPr/>
        </p:nvCxnSpPr>
        <p:spPr>
          <a:xfrm flipH="1">
            <a:off x="3703260" y="2505456"/>
            <a:ext cx="1120200" cy="1060800"/>
          </a:xfrm>
          <a:prstGeom prst="straightConnector1">
            <a:avLst/>
          </a:prstGeom>
          <a:noFill/>
          <a:ln cap="flat" cmpd="sng" w="9525">
            <a:solidFill>
              <a:srgbClr val="222222"/>
            </a:solidFill>
            <a:prstDash val="solid"/>
            <a:round/>
            <a:headEnd len="sm" w="sm" type="none"/>
            <a:tailEnd len="sm" w="sm" type="none"/>
          </a:ln>
        </p:spPr>
      </p:cxnSp>
      <p:cxnSp>
        <p:nvCxnSpPr>
          <p:cNvPr id="807" name="Google Shape;807;p92"/>
          <p:cNvCxnSpPr/>
          <p:nvPr/>
        </p:nvCxnSpPr>
        <p:spPr>
          <a:xfrm flipH="1">
            <a:off x="3063360" y="2505456"/>
            <a:ext cx="1760100" cy="900"/>
          </a:xfrm>
          <a:prstGeom prst="straightConnector1">
            <a:avLst/>
          </a:prstGeom>
          <a:noFill/>
          <a:ln cap="flat" cmpd="sng" w="9525">
            <a:solidFill>
              <a:srgbClr val="222222"/>
            </a:solidFill>
            <a:prstDash val="solid"/>
            <a:round/>
            <a:headEnd len="sm" w="sm" type="none"/>
            <a:tailEnd len="sm" w="sm" type="none"/>
          </a:ln>
        </p:spPr>
      </p:cxnSp>
      <p:sp>
        <p:nvSpPr>
          <p:cNvPr id="808" name="Google Shape;808;p92"/>
          <p:cNvSpPr/>
          <p:nvPr/>
        </p:nvSpPr>
        <p:spPr>
          <a:xfrm>
            <a:off x="3977640" y="2176272"/>
            <a:ext cx="1691700" cy="658500"/>
          </a:xfrm>
          <a:prstGeom prst="rect">
            <a:avLst/>
          </a:prstGeom>
          <a:solidFill>
            <a:srgbClr val="FFFFFF"/>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92"/>
          <p:cNvSpPr txBox="1"/>
          <p:nvPr/>
        </p:nvSpPr>
        <p:spPr>
          <a:xfrm>
            <a:off x="3977640" y="2176272"/>
            <a:ext cx="1691700" cy="6585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Ethical Implications</a:t>
            </a:r>
            <a:endParaRPr b="0" i="0" sz="120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Patrick Hand"/>
              <a:buNone/>
            </a:pPr>
            <a:r>
              <a:rPr b="0" i="0" lang="en" sz="900" u="none" cap="none" strike="noStrike">
                <a:solidFill>
                  <a:srgbClr val="222222"/>
                </a:solidFill>
                <a:latin typeface="Patrick Hand"/>
                <a:ea typeface="Patrick Hand"/>
                <a:cs typeface="Patrick Hand"/>
                <a:sym typeface="Patrick Hand"/>
              </a:rPr>
              <a:t>$5 mystery boxes of art crafters made through creative experimentation</a:t>
            </a:r>
            <a:endParaRPr b="0" i="0" sz="1200" u="none" cap="none" strike="noStrike">
              <a:solidFill>
                <a:srgbClr val="000000"/>
              </a:solidFill>
              <a:latin typeface="Calibri"/>
              <a:ea typeface="Calibri"/>
              <a:cs typeface="Calibri"/>
              <a:sym typeface="Calibri"/>
            </a:endParaRPr>
          </a:p>
        </p:txBody>
      </p:sp>
      <p:sp>
        <p:nvSpPr>
          <p:cNvPr id="810" name="Google Shape;810;p92"/>
          <p:cNvSpPr txBox="1"/>
          <p:nvPr/>
        </p:nvSpPr>
        <p:spPr>
          <a:xfrm>
            <a:off x="3429000" y="1143000"/>
            <a:ext cx="822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Society</a:t>
            </a:r>
            <a:endParaRPr b="0" i="0" sz="1200" u="none" cap="none" strike="noStrike">
              <a:solidFill>
                <a:srgbClr val="000000"/>
              </a:solidFill>
              <a:latin typeface="Calibri"/>
              <a:ea typeface="Calibri"/>
              <a:cs typeface="Calibri"/>
              <a:sym typeface="Calibri"/>
            </a:endParaRPr>
          </a:p>
        </p:txBody>
      </p:sp>
      <p:sp>
        <p:nvSpPr>
          <p:cNvPr id="811" name="Google Shape;811;p92"/>
          <p:cNvSpPr txBox="1"/>
          <p:nvPr/>
        </p:nvSpPr>
        <p:spPr>
          <a:xfrm>
            <a:off x="4343400" y="1078992"/>
            <a:ext cx="1005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Sustainability</a:t>
            </a:r>
            <a:endParaRPr b="0" i="0" sz="1200" u="none" cap="none" strike="noStrike">
              <a:solidFill>
                <a:srgbClr val="000000"/>
              </a:solidFill>
              <a:latin typeface="Calibri"/>
              <a:ea typeface="Calibri"/>
              <a:cs typeface="Calibri"/>
              <a:sym typeface="Calibri"/>
            </a:endParaRPr>
          </a:p>
        </p:txBody>
      </p:sp>
      <p:sp>
        <p:nvSpPr>
          <p:cNvPr id="812" name="Google Shape;812;p92"/>
          <p:cNvSpPr txBox="1"/>
          <p:nvPr/>
        </p:nvSpPr>
        <p:spPr>
          <a:xfrm>
            <a:off x="5989320" y="1143000"/>
            <a:ext cx="8688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Persuasion</a:t>
            </a:r>
            <a:endParaRPr b="0" i="0" sz="1200" u="none" cap="none" strike="noStrike">
              <a:solidFill>
                <a:srgbClr val="000000"/>
              </a:solidFill>
              <a:latin typeface="Calibri"/>
              <a:ea typeface="Calibri"/>
              <a:cs typeface="Calibri"/>
              <a:sym typeface="Calibri"/>
            </a:endParaRPr>
          </a:p>
        </p:txBody>
      </p:sp>
      <p:sp>
        <p:nvSpPr>
          <p:cNvPr id="813" name="Google Shape;813;p92"/>
          <p:cNvSpPr txBox="1"/>
          <p:nvPr/>
        </p:nvSpPr>
        <p:spPr>
          <a:xfrm>
            <a:off x="6565392" y="2322576"/>
            <a:ext cx="777300" cy="3291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User</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Involvement</a:t>
            </a:r>
            <a:endParaRPr b="0" i="0" sz="1200" u="none" cap="none" strike="noStrike">
              <a:solidFill>
                <a:srgbClr val="000000"/>
              </a:solidFill>
              <a:latin typeface="Calibri"/>
              <a:ea typeface="Calibri"/>
              <a:cs typeface="Calibri"/>
              <a:sym typeface="Calibri"/>
            </a:endParaRPr>
          </a:p>
        </p:txBody>
      </p:sp>
      <p:sp>
        <p:nvSpPr>
          <p:cNvPr id="814" name="Google Shape;814;p92"/>
          <p:cNvSpPr txBox="1"/>
          <p:nvPr/>
        </p:nvSpPr>
        <p:spPr>
          <a:xfrm>
            <a:off x="5989320" y="3611880"/>
            <a:ext cx="6402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Focus</a:t>
            </a:r>
            <a:endParaRPr b="0" i="0" sz="1200" u="none" cap="none" strike="noStrike">
              <a:solidFill>
                <a:srgbClr val="000000"/>
              </a:solidFill>
              <a:latin typeface="Calibri"/>
              <a:ea typeface="Calibri"/>
              <a:cs typeface="Calibri"/>
              <a:sym typeface="Calibri"/>
            </a:endParaRPr>
          </a:p>
        </p:txBody>
      </p:sp>
      <p:sp>
        <p:nvSpPr>
          <p:cNvPr id="815" name="Google Shape;815;p92"/>
          <p:cNvSpPr txBox="1"/>
          <p:nvPr/>
        </p:nvSpPr>
        <p:spPr>
          <a:xfrm>
            <a:off x="4526280" y="3703320"/>
            <a:ext cx="5943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Privacy</a:t>
            </a:r>
            <a:endParaRPr b="0" i="0" sz="1200" u="none" cap="none" strike="noStrike">
              <a:solidFill>
                <a:srgbClr val="000000"/>
              </a:solidFill>
              <a:latin typeface="Calibri"/>
              <a:ea typeface="Calibri"/>
              <a:cs typeface="Calibri"/>
              <a:sym typeface="Calibri"/>
            </a:endParaRPr>
          </a:p>
        </p:txBody>
      </p:sp>
      <p:sp>
        <p:nvSpPr>
          <p:cNvPr id="816" name="Google Shape;816;p92"/>
          <p:cNvSpPr txBox="1"/>
          <p:nvPr/>
        </p:nvSpPr>
        <p:spPr>
          <a:xfrm>
            <a:off x="3337560" y="3566160"/>
            <a:ext cx="7314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Usability</a:t>
            </a:r>
            <a:endParaRPr b="0" i="0" sz="1200" u="none" cap="none" strike="noStrike">
              <a:solidFill>
                <a:srgbClr val="000000"/>
              </a:solidFill>
              <a:latin typeface="Calibri"/>
              <a:ea typeface="Calibri"/>
              <a:cs typeface="Calibri"/>
              <a:sym typeface="Calibri"/>
            </a:endParaRPr>
          </a:p>
        </p:txBody>
      </p:sp>
      <p:sp>
        <p:nvSpPr>
          <p:cNvPr id="817" name="Google Shape;817;p92"/>
          <p:cNvSpPr txBox="1"/>
          <p:nvPr/>
        </p:nvSpPr>
        <p:spPr>
          <a:xfrm>
            <a:off x="2103120" y="2386584"/>
            <a:ext cx="9600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Accessibility</a:t>
            </a:r>
            <a:endParaRPr b="0" i="0" sz="1200" u="none" cap="none" strike="noStrike">
              <a:solidFill>
                <a:srgbClr val="000000"/>
              </a:solidFill>
              <a:latin typeface="Calibri"/>
              <a:ea typeface="Calibri"/>
              <a:cs typeface="Calibri"/>
              <a:sym typeface="Calibri"/>
            </a:endParaRPr>
          </a:p>
        </p:txBody>
      </p:sp>
      <p:sp>
        <p:nvSpPr>
          <p:cNvPr id="818" name="Google Shape;818;p92"/>
          <p:cNvSpPr txBox="1"/>
          <p:nvPr/>
        </p:nvSpPr>
        <p:spPr>
          <a:xfrm>
            <a:off x="6812280" y="777240"/>
            <a:ext cx="1920300" cy="14172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the surprise is the hook, which is basically a loot box. buyers might keep buying for the thrill of the reveal, not bc they want the art</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could show what past boxes looked like &amp; cap how many boxes one person can buy in a week</a:t>
            </a:r>
            <a:endParaRPr b="0" i="0" sz="850" u="none" cap="none" strike="noStrike">
              <a:solidFill>
                <a:srgbClr val="000000"/>
              </a:solidFill>
              <a:latin typeface="Calibri"/>
              <a:ea typeface="Calibri"/>
              <a:cs typeface="Calibri"/>
              <a:sym typeface="Calibri"/>
            </a:endParaRPr>
          </a:p>
        </p:txBody>
      </p:sp>
      <p:sp>
        <p:nvSpPr>
          <p:cNvPr id="819" name="Google Shape;819;p92"/>
          <p:cNvSpPr txBox="1"/>
          <p:nvPr/>
        </p:nvSpPr>
        <p:spPr>
          <a:xfrm>
            <a:off x="1417320" y="1051560"/>
            <a:ext cx="1965900" cy="11886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$5 is really low for handmade work. if this catches on, we could be teaching buyers that experimental art is worth less</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artists should set their own price. $5 can be the entry point for small experiments, not the rule</a:t>
            </a:r>
            <a:endParaRPr b="0" i="0" sz="850" u="none" cap="none" strike="noStrike">
              <a:solidFill>
                <a:srgbClr val="000000"/>
              </a:solidFill>
              <a:latin typeface="Calibri"/>
              <a:ea typeface="Calibri"/>
              <a:cs typeface="Calibri"/>
              <a:sym typeface="Calibri"/>
            </a:endParaRPr>
          </a:p>
        </p:txBody>
      </p:sp>
      <p:sp>
        <p:nvSpPr>
          <p:cNvPr id="820" name="Google Shape;820;p92"/>
          <p:cNvSpPr txBox="1"/>
          <p:nvPr/>
        </p:nvSpPr>
        <p:spPr>
          <a:xfrm>
            <a:off x="7315200" y="2240280"/>
            <a:ext cx="1463100" cy="16002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buyers have zero say. what if they get something they don't like or find upsetting?</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a short "no thanks" list gives buyers a little input. our prototype showed a small prompt made starting easier for the artist anyway</a:t>
            </a:r>
            <a:endParaRPr b="0" i="0" sz="850" u="none" cap="none" strike="noStrike">
              <a:solidFill>
                <a:srgbClr val="000000"/>
              </a:solidFill>
              <a:latin typeface="Calibri"/>
              <a:ea typeface="Calibri"/>
              <a:cs typeface="Calibri"/>
              <a:sym typeface="Calibri"/>
            </a:endParaRPr>
          </a:p>
        </p:txBody>
      </p:sp>
      <p:sp>
        <p:nvSpPr>
          <p:cNvPr id="821" name="Google Shape;821;p92"/>
          <p:cNvSpPr txBox="1"/>
          <p:nvPr/>
        </p:nvSpPr>
        <p:spPr>
          <a:xfrm>
            <a:off x="3749040" y="3959352"/>
            <a:ext cx="2030100" cy="10974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artists need an address to ship each box → strangers end up w/ each other's home addresses</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should handle shipping through the app so neither side sees the other's address</a:t>
            </a:r>
            <a:endParaRPr b="0" i="0" sz="850" u="none" cap="none" strike="noStrike">
              <a:solidFill>
                <a:srgbClr val="00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93"/>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might we re-inspire crafters when they become tired of their craft?</a:t>
            </a:r>
            <a:endParaRPr/>
          </a:p>
        </p:txBody>
      </p:sp>
      <p:sp>
        <p:nvSpPr>
          <p:cNvPr id="827" name="Google Shape;827;p9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HMW 3</a:t>
            </a:r>
            <a:endParaRPr/>
          </a:p>
        </p:txBody>
      </p:sp>
      <p:sp>
        <p:nvSpPr>
          <p:cNvPr id="828" name="Google Shape;828;p93"/>
          <p:cNvSpPr txBox="1"/>
          <p:nvPr>
            <p:ph idx="1" type="subTitle"/>
          </p:nvPr>
        </p:nvSpPr>
        <p:spPr>
          <a:xfrm>
            <a:off x="192525" y="3785000"/>
            <a:ext cx="8941200" cy="112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800"/>
              <a:t>From Lola: </a:t>
            </a:r>
            <a:r>
              <a:rPr i="1" lang="en" sz="1800"/>
              <a:t>“This actually looks pretty good… why did I think this was terrible?”</a:t>
            </a:r>
            <a:endParaRPr i="1" sz="18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94"/>
          <p:cNvSpPr txBox="1"/>
          <p:nvPr>
            <p:ph idx="1" type="subTitle"/>
          </p:nvPr>
        </p:nvSpPr>
        <p:spPr>
          <a:xfrm>
            <a:off x="601525" y="1323975"/>
            <a:ext cx="8121300" cy="36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LLM that “interviews” a crafter (who they are, what they make, other crafts they've dabbled in), and build a mind map profile of all their creative ventures, so they can reflect on the craft and how it used to bring them joy.</a:t>
            </a:r>
            <a:endParaRPr/>
          </a:p>
        </p:txBody>
      </p:sp>
      <p:sp>
        <p:nvSpPr>
          <p:cNvPr id="834" name="Google Shape;834;p9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3</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95"/>
          <p:cNvSpPr txBox="1"/>
          <p:nvPr>
            <p:ph idx="1" type="subTitle"/>
          </p:nvPr>
        </p:nvSpPr>
        <p:spPr>
          <a:xfrm>
            <a:off x="1849725" y="1856675"/>
            <a:ext cx="5626800" cy="1623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Rigorous reflection and introspection re-inspires crafters.</a:t>
            </a:r>
            <a:endParaRPr/>
          </a:p>
        </p:txBody>
      </p:sp>
      <p:sp>
        <p:nvSpPr>
          <p:cNvPr id="840" name="Google Shape;840;p9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ASSUMPTION 3</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96"/>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EXPERIENCE PROTOTYPE 3</a:t>
            </a:r>
            <a:endParaRPr/>
          </a:p>
        </p:txBody>
      </p:sp>
      <p:pic>
        <p:nvPicPr>
          <p:cNvPr id="846" name="Google Shape;846;p96" title="Screenshot 2026-10-08 at 2.16.57 PM.png"/>
          <p:cNvPicPr preferRelativeResize="0"/>
          <p:nvPr/>
        </p:nvPicPr>
        <p:blipFill>
          <a:blip r:embed="rId3">
            <a:alphaModFix/>
          </a:blip>
          <a:stretch>
            <a:fillRect/>
          </a:stretch>
        </p:blipFill>
        <p:spPr>
          <a:xfrm>
            <a:off x="610703" y="1288987"/>
            <a:ext cx="2299326" cy="3051425"/>
          </a:xfrm>
          <a:prstGeom prst="rect">
            <a:avLst/>
          </a:prstGeom>
          <a:noFill/>
          <a:ln>
            <a:noFill/>
          </a:ln>
        </p:spPr>
      </p:pic>
      <p:sp>
        <p:nvSpPr>
          <p:cNvPr id="847" name="Google Shape;847;p96"/>
          <p:cNvSpPr txBox="1"/>
          <p:nvPr>
            <p:ph idx="1" type="subTitle"/>
          </p:nvPr>
        </p:nvSpPr>
        <p:spPr>
          <a:xfrm>
            <a:off x="3112850" y="1224900"/>
            <a:ext cx="5845200" cy="29631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500">
                <a:solidFill>
                  <a:srgbClr val="000000"/>
                </a:solidFill>
              </a:rPr>
              <a:t>Wizard of Oz:</a:t>
            </a:r>
            <a:r>
              <a:rPr lang="en" sz="1500">
                <a:solidFill>
                  <a:srgbClr val="000000"/>
                </a:solidFill>
              </a:rPr>
              <a:t> we played the LLM</a:t>
            </a:r>
            <a:endParaRPr sz="1500">
              <a:solidFill>
                <a:srgbClr val="000000"/>
              </a:solidFill>
            </a:endParaRPr>
          </a:p>
          <a:p>
            <a:pPr indent="-323850" lvl="0" marL="457200" rtl="0" algn="l">
              <a:lnSpc>
                <a:spcPct val="150000"/>
              </a:lnSpc>
              <a:spcBef>
                <a:spcPts val="1200"/>
              </a:spcBef>
              <a:spcAft>
                <a:spcPts val="0"/>
              </a:spcAft>
              <a:buClr>
                <a:srgbClr val="000000"/>
              </a:buClr>
              <a:buSzPts val="1500"/>
              <a:buFont typeface="Arial"/>
              <a:buAutoNum type="arabicPeriod"/>
            </a:pPr>
            <a:r>
              <a:rPr b="1" lang="en" sz="1500">
                <a:solidFill>
                  <a:srgbClr val="000000"/>
                </a:solidFill>
              </a:rPr>
              <a:t>Interview:</a:t>
            </a:r>
            <a:r>
              <a:rPr lang="en" sz="1500">
                <a:solidFill>
                  <a:srgbClr val="000000"/>
                </a:solidFill>
              </a:rPr>
              <a:t> ask a burnt-out filmmaker about every craft he’s ever tried</a:t>
            </a:r>
            <a:endParaRPr sz="1500">
              <a:solidFill>
                <a:srgbClr val="000000"/>
              </a:solidFill>
            </a:endParaRPr>
          </a:p>
          <a:p>
            <a:pPr indent="-323850" lvl="0" marL="457200" rtl="0" algn="l">
              <a:lnSpc>
                <a:spcPct val="150000"/>
              </a:lnSpc>
              <a:spcBef>
                <a:spcPts val="0"/>
              </a:spcBef>
              <a:spcAft>
                <a:spcPts val="0"/>
              </a:spcAft>
              <a:buClr>
                <a:srgbClr val="000000"/>
              </a:buClr>
              <a:buSzPts val="1500"/>
              <a:buFont typeface="Arial"/>
              <a:buAutoNum type="arabicPeriod"/>
            </a:pPr>
            <a:r>
              <a:rPr b="1" lang="en" sz="1500">
                <a:solidFill>
                  <a:srgbClr val="000000"/>
                </a:solidFill>
              </a:rPr>
              <a:t>Map:</a:t>
            </a:r>
            <a:r>
              <a:rPr lang="en" sz="1500">
                <a:solidFill>
                  <a:srgbClr val="000000"/>
                </a:solidFill>
              </a:rPr>
              <a:t> build his creative mind map live as he talks</a:t>
            </a:r>
            <a:endParaRPr sz="1500">
              <a:solidFill>
                <a:srgbClr val="000000"/>
              </a:solidFill>
            </a:endParaRPr>
          </a:p>
          <a:p>
            <a:pPr indent="-323850" lvl="0" marL="457200" rtl="0" algn="l">
              <a:lnSpc>
                <a:spcPct val="150000"/>
              </a:lnSpc>
              <a:spcBef>
                <a:spcPts val="0"/>
              </a:spcBef>
              <a:spcAft>
                <a:spcPts val="0"/>
              </a:spcAft>
              <a:buClr>
                <a:srgbClr val="000000"/>
              </a:buClr>
              <a:buSzPts val="1500"/>
              <a:buFont typeface="Arial"/>
              <a:buAutoNum type="arabicPeriod"/>
            </a:pPr>
            <a:r>
              <a:rPr b="1" lang="en" sz="1500">
                <a:solidFill>
                  <a:srgbClr val="000000"/>
                </a:solidFill>
              </a:rPr>
              <a:t>Reflect:</a:t>
            </a:r>
            <a:r>
              <a:rPr lang="en" sz="1500">
                <a:solidFill>
                  <a:srgbClr val="000000"/>
                </a:solidFill>
              </a:rPr>
              <a:t> hand him the map and ask what he’d return to</a:t>
            </a:r>
            <a:endParaRPr sz="1500">
              <a:solidFill>
                <a:srgbClr val="000000"/>
              </a:solidFill>
            </a:endParaRPr>
          </a:p>
          <a:p>
            <a:pPr indent="-323850" lvl="0" marL="457200" rtl="0" algn="l">
              <a:lnSpc>
                <a:spcPct val="150000"/>
              </a:lnSpc>
              <a:spcBef>
                <a:spcPts val="0"/>
              </a:spcBef>
              <a:spcAft>
                <a:spcPts val="0"/>
              </a:spcAft>
              <a:buClr>
                <a:srgbClr val="000000"/>
              </a:buClr>
              <a:buSzPts val="1500"/>
              <a:buFont typeface="Arial"/>
              <a:buAutoNum type="arabicPeriod"/>
            </a:pPr>
            <a:r>
              <a:rPr b="1" lang="en" sz="1500">
                <a:solidFill>
                  <a:srgbClr val="000000"/>
                </a:solidFill>
              </a:rPr>
              <a:t>Follow up:</a:t>
            </a:r>
            <a:r>
              <a:rPr lang="en" sz="1500">
                <a:solidFill>
                  <a:srgbClr val="000000"/>
                </a:solidFill>
              </a:rPr>
              <a:t> text him days later to see if anything changed (without saying we’ll follow up)</a:t>
            </a:r>
            <a:endParaRPr sz="2200"/>
          </a:p>
        </p:txBody>
      </p:sp>
      <p:pic>
        <p:nvPicPr>
          <p:cNvPr id="848" name="Google Shape;848;p96"/>
          <p:cNvPicPr preferRelativeResize="0"/>
          <p:nvPr/>
        </p:nvPicPr>
        <p:blipFill>
          <a:blip r:embed="rId4">
            <a:alphaModFix/>
          </a:blip>
          <a:stretch>
            <a:fillRect/>
          </a:stretch>
        </p:blipFill>
        <p:spPr>
          <a:xfrm rot="1328345">
            <a:off x="1222159" y="1403522"/>
            <a:ext cx="1917465" cy="191745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97"/>
          <p:cNvSpPr txBox="1"/>
          <p:nvPr>
            <p:ph idx="1" type="subTitle"/>
          </p:nvPr>
        </p:nvSpPr>
        <p:spPr>
          <a:xfrm>
            <a:off x="503825" y="1224900"/>
            <a:ext cx="4590600" cy="2963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500"/>
              <a:t>How Keenan Felt Going Into the Session:</a:t>
            </a:r>
            <a:endParaRPr b="1" sz="1500"/>
          </a:p>
          <a:p>
            <a:pPr indent="0" lvl="0" marL="0" rtl="0" algn="l">
              <a:lnSpc>
                <a:spcPct val="150000"/>
              </a:lnSpc>
              <a:spcBef>
                <a:spcPts val="0"/>
              </a:spcBef>
              <a:spcAft>
                <a:spcPts val="0"/>
              </a:spcAft>
              <a:buNone/>
            </a:pPr>
            <a:r>
              <a:rPr i="1" lang="en" sz="1500">
                <a:solidFill>
                  <a:srgbClr val="000000"/>
                </a:solidFill>
              </a:rPr>
              <a:t>"i don't really want to make this anymore"</a:t>
            </a:r>
            <a:endParaRPr i="1" sz="1500">
              <a:solidFill>
                <a:srgbClr val="000000"/>
              </a:solidFill>
            </a:endParaRPr>
          </a:p>
          <a:p>
            <a:pPr indent="0" lvl="0" marL="0" rtl="0" algn="l">
              <a:lnSpc>
                <a:spcPct val="150000"/>
              </a:lnSpc>
              <a:spcBef>
                <a:spcPts val="0"/>
              </a:spcBef>
              <a:spcAft>
                <a:spcPts val="0"/>
              </a:spcAft>
              <a:buNone/>
            </a:pPr>
            <a:r>
              <a:rPr i="1" lang="en" sz="1500">
                <a:solidFill>
                  <a:srgbClr val="000000"/>
                </a:solidFill>
              </a:rPr>
              <a:t>"i'm just too affected by others' opinions"</a:t>
            </a:r>
            <a:endParaRPr i="1" sz="1500">
              <a:solidFill>
                <a:srgbClr val="000000"/>
              </a:solidFill>
            </a:endParaRPr>
          </a:p>
          <a:p>
            <a:pPr indent="0" lvl="0" marL="0" rtl="0" algn="l">
              <a:lnSpc>
                <a:spcPct val="150000"/>
              </a:lnSpc>
              <a:spcBef>
                <a:spcPts val="0"/>
              </a:spcBef>
              <a:spcAft>
                <a:spcPts val="0"/>
              </a:spcAft>
              <a:buNone/>
            </a:pPr>
            <a:r>
              <a:rPr i="1" lang="en" sz="1500">
                <a:solidFill>
                  <a:srgbClr val="000000"/>
                </a:solidFill>
              </a:rPr>
              <a:t>"now i'm just tired"</a:t>
            </a:r>
            <a:endParaRPr i="1" sz="1500">
              <a:solidFill>
                <a:srgbClr val="000000"/>
              </a:solidFill>
            </a:endParaRPr>
          </a:p>
          <a:p>
            <a:pPr indent="0" lvl="0" marL="0" rtl="0" algn="l">
              <a:lnSpc>
                <a:spcPct val="150000"/>
              </a:lnSpc>
              <a:spcBef>
                <a:spcPts val="0"/>
              </a:spcBef>
              <a:spcAft>
                <a:spcPts val="0"/>
              </a:spcAft>
              <a:buNone/>
            </a:pPr>
            <a:r>
              <a:t/>
            </a:r>
            <a:endParaRPr sz="1500">
              <a:solidFill>
                <a:srgbClr val="000000"/>
              </a:solidFill>
            </a:endParaRPr>
          </a:p>
          <a:p>
            <a:pPr indent="0" lvl="0" marL="0" rtl="0" algn="l">
              <a:lnSpc>
                <a:spcPct val="150000"/>
              </a:lnSpc>
              <a:spcBef>
                <a:spcPts val="0"/>
              </a:spcBef>
              <a:spcAft>
                <a:spcPts val="0"/>
              </a:spcAft>
              <a:buNone/>
            </a:pPr>
            <a:r>
              <a:rPr lang="en" sz="1500"/>
              <a:t>His sense of self worth depends on validation from others in regards to his filmmaking</a:t>
            </a:r>
            <a:endParaRPr sz="1500">
              <a:solidFill>
                <a:srgbClr val="000000"/>
              </a:solidFill>
              <a:latin typeface="Arial"/>
              <a:ea typeface="Arial"/>
              <a:cs typeface="Arial"/>
              <a:sym typeface="Arial"/>
            </a:endParaRPr>
          </a:p>
          <a:p>
            <a:pPr indent="0" lvl="0" marL="0" rtl="0" algn="l">
              <a:lnSpc>
                <a:spcPct val="150000"/>
              </a:lnSpc>
              <a:spcBef>
                <a:spcPts val="0"/>
              </a:spcBef>
              <a:spcAft>
                <a:spcPts val="0"/>
              </a:spcAft>
              <a:buNone/>
            </a:pPr>
            <a:r>
              <a:t/>
            </a:r>
            <a:endParaRPr sz="1500">
              <a:solidFill>
                <a:srgbClr val="000000"/>
              </a:solidFill>
            </a:endParaRPr>
          </a:p>
        </p:txBody>
      </p:sp>
      <p:pic>
        <p:nvPicPr>
          <p:cNvPr id="854" name="Google Shape;854;p97" title="Screenshot 2026-10-08 at 3.23.29 PM.png"/>
          <p:cNvPicPr preferRelativeResize="0"/>
          <p:nvPr/>
        </p:nvPicPr>
        <p:blipFill rotWithShape="1">
          <a:blip r:embed="rId3">
            <a:alphaModFix/>
          </a:blip>
          <a:srcRect b="0" l="0" r="27124" t="0"/>
          <a:stretch/>
        </p:blipFill>
        <p:spPr>
          <a:xfrm>
            <a:off x="5472850" y="1364525"/>
            <a:ext cx="3258400" cy="1932375"/>
          </a:xfrm>
          <a:prstGeom prst="rect">
            <a:avLst/>
          </a:prstGeom>
          <a:noFill/>
          <a:ln>
            <a:noFill/>
          </a:ln>
        </p:spPr>
      </p:pic>
      <p:sp>
        <p:nvSpPr>
          <p:cNvPr id="855" name="Google Shape;855;p9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98"/>
          <p:cNvSpPr txBox="1"/>
          <p:nvPr>
            <p:ph idx="1" type="subTitle"/>
          </p:nvPr>
        </p:nvSpPr>
        <p:spPr>
          <a:xfrm>
            <a:off x="578875" y="1224900"/>
            <a:ext cx="4339200" cy="29631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500">
                <a:solidFill>
                  <a:srgbClr val="000000"/>
                </a:solidFill>
              </a:rPr>
              <a:t>Ask</a:t>
            </a:r>
            <a:r>
              <a:rPr lang="en" sz="1500">
                <a:solidFill>
                  <a:srgbClr val="000000"/>
                </a:solidFill>
              </a:rPr>
              <a:t>: List every craft he’s ever done</a:t>
            </a:r>
            <a:endParaRPr sz="1500">
              <a:solidFill>
                <a:srgbClr val="000000"/>
              </a:solidFill>
            </a:endParaRPr>
          </a:p>
          <a:p>
            <a:pPr indent="0" lvl="0" marL="0" rtl="0" algn="l">
              <a:lnSpc>
                <a:spcPct val="150000"/>
              </a:lnSpc>
              <a:spcBef>
                <a:spcPts val="0"/>
              </a:spcBef>
              <a:spcAft>
                <a:spcPts val="0"/>
              </a:spcAft>
              <a:buNone/>
            </a:pPr>
            <a:r>
              <a:rPr b="1" lang="en" sz="1500">
                <a:solidFill>
                  <a:srgbClr val="000000"/>
                </a:solidFill>
              </a:rPr>
              <a:t>Result</a:t>
            </a:r>
            <a:r>
              <a:rPr lang="en" sz="1500">
                <a:solidFill>
                  <a:srgbClr val="000000"/>
                </a:solidFill>
              </a:rPr>
              <a:t>: </a:t>
            </a:r>
            <a:r>
              <a:rPr i="1" lang="en" sz="1500">
                <a:solidFill>
                  <a:srgbClr val="000000"/>
                </a:solidFill>
              </a:rPr>
              <a:t>““Damn, what happened to me? ...I started </a:t>
            </a:r>
            <a:r>
              <a:rPr b="1" i="1" lang="en" sz="1500">
                <a:solidFill>
                  <a:srgbClr val="000000"/>
                </a:solidFill>
              </a:rPr>
              <a:t>funneling</a:t>
            </a:r>
            <a:r>
              <a:rPr i="1" lang="en" sz="1500">
                <a:solidFill>
                  <a:srgbClr val="000000"/>
                </a:solidFill>
              </a:rPr>
              <a:t> into film” </a:t>
            </a:r>
            <a:endParaRPr i="1" sz="1500">
              <a:solidFill>
                <a:srgbClr val="000000"/>
              </a:solidFill>
            </a:endParaRPr>
          </a:p>
          <a:p>
            <a:pPr indent="0" lvl="0" marL="0" rtl="0" algn="l">
              <a:lnSpc>
                <a:spcPct val="150000"/>
              </a:lnSpc>
              <a:spcBef>
                <a:spcPts val="0"/>
              </a:spcBef>
              <a:spcAft>
                <a:spcPts val="0"/>
              </a:spcAft>
              <a:buNone/>
            </a:pPr>
            <a:r>
              <a:t/>
            </a:r>
            <a:endParaRPr sz="1500">
              <a:solidFill>
                <a:srgbClr val="000000"/>
              </a:solidFill>
            </a:endParaRPr>
          </a:p>
          <a:p>
            <a:pPr indent="0" lvl="0" marL="0" rtl="0" algn="l">
              <a:lnSpc>
                <a:spcPct val="150000"/>
              </a:lnSpc>
              <a:spcBef>
                <a:spcPts val="0"/>
              </a:spcBef>
              <a:spcAft>
                <a:spcPts val="0"/>
              </a:spcAft>
              <a:buNone/>
            </a:pPr>
            <a:r>
              <a:rPr lang="en" sz="1500">
                <a:solidFill>
                  <a:srgbClr val="000000"/>
                </a:solidFill>
              </a:rPr>
              <a:t>He finds the real problem is validation, not tiredness: </a:t>
            </a:r>
            <a:r>
              <a:rPr i="1" lang="en" sz="1500">
                <a:solidFill>
                  <a:srgbClr val="000000"/>
                </a:solidFill>
              </a:rPr>
              <a:t>“Nothing I</a:t>
            </a:r>
            <a:r>
              <a:rPr lang="en" sz="1500">
                <a:solidFill>
                  <a:srgbClr val="000000"/>
                </a:solidFill>
              </a:rPr>
              <a:t> do is just for myself anymore”</a:t>
            </a:r>
            <a:endParaRPr sz="1500">
              <a:solidFill>
                <a:srgbClr val="000000"/>
              </a:solidFill>
            </a:endParaRPr>
          </a:p>
          <a:p>
            <a:pPr indent="0" lvl="0" marL="0" rtl="0" algn="l">
              <a:lnSpc>
                <a:spcPct val="150000"/>
              </a:lnSpc>
              <a:spcBef>
                <a:spcPts val="0"/>
              </a:spcBef>
              <a:spcAft>
                <a:spcPts val="0"/>
              </a:spcAft>
              <a:buNone/>
            </a:pPr>
            <a:r>
              <a:rPr lang="en" sz="1500">
                <a:solidFill>
                  <a:srgbClr val="000000"/>
                </a:solidFill>
              </a:rPr>
              <a:t>He remembers crafts he’d forgotten: </a:t>
            </a:r>
            <a:r>
              <a:rPr i="1" lang="en" sz="1500">
                <a:solidFill>
                  <a:srgbClr val="000000"/>
                </a:solidFill>
              </a:rPr>
              <a:t>“I forgot I danced... I got </a:t>
            </a:r>
            <a:r>
              <a:rPr b="1" i="1" lang="en" sz="1500">
                <a:solidFill>
                  <a:srgbClr val="000000"/>
                </a:solidFill>
              </a:rPr>
              <a:t>multitudes</a:t>
            </a:r>
            <a:r>
              <a:rPr i="1" lang="en" sz="1500">
                <a:solidFill>
                  <a:srgbClr val="000000"/>
                </a:solidFill>
              </a:rPr>
              <a:t>”</a:t>
            </a:r>
            <a:endParaRPr i="1" sz="1500">
              <a:solidFill>
                <a:srgbClr val="000000"/>
              </a:solidFill>
            </a:endParaRPr>
          </a:p>
        </p:txBody>
      </p:sp>
      <p:pic>
        <p:nvPicPr>
          <p:cNvPr id="861" name="Google Shape;861;p98"/>
          <p:cNvPicPr preferRelativeResize="0"/>
          <p:nvPr/>
        </p:nvPicPr>
        <p:blipFill>
          <a:blip r:embed="rId3">
            <a:alphaModFix/>
          </a:blip>
          <a:stretch>
            <a:fillRect/>
          </a:stretch>
        </p:blipFill>
        <p:spPr>
          <a:xfrm>
            <a:off x="4988725" y="2858825"/>
            <a:ext cx="3764698" cy="2025299"/>
          </a:xfrm>
          <a:prstGeom prst="rect">
            <a:avLst/>
          </a:prstGeom>
          <a:noFill/>
          <a:ln>
            <a:noFill/>
          </a:ln>
        </p:spPr>
      </p:pic>
      <p:pic>
        <p:nvPicPr>
          <p:cNvPr id="862" name="Google Shape;862;p98" title="Screenshot 2026-10-08 at 2.58.24 PM.png"/>
          <p:cNvPicPr preferRelativeResize="0"/>
          <p:nvPr/>
        </p:nvPicPr>
        <p:blipFill>
          <a:blip r:embed="rId4">
            <a:alphaModFix/>
          </a:blip>
          <a:stretch>
            <a:fillRect/>
          </a:stretch>
        </p:blipFill>
        <p:spPr>
          <a:xfrm>
            <a:off x="4988726" y="791244"/>
            <a:ext cx="3764702" cy="1991242"/>
          </a:xfrm>
          <a:prstGeom prst="rect">
            <a:avLst/>
          </a:prstGeom>
          <a:noFill/>
          <a:ln>
            <a:noFill/>
          </a:ln>
        </p:spPr>
      </p:pic>
      <p:sp>
        <p:nvSpPr>
          <p:cNvPr id="863" name="Google Shape;863;p9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DURING</a:t>
            </a:r>
            <a:endParaRPr/>
          </a:p>
        </p:txBody>
      </p:sp>
      <p:pic>
        <p:nvPicPr>
          <p:cNvPr id="864" name="Google Shape;864;p98"/>
          <p:cNvPicPr preferRelativeResize="0"/>
          <p:nvPr/>
        </p:nvPicPr>
        <p:blipFill>
          <a:blip r:embed="rId5">
            <a:alphaModFix/>
          </a:blip>
          <a:stretch>
            <a:fillRect/>
          </a:stretch>
        </p:blipFill>
        <p:spPr>
          <a:xfrm rot="1328345">
            <a:off x="5402659" y="574397"/>
            <a:ext cx="1917465" cy="1917453"/>
          </a:xfrm>
          <a:prstGeom prst="rect">
            <a:avLst/>
          </a:prstGeom>
          <a:noFill/>
          <a:ln>
            <a:noFill/>
          </a:ln>
        </p:spPr>
      </p:pic>
      <p:pic>
        <p:nvPicPr>
          <p:cNvPr id="865" name="Google Shape;865;p98"/>
          <p:cNvPicPr preferRelativeResize="0"/>
          <p:nvPr/>
        </p:nvPicPr>
        <p:blipFill>
          <a:blip r:embed="rId5">
            <a:alphaModFix/>
          </a:blip>
          <a:stretch>
            <a:fillRect/>
          </a:stretch>
        </p:blipFill>
        <p:spPr>
          <a:xfrm rot="1328345">
            <a:off x="6144184" y="2676047"/>
            <a:ext cx="1917465" cy="1917453"/>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p99"/>
          <p:cNvSpPr txBox="1"/>
          <p:nvPr>
            <p:ph idx="1" type="subTitle"/>
          </p:nvPr>
        </p:nvSpPr>
        <p:spPr>
          <a:xfrm>
            <a:off x="584575" y="1090200"/>
            <a:ext cx="4174800" cy="29631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500">
                <a:solidFill>
                  <a:srgbClr val="000000"/>
                </a:solidFill>
              </a:rPr>
              <a:t>Keenan reflected on his old crafts.</a:t>
            </a:r>
            <a:endParaRPr b="1" sz="1500">
              <a:solidFill>
                <a:srgbClr val="000000"/>
              </a:solidFill>
            </a:endParaRPr>
          </a:p>
          <a:p>
            <a:pPr indent="0" lvl="0" marL="0" rtl="0" algn="l">
              <a:lnSpc>
                <a:spcPct val="150000"/>
              </a:lnSpc>
              <a:spcBef>
                <a:spcPts val="1200"/>
              </a:spcBef>
              <a:spcAft>
                <a:spcPts val="0"/>
              </a:spcAft>
              <a:buNone/>
            </a:pPr>
            <a:r>
              <a:rPr i="1" lang="en" sz="1500">
                <a:solidFill>
                  <a:srgbClr val="000000"/>
                </a:solidFill>
              </a:rPr>
              <a:t>"poi [dance] was more like I want this to be good because I want it to be ******* cool" </a:t>
            </a:r>
            <a:endParaRPr sz="1500">
              <a:solidFill>
                <a:srgbClr val="000000"/>
              </a:solidFill>
            </a:endParaRPr>
          </a:p>
          <a:p>
            <a:pPr indent="0" lvl="0" marL="0" rtl="0" algn="l">
              <a:lnSpc>
                <a:spcPct val="150000"/>
              </a:lnSpc>
              <a:spcBef>
                <a:spcPts val="1200"/>
              </a:spcBef>
              <a:spcAft>
                <a:spcPts val="0"/>
              </a:spcAft>
              <a:buNone/>
            </a:pPr>
            <a:r>
              <a:rPr lang="en" sz="1500">
                <a:solidFill>
                  <a:srgbClr val="000000"/>
                </a:solidFill>
              </a:rPr>
              <a:t>"</a:t>
            </a:r>
            <a:r>
              <a:rPr i="1" lang="en" sz="1500">
                <a:solidFill>
                  <a:srgbClr val="000000"/>
                </a:solidFill>
              </a:rPr>
              <a:t>I just don't ******* want to think about external validation at all. I just want to make it because it's ******* cool for me."</a:t>
            </a:r>
            <a:endParaRPr i="1" sz="1500">
              <a:solidFill>
                <a:srgbClr val="000000"/>
              </a:solidFill>
            </a:endParaRPr>
          </a:p>
          <a:p>
            <a:pPr indent="0" lvl="0" marL="0" rtl="0" algn="l">
              <a:lnSpc>
                <a:spcPct val="150000"/>
              </a:lnSpc>
              <a:spcBef>
                <a:spcPts val="1200"/>
              </a:spcBef>
              <a:spcAft>
                <a:spcPts val="0"/>
              </a:spcAft>
              <a:buNone/>
            </a:pPr>
            <a:r>
              <a:t/>
            </a:r>
            <a:endParaRPr sz="1500">
              <a:solidFill>
                <a:srgbClr val="000000"/>
              </a:solidFill>
            </a:endParaRPr>
          </a:p>
        </p:txBody>
      </p:sp>
      <p:pic>
        <p:nvPicPr>
          <p:cNvPr id="871" name="Google Shape;871;p99"/>
          <p:cNvPicPr preferRelativeResize="0"/>
          <p:nvPr/>
        </p:nvPicPr>
        <p:blipFill>
          <a:blip r:embed="rId3">
            <a:alphaModFix/>
          </a:blip>
          <a:stretch>
            <a:fillRect/>
          </a:stretch>
        </p:blipFill>
        <p:spPr>
          <a:xfrm>
            <a:off x="4988725" y="2858825"/>
            <a:ext cx="3764698" cy="2025299"/>
          </a:xfrm>
          <a:prstGeom prst="rect">
            <a:avLst/>
          </a:prstGeom>
          <a:noFill/>
          <a:ln>
            <a:noFill/>
          </a:ln>
        </p:spPr>
      </p:pic>
      <p:pic>
        <p:nvPicPr>
          <p:cNvPr id="872" name="Google Shape;872;p99" title="Screenshot 2026-10-08 at 2.58.24 PM.png"/>
          <p:cNvPicPr preferRelativeResize="0"/>
          <p:nvPr/>
        </p:nvPicPr>
        <p:blipFill>
          <a:blip r:embed="rId4">
            <a:alphaModFix/>
          </a:blip>
          <a:stretch>
            <a:fillRect/>
          </a:stretch>
        </p:blipFill>
        <p:spPr>
          <a:xfrm>
            <a:off x="4988726" y="791244"/>
            <a:ext cx="3764702" cy="1991242"/>
          </a:xfrm>
          <a:prstGeom prst="rect">
            <a:avLst/>
          </a:prstGeom>
          <a:noFill/>
          <a:ln>
            <a:noFill/>
          </a:ln>
        </p:spPr>
      </p:pic>
      <p:sp>
        <p:nvSpPr>
          <p:cNvPr id="873" name="Google Shape;873;p99"/>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TURNING POINT</a:t>
            </a:r>
            <a:endParaRPr/>
          </a:p>
        </p:txBody>
      </p:sp>
      <p:pic>
        <p:nvPicPr>
          <p:cNvPr id="874" name="Google Shape;874;p99"/>
          <p:cNvPicPr preferRelativeResize="0"/>
          <p:nvPr/>
        </p:nvPicPr>
        <p:blipFill>
          <a:blip r:embed="rId5">
            <a:alphaModFix/>
          </a:blip>
          <a:stretch>
            <a:fillRect/>
          </a:stretch>
        </p:blipFill>
        <p:spPr>
          <a:xfrm rot="1328345">
            <a:off x="5402659" y="574397"/>
            <a:ext cx="1917465" cy="1917453"/>
          </a:xfrm>
          <a:prstGeom prst="rect">
            <a:avLst/>
          </a:prstGeom>
          <a:noFill/>
          <a:ln>
            <a:noFill/>
          </a:ln>
        </p:spPr>
      </p:pic>
      <p:pic>
        <p:nvPicPr>
          <p:cNvPr id="875" name="Google Shape;875;p99"/>
          <p:cNvPicPr preferRelativeResize="0"/>
          <p:nvPr/>
        </p:nvPicPr>
        <p:blipFill>
          <a:blip r:embed="rId5">
            <a:alphaModFix/>
          </a:blip>
          <a:stretch>
            <a:fillRect/>
          </a:stretch>
        </p:blipFill>
        <p:spPr>
          <a:xfrm rot="1328345">
            <a:off x="6144184" y="2676047"/>
            <a:ext cx="1917465" cy="191745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00"/>
          <p:cNvSpPr txBox="1"/>
          <p:nvPr>
            <p:ph idx="1" type="subTitle"/>
          </p:nvPr>
        </p:nvSpPr>
        <p:spPr>
          <a:xfrm>
            <a:off x="1602013" y="1224900"/>
            <a:ext cx="5940000" cy="296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t>(surprise! completely unprompted)</a:t>
            </a:r>
            <a:endParaRPr sz="1600"/>
          </a:p>
          <a:p>
            <a:pPr indent="0" lvl="0" marL="0" rtl="0" algn="ctr">
              <a:spcBef>
                <a:spcPts val="0"/>
              </a:spcBef>
              <a:spcAft>
                <a:spcPts val="0"/>
              </a:spcAft>
              <a:buNone/>
            </a:pPr>
            <a:r>
              <a:rPr b="1" i="1" lang="en" sz="1600"/>
              <a:t>“i can just make shit for myself”</a:t>
            </a:r>
            <a:endParaRPr b="1" i="1" sz="1600"/>
          </a:p>
        </p:txBody>
      </p:sp>
      <p:pic>
        <p:nvPicPr>
          <p:cNvPr id="881" name="Google Shape;881;p100"/>
          <p:cNvPicPr preferRelativeResize="0"/>
          <p:nvPr/>
        </p:nvPicPr>
        <p:blipFill>
          <a:blip r:embed="rId3">
            <a:alphaModFix/>
          </a:blip>
          <a:stretch>
            <a:fillRect/>
          </a:stretch>
        </p:blipFill>
        <p:spPr>
          <a:xfrm>
            <a:off x="3048688" y="1939900"/>
            <a:ext cx="3046625" cy="2805025"/>
          </a:xfrm>
          <a:prstGeom prst="rect">
            <a:avLst/>
          </a:prstGeom>
          <a:noFill/>
          <a:ln>
            <a:noFill/>
          </a:ln>
        </p:spPr>
      </p:pic>
      <p:sp>
        <p:nvSpPr>
          <p:cNvPr id="882" name="Google Shape;882;p10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NEXT DAY</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6" name="Shape 886"/>
        <p:cNvGrpSpPr/>
        <p:nvPr/>
      </p:nvGrpSpPr>
      <p:grpSpPr>
        <a:xfrm>
          <a:off x="0" y="0"/>
          <a:ext cx="0" cy="0"/>
          <a:chOff x="0" y="0"/>
          <a:chExt cx="0" cy="0"/>
        </a:xfrm>
      </p:grpSpPr>
      <p:sp>
        <p:nvSpPr>
          <p:cNvPr id="887" name="Google Shape;887;p10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TAKEAWAY</a:t>
            </a:r>
            <a:endParaRPr/>
          </a:p>
        </p:txBody>
      </p:sp>
      <p:sp>
        <p:nvSpPr>
          <p:cNvPr id="888" name="Google Shape;888;p101"/>
          <p:cNvSpPr txBox="1"/>
          <p:nvPr>
            <p:ph idx="1" type="subTitle"/>
          </p:nvPr>
        </p:nvSpPr>
        <p:spPr>
          <a:xfrm>
            <a:off x="503825" y="1452550"/>
            <a:ext cx="7856700" cy="2565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600">
                <a:solidFill>
                  <a:srgbClr val="000000"/>
                </a:solidFill>
              </a:rPr>
              <a:t>When we suggested a craft (“maybe try origami?”), he shut it down</a:t>
            </a:r>
            <a:endParaRPr sz="1600"/>
          </a:p>
          <a:p>
            <a:pPr indent="0" lvl="0" marL="0" rtl="0" algn="l">
              <a:lnSpc>
                <a:spcPct val="115000"/>
              </a:lnSpc>
              <a:spcBef>
                <a:spcPts val="1200"/>
              </a:spcBef>
              <a:spcAft>
                <a:spcPts val="0"/>
              </a:spcAft>
              <a:buNone/>
            </a:pPr>
            <a:r>
              <a:rPr lang="en" sz="1600"/>
              <a:t>“Nah... why would I do that?” “I don’t have time for that.”</a:t>
            </a:r>
            <a:endParaRPr sz="1600"/>
          </a:p>
          <a:p>
            <a:pPr indent="0" lvl="0" marL="0" rtl="0" algn="l">
              <a:lnSpc>
                <a:spcPct val="115000"/>
              </a:lnSpc>
              <a:spcBef>
                <a:spcPts val="1200"/>
              </a:spcBef>
              <a:spcAft>
                <a:spcPts val="0"/>
              </a:spcAft>
              <a:buNone/>
            </a:pPr>
            <a:r>
              <a:rPr lang="en" sz="1600">
                <a:solidFill>
                  <a:srgbClr val="000000"/>
                </a:solidFill>
              </a:rPr>
              <a:t>But when he remembered his love for poi on his own, he lit up. It felt like </a:t>
            </a:r>
            <a:r>
              <a:rPr i="1" lang="en" sz="1600">
                <a:solidFill>
                  <a:srgbClr val="000000"/>
                </a:solidFill>
              </a:rPr>
              <a:t>his</a:t>
            </a:r>
            <a:r>
              <a:rPr lang="en" sz="1600">
                <a:solidFill>
                  <a:srgbClr val="000000"/>
                </a:solidFill>
              </a:rPr>
              <a:t> idea.</a:t>
            </a:r>
            <a:endParaRPr sz="1600"/>
          </a:p>
          <a:p>
            <a:pPr indent="0" lvl="0" marL="0" rtl="0" algn="l">
              <a:spcBef>
                <a:spcPts val="1200"/>
              </a:spcBef>
              <a:spcAft>
                <a:spcPts val="0"/>
              </a:spcAft>
              <a:buNone/>
            </a:pPr>
            <a:r>
              <a:rPr b="1" lang="en" sz="1600"/>
              <a:t>Wonder if</a:t>
            </a:r>
            <a:endParaRPr b="1" sz="1600"/>
          </a:p>
          <a:p>
            <a:pPr indent="0" lvl="0" marL="0" rtl="0" algn="l">
              <a:lnSpc>
                <a:spcPct val="115000"/>
              </a:lnSpc>
              <a:spcBef>
                <a:spcPts val="1200"/>
              </a:spcBef>
              <a:spcAft>
                <a:spcPts val="0"/>
              </a:spcAft>
              <a:buNone/>
            </a:pPr>
            <a:r>
              <a:rPr lang="en" sz="1600">
                <a:solidFill>
                  <a:srgbClr val="000000"/>
                </a:solidFill>
              </a:rPr>
              <a:t>re-inspiration has to be discovered, not suggested: an LLM should </a:t>
            </a:r>
            <a:r>
              <a:rPr b="1" lang="en" sz="1600">
                <a:solidFill>
                  <a:srgbClr val="000000"/>
                </a:solidFill>
              </a:rPr>
              <a:t>lead</a:t>
            </a:r>
            <a:r>
              <a:rPr lang="en" sz="1600">
                <a:solidFill>
                  <a:srgbClr val="000000"/>
                </a:solidFill>
              </a:rPr>
              <a:t> crafters to their own ideas instead of handing them one.</a:t>
            </a:r>
            <a:endParaRPr sz="1600">
              <a:solidFill>
                <a:srgbClr val="000000"/>
              </a:solidFill>
            </a:endParaRPr>
          </a:p>
          <a:p>
            <a:pPr indent="0" lvl="0" marL="0" rtl="0" algn="l">
              <a:lnSpc>
                <a:spcPct val="115000"/>
              </a:lnSpc>
              <a:spcBef>
                <a:spcPts val="1200"/>
              </a:spcBef>
              <a:spcAft>
                <a:spcPts val="0"/>
              </a:spcAft>
              <a:buNone/>
            </a:pPr>
            <a:r>
              <a:t/>
            </a:r>
            <a:endParaRPr sz="1600">
              <a:solidFill>
                <a:srgbClr val="000000"/>
              </a:solidFill>
            </a:endParaRPr>
          </a:p>
          <a:p>
            <a:pPr indent="0" lvl="0" marL="0" rtl="0" algn="l">
              <a:lnSpc>
                <a:spcPct val="115000"/>
              </a:lnSpc>
              <a:spcBef>
                <a:spcPts val="1200"/>
              </a:spcBef>
              <a:spcAft>
                <a:spcPts val="0"/>
              </a:spcAft>
              <a:buNone/>
            </a:pPr>
            <a:r>
              <a:t/>
            </a:r>
            <a:endParaRPr sz="1600"/>
          </a:p>
          <a:p>
            <a:pPr indent="0" lvl="0" marL="0" rtl="0" algn="l">
              <a:spcBef>
                <a:spcPts val="120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2" name="Shape 892"/>
        <p:cNvGrpSpPr/>
        <p:nvPr/>
      </p:nvGrpSpPr>
      <p:grpSpPr>
        <a:xfrm>
          <a:off x="0" y="0"/>
          <a:ext cx="0" cy="0"/>
          <a:chOff x="0" y="0"/>
          <a:chExt cx="0" cy="0"/>
        </a:xfrm>
      </p:grpSpPr>
      <p:sp>
        <p:nvSpPr>
          <p:cNvPr id="893" name="Google Shape;893;p10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Why we tested "reflection re-inspires crafters"</a:t>
            </a:r>
            <a:endParaRPr sz="3100">
              <a:latin typeface="Epilogue Black"/>
              <a:ea typeface="Epilogue Black"/>
              <a:cs typeface="Epilogue Black"/>
              <a:sym typeface="Epilogue Black"/>
            </a:endParaRPr>
          </a:p>
        </p:txBody>
      </p:sp>
      <p:sp>
        <p:nvSpPr>
          <p:cNvPr id="894" name="Google Shape;894;p102"/>
          <p:cNvSpPr txBox="1"/>
          <p:nvPr>
            <p:ph idx="1" type="subTitle"/>
          </p:nvPr>
        </p:nvSpPr>
        <p:spPr>
          <a:xfrm>
            <a:off x="503825" y="1452550"/>
            <a:ext cx="7856700" cy="25656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rgbClr val="000000"/>
                </a:solidFill>
                <a:latin typeface="Arial"/>
                <a:ea typeface="Arial"/>
                <a:cs typeface="Arial"/>
                <a:sym typeface="Arial"/>
              </a:rPr>
              <a:t>Why we tested "reflection re-inspires crafters"</a:t>
            </a:r>
            <a:endParaRPr sz="1200">
              <a:solidFill>
                <a:srgbClr val="000000"/>
              </a:solidFill>
              <a:latin typeface="Arial"/>
              <a:ea typeface="Arial"/>
              <a:cs typeface="Arial"/>
              <a:sym typeface="Arial"/>
            </a:endParaRPr>
          </a:p>
          <a:p>
            <a:pPr indent="-304800" lvl="0" marL="457200" rtl="0" algn="l">
              <a:lnSpc>
                <a:spcPct val="115000"/>
              </a:lnSpc>
              <a:spcBef>
                <a:spcPts val="1200"/>
              </a:spcBef>
              <a:spcAft>
                <a:spcPts val="0"/>
              </a:spcAft>
              <a:buClr>
                <a:srgbClr val="000000"/>
              </a:buClr>
              <a:buSzPts val="1200"/>
              <a:buFont typeface="Arial"/>
              <a:buChar char="●"/>
            </a:pPr>
            <a:r>
              <a:rPr b="1" lang="en" sz="1200">
                <a:solidFill>
                  <a:srgbClr val="000000"/>
                </a:solidFill>
                <a:latin typeface="Arial"/>
                <a:ea typeface="Arial"/>
                <a:cs typeface="Arial"/>
                <a:sym typeface="Arial"/>
              </a:rPr>
              <a:t>Why it's the make-or-break assumption:</a:t>
            </a:r>
            <a:r>
              <a:rPr lang="en" sz="1200">
                <a:solidFill>
                  <a:srgbClr val="000000"/>
                </a:solidFill>
                <a:latin typeface="Arial"/>
                <a:ea typeface="Arial"/>
                <a:cs typeface="Arial"/>
                <a:sym typeface="Arial"/>
              </a:rPr>
              <a:t> the whole solution rests on the interview itself doing the work. If reflecting on your creative history doesn't change how you feel, the mind map and suggestions are just a fancy list.</a:t>
            </a:r>
            <a:endParaRPr sz="1200">
              <a:solidFill>
                <a:srgbClr val="000000"/>
              </a:solidFill>
              <a:latin typeface="Arial"/>
              <a:ea typeface="Arial"/>
              <a:cs typeface="Arial"/>
              <a:sym typeface="Arial"/>
            </a:endParaRPr>
          </a:p>
          <a:p>
            <a:pPr indent="-304800" lvl="0" marL="457200" rtl="0" algn="l">
              <a:lnSpc>
                <a:spcPct val="115000"/>
              </a:lnSpc>
              <a:spcBef>
                <a:spcPts val="0"/>
              </a:spcBef>
              <a:spcAft>
                <a:spcPts val="0"/>
              </a:spcAft>
              <a:buClr>
                <a:srgbClr val="000000"/>
              </a:buClr>
              <a:buSzPts val="1200"/>
              <a:buFont typeface="Arial"/>
              <a:buChar char="●"/>
            </a:pPr>
            <a:r>
              <a:rPr b="1" lang="en" sz="1200">
                <a:solidFill>
                  <a:srgbClr val="000000"/>
                </a:solidFill>
                <a:latin typeface="Arial"/>
                <a:ea typeface="Arial"/>
                <a:cs typeface="Arial"/>
                <a:sym typeface="Arial"/>
              </a:rPr>
              <a:t>Where it came from:</a:t>
            </a:r>
            <a:r>
              <a:rPr lang="en" sz="1200">
                <a:solidFill>
                  <a:srgbClr val="000000"/>
                </a:solidFill>
                <a:latin typeface="Arial"/>
                <a:ea typeface="Arial"/>
                <a:cs typeface="Arial"/>
                <a:sym typeface="Arial"/>
              </a:rPr>
              <a:t> needfinding showed crafters forgetting why they started (Lola: </a:t>
            </a:r>
            <a:r>
              <a:rPr i="1" lang="en" sz="1200">
                <a:solidFill>
                  <a:srgbClr val="000000"/>
                </a:solidFill>
                <a:latin typeface="Arial"/>
                <a:ea typeface="Arial"/>
                <a:cs typeface="Arial"/>
                <a:sym typeface="Arial"/>
              </a:rPr>
              <a:t>"This actually looks pretty good... why did I think this was terrible?"</a:t>
            </a:r>
            <a:r>
              <a:rPr lang="en" sz="1200">
                <a:solidFill>
                  <a:srgbClr val="000000"/>
                </a:solidFill>
                <a:latin typeface="Arial"/>
                <a:ea typeface="Arial"/>
                <a:cs typeface="Arial"/>
                <a:sym typeface="Arial"/>
              </a:rPr>
              <a:t>). Looking back changed how she saw her own work.</a:t>
            </a:r>
            <a:endParaRPr sz="1200">
              <a:solidFill>
                <a:srgbClr val="000000"/>
              </a:solidFill>
              <a:latin typeface="Arial"/>
              <a:ea typeface="Arial"/>
              <a:cs typeface="Arial"/>
              <a:sym typeface="Arial"/>
            </a:endParaRPr>
          </a:p>
          <a:p>
            <a:pPr indent="-304800" lvl="0" marL="457200" rtl="0" algn="l">
              <a:lnSpc>
                <a:spcPct val="115000"/>
              </a:lnSpc>
              <a:spcBef>
                <a:spcPts val="0"/>
              </a:spcBef>
              <a:spcAft>
                <a:spcPts val="0"/>
              </a:spcAft>
              <a:buClr>
                <a:srgbClr val="000000"/>
              </a:buClr>
              <a:buSzPts val="1200"/>
              <a:buFont typeface="Arial"/>
              <a:buChar char="●"/>
            </a:pPr>
            <a:r>
              <a:rPr b="1" lang="en" sz="1200">
                <a:solidFill>
                  <a:srgbClr val="000000"/>
                </a:solidFill>
                <a:latin typeface="Arial"/>
                <a:ea typeface="Arial"/>
                <a:cs typeface="Arial"/>
                <a:sym typeface="Arial"/>
              </a:rPr>
              <a:t>Other assumptions we considered but didn't test</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Crafters will open up honestly to an LLM. </a:t>
            </a:r>
            <a:r>
              <a:rPr i="1" lang="en" sz="1200">
                <a:solidFill>
                  <a:srgbClr val="000000"/>
                </a:solidFill>
                <a:latin typeface="Arial"/>
                <a:ea typeface="Arial"/>
                <a:cs typeface="Arial"/>
                <a:sym typeface="Arial"/>
              </a:rPr>
              <a:t>Not chosen:</a:t>
            </a:r>
            <a:r>
              <a:rPr lang="en" sz="1200">
                <a:solidFill>
                  <a:srgbClr val="000000"/>
                </a:solidFill>
                <a:latin typeface="Arial"/>
                <a:ea typeface="Arial"/>
                <a:cs typeface="Arial"/>
                <a:sym typeface="Arial"/>
              </a:rPr>
              <a:t> matters, but only if reflection works at all.</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Suggesting an old craft ("pick painting back up?") will get them to act. </a:t>
            </a:r>
            <a:r>
              <a:rPr i="1" lang="en" sz="1200">
                <a:solidFill>
                  <a:srgbClr val="000000"/>
                </a:solidFill>
                <a:latin typeface="Arial"/>
                <a:ea typeface="Arial"/>
                <a:cs typeface="Arial"/>
                <a:sym typeface="Arial"/>
              </a:rPr>
              <a:t>Not chosen as the main test, but we observed it anyway</a:t>
            </a:r>
            <a:r>
              <a:rPr lang="en" sz="1200">
                <a:solidFill>
                  <a:srgbClr val="000000"/>
                </a:solidFill>
                <a:latin typeface="Arial"/>
                <a:ea typeface="Arial"/>
                <a:cs typeface="Arial"/>
                <a:sym typeface="Arial"/>
              </a:rPr>
              <a:t> (see Main Takeaway).</a:t>
            </a:r>
            <a:endParaRPr sz="1200">
              <a:solidFill>
                <a:srgbClr val="000000"/>
              </a:solidFill>
              <a:latin typeface="Arial"/>
              <a:ea typeface="Arial"/>
              <a:cs typeface="Arial"/>
              <a:sym typeface="Arial"/>
            </a:endParaRPr>
          </a:p>
          <a:p>
            <a:pPr indent="-304800" lvl="1" marL="914400" rtl="0" algn="l">
              <a:lnSpc>
                <a:spcPct val="115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A mind map is the right way to show someone their creative profile. </a:t>
            </a:r>
            <a:r>
              <a:rPr i="1" lang="en" sz="1200">
                <a:solidFill>
                  <a:srgbClr val="000000"/>
                </a:solidFill>
                <a:latin typeface="Arial"/>
                <a:ea typeface="Arial"/>
                <a:cs typeface="Arial"/>
                <a:sym typeface="Arial"/>
              </a:rPr>
              <a:t>Not chosen:</a:t>
            </a:r>
            <a:r>
              <a:rPr lang="en" sz="1200">
                <a:solidFill>
                  <a:srgbClr val="000000"/>
                </a:solidFill>
                <a:latin typeface="Arial"/>
                <a:ea typeface="Arial"/>
                <a:cs typeface="Arial"/>
                <a:sym typeface="Arial"/>
              </a:rPr>
              <a:t> format can be iterated; the core value can't.</a:t>
            </a:r>
            <a:endParaRPr sz="1200">
              <a:solidFill>
                <a:srgbClr val="000000"/>
              </a:solidFill>
              <a:latin typeface="Arial"/>
              <a:ea typeface="Arial"/>
              <a:cs typeface="Arial"/>
              <a:sym typeface="Arial"/>
            </a:endParaRPr>
          </a:p>
          <a:p>
            <a:pPr indent="0" lvl="0" marL="0" rtl="0" algn="l">
              <a:spcBef>
                <a:spcPts val="1200"/>
              </a:spcBef>
              <a:spcAft>
                <a:spcPts val="0"/>
              </a:spcAft>
              <a:buNone/>
            </a:pPr>
            <a:r>
              <a:t/>
            </a:r>
            <a:endParaRPr b="1" sz="1600">
              <a:solidFill>
                <a:srgbClr val="00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8" name="Shape 898"/>
        <p:cNvGrpSpPr/>
        <p:nvPr/>
      </p:nvGrpSpPr>
      <p:grpSpPr>
        <a:xfrm>
          <a:off x="0" y="0"/>
          <a:ext cx="0" cy="0"/>
          <a:chOff x="0" y="0"/>
          <a:chExt cx="0" cy="0"/>
        </a:xfrm>
      </p:grpSpPr>
      <p:sp>
        <p:nvSpPr>
          <p:cNvPr id="899" name="Google Shape;899;p103"/>
          <p:cNvSpPr txBox="1"/>
          <p:nvPr>
            <p:ph type="title"/>
          </p:nvPr>
        </p:nvSpPr>
        <p:spPr>
          <a:xfrm>
            <a:off x="503825" y="4140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Methodology</a:t>
            </a:r>
            <a:endParaRPr sz="3100">
              <a:latin typeface="Epilogue Black"/>
              <a:ea typeface="Epilogue Black"/>
              <a:cs typeface="Epilogue Black"/>
              <a:sym typeface="Epilogue Black"/>
            </a:endParaRPr>
          </a:p>
        </p:txBody>
      </p:sp>
      <p:sp>
        <p:nvSpPr>
          <p:cNvPr id="900" name="Google Shape;900;p103"/>
          <p:cNvSpPr txBox="1"/>
          <p:nvPr>
            <p:ph idx="1" type="subTitle"/>
          </p:nvPr>
        </p:nvSpPr>
        <p:spPr>
          <a:xfrm>
            <a:off x="503825" y="986775"/>
            <a:ext cx="8046000" cy="357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000000"/>
                </a:solidFill>
                <a:latin typeface="Arial"/>
                <a:ea typeface="Arial"/>
                <a:cs typeface="Arial"/>
                <a:sym typeface="Arial"/>
              </a:rPr>
              <a:t>Format: </a:t>
            </a:r>
            <a:r>
              <a:rPr lang="en" sz="1200">
                <a:solidFill>
                  <a:srgbClr val="000000"/>
                </a:solidFill>
                <a:latin typeface="Arial"/>
                <a:ea typeface="Arial"/>
                <a:cs typeface="Arial"/>
                <a:sym typeface="Arial"/>
              </a:rPr>
              <a:t>Wizard of Oz: a team member played the LLM. No app, no real AI.</a:t>
            </a:r>
            <a:endParaRPr sz="1200">
              <a:solidFill>
                <a:srgbClr val="000000"/>
              </a:solidFill>
              <a:latin typeface="Arial"/>
              <a:ea typeface="Arial"/>
              <a:cs typeface="Arial"/>
              <a:sym typeface="Arial"/>
            </a:endParaRPr>
          </a:p>
          <a:p>
            <a:pPr indent="0" lvl="0" marL="0" rtl="0" algn="l">
              <a:spcBef>
                <a:spcPts val="0"/>
              </a:spcBef>
              <a:spcAft>
                <a:spcPts val="0"/>
              </a:spcAft>
              <a:buNone/>
            </a:pPr>
            <a:r>
              <a:rPr b="1" lang="en" sz="1200">
                <a:solidFill>
                  <a:srgbClr val="000000"/>
                </a:solidFill>
                <a:latin typeface="Arial"/>
                <a:ea typeface="Arial"/>
                <a:cs typeface="Arial"/>
                <a:sym typeface="Arial"/>
              </a:rPr>
              <a:t>Roles: </a:t>
            </a:r>
            <a:r>
              <a:rPr lang="en" sz="1200">
                <a:solidFill>
                  <a:srgbClr val="000000"/>
                </a:solidFill>
                <a:latin typeface="Arial"/>
                <a:ea typeface="Arial"/>
                <a:cs typeface="Arial"/>
                <a:sym typeface="Arial"/>
              </a:rPr>
              <a:t>Interviewer = "the LLM" (asks questions, builds the map). Participant = Keenan.</a:t>
            </a:r>
            <a:endParaRPr sz="1200">
              <a:solidFill>
                <a:srgbClr val="000000"/>
              </a:solidFill>
              <a:latin typeface="Arial"/>
              <a:ea typeface="Arial"/>
              <a:cs typeface="Arial"/>
              <a:sym typeface="Arial"/>
            </a:endParaRPr>
          </a:p>
          <a:p>
            <a:pPr indent="0" lvl="0" marL="0" rtl="0" algn="l">
              <a:spcBef>
                <a:spcPts val="0"/>
              </a:spcBef>
              <a:spcAft>
                <a:spcPts val="0"/>
              </a:spcAft>
              <a:buNone/>
            </a:pPr>
            <a:r>
              <a:rPr b="1" lang="en" sz="1200">
                <a:solidFill>
                  <a:srgbClr val="000000"/>
                </a:solidFill>
                <a:latin typeface="Arial"/>
                <a:ea typeface="Arial"/>
                <a:cs typeface="Arial"/>
                <a:sym typeface="Arial"/>
              </a:rPr>
              <a:t>Artifacts: </a:t>
            </a:r>
            <a:r>
              <a:rPr lang="en" sz="1200">
                <a:solidFill>
                  <a:srgbClr val="000000"/>
                </a:solidFill>
                <a:latin typeface="Arial"/>
                <a:ea typeface="Arial"/>
                <a:cs typeface="Arial"/>
                <a:sym typeface="Arial"/>
              </a:rPr>
              <a:t>Hand-drawn mind map on a clipboard (built live), phone video recording, text messages for follow-up.</a:t>
            </a:r>
            <a:endParaRPr sz="1200">
              <a:solidFill>
                <a:srgbClr val="000000"/>
              </a:solidFill>
              <a:latin typeface="Arial"/>
              <a:ea typeface="Arial"/>
              <a:cs typeface="Arial"/>
              <a:sym typeface="Arial"/>
            </a:endParaRPr>
          </a:p>
          <a:p>
            <a:pPr indent="0" lvl="0" marL="0" rtl="0" algn="l">
              <a:spcBef>
                <a:spcPts val="0"/>
              </a:spcBef>
              <a:spcAft>
                <a:spcPts val="0"/>
              </a:spcAft>
              <a:buNone/>
            </a:pPr>
            <a:r>
              <a:rPr b="1" lang="en" sz="1200">
                <a:solidFill>
                  <a:srgbClr val="000000"/>
                </a:solidFill>
                <a:latin typeface="Arial"/>
                <a:ea typeface="Arial"/>
                <a:cs typeface="Arial"/>
                <a:sym typeface="Arial"/>
              </a:rPr>
              <a:t>Environment: </a:t>
            </a:r>
            <a:r>
              <a:rPr lang="en" sz="1200">
                <a:solidFill>
                  <a:srgbClr val="000000"/>
                </a:solidFill>
                <a:latin typeface="Arial"/>
                <a:ea typeface="Arial"/>
                <a:cs typeface="Arial"/>
                <a:sym typeface="Arial"/>
              </a:rPr>
              <a:t>Keenan's own room in the evening: where he normally works on his films.</a:t>
            </a:r>
            <a:endParaRPr sz="1200">
              <a:solidFill>
                <a:srgbClr val="000000"/>
              </a:solidFill>
              <a:latin typeface="Arial"/>
              <a:ea typeface="Arial"/>
              <a:cs typeface="Arial"/>
              <a:sym typeface="Arial"/>
            </a:endParaRPr>
          </a:p>
          <a:p>
            <a:pPr indent="0" lvl="0" marL="0" rtl="0" algn="l">
              <a:spcBef>
                <a:spcPts val="0"/>
              </a:spcBef>
              <a:spcAft>
                <a:spcPts val="0"/>
              </a:spcAft>
              <a:buNone/>
            </a:pPr>
            <a:r>
              <a:rPr b="1" lang="en" sz="1200">
                <a:solidFill>
                  <a:srgbClr val="000000"/>
                </a:solidFill>
                <a:latin typeface="Arial"/>
                <a:ea typeface="Arial"/>
                <a:cs typeface="Arial"/>
                <a:sym typeface="Arial"/>
              </a:rPr>
              <a:t>Script</a:t>
            </a:r>
            <a:r>
              <a:rPr lang="en" sz="1200">
                <a:solidFill>
                  <a:srgbClr val="000000"/>
                </a:solidFill>
                <a:latin typeface="Arial"/>
                <a:ea typeface="Arial"/>
                <a:cs typeface="Arial"/>
                <a:sym typeface="Arial"/>
              </a:rPr>
              <a:t>1) "Tell me about your current project." 2) "Take me through everything you've ever made." 3) Category by category: favorite Unity, Blender, drawing, drumming project. 4) Hand over the map: "Just look at it." 5) "When did you last make something just because you wanted to?" 6) "What would you pick back up?" 7) Text follow-up over the next few days.</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sz="12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200">
                <a:solidFill>
                  <a:srgbClr val="000000"/>
                </a:solidFill>
                <a:latin typeface="Arial"/>
                <a:ea typeface="Arial"/>
                <a:cs typeface="Arial"/>
                <a:sym typeface="Arial"/>
              </a:rPr>
              <a:t>How this tests the assumption:</a:t>
            </a:r>
            <a:r>
              <a:rPr lang="en" sz="1200">
                <a:solidFill>
                  <a:srgbClr val="000000"/>
                </a:solidFill>
                <a:latin typeface="Arial"/>
                <a:ea typeface="Arial"/>
                <a:cs typeface="Arial"/>
                <a:sym typeface="Arial"/>
              </a:rPr>
              <a:t> steps 2–5 are the "rigorous reflection." If the assumption holds, we should see re-inspiration </a:t>
            </a:r>
            <a:r>
              <a:rPr i="1" lang="en" sz="1200">
                <a:solidFill>
                  <a:srgbClr val="000000"/>
                </a:solidFill>
                <a:latin typeface="Arial"/>
                <a:ea typeface="Arial"/>
                <a:cs typeface="Arial"/>
                <a:sym typeface="Arial"/>
              </a:rPr>
              <a:t>during</a:t>
            </a:r>
            <a:r>
              <a:rPr lang="en" sz="1200">
                <a:solidFill>
                  <a:srgbClr val="000000"/>
                </a:solidFill>
                <a:latin typeface="Arial"/>
                <a:ea typeface="Arial"/>
                <a:cs typeface="Arial"/>
                <a:sym typeface="Arial"/>
              </a:rPr>
              <a:t> the session (new realizations, energy) and </a:t>
            </a:r>
            <a:r>
              <a:rPr i="1" lang="en" sz="1200">
                <a:solidFill>
                  <a:srgbClr val="000000"/>
                </a:solidFill>
                <a:latin typeface="Arial"/>
                <a:ea typeface="Arial"/>
                <a:cs typeface="Arial"/>
                <a:sym typeface="Arial"/>
              </a:rPr>
              <a:t>after</a:t>
            </a:r>
            <a:r>
              <a:rPr lang="en" sz="1200">
                <a:solidFill>
                  <a:srgbClr val="000000"/>
                </a:solidFill>
                <a:latin typeface="Arial"/>
                <a:ea typeface="Arial"/>
                <a:cs typeface="Arial"/>
                <a:sym typeface="Arial"/>
              </a:rPr>
              <a:t> it (a change in attitude or action days later). The follow-up is what makes it end-to-end rather than one conversation: it checks whether reflection carries over into his real life.</a:t>
            </a:r>
            <a:endParaRPr sz="1200">
              <a:solidFill>
                <a:srgbClr val="000000"/>
              </a:solidFill>
              <a:latin typeface="Arial"/>
              <a:ea typeface="Arial"/>
              <a:cs typeface="Arial"/>
              <a:sym typeface="Arial"/>
            </a:endParaRPr>
          </a:p>
          <a:p>
            <a:pPr indent="0" lvl="0" marL="0" rtl="0" algn="l">
              <a:lnSpc>
                <a:spcPct val="115000"/>
              </a:lnSpc>
              <a:spcBef>
                <a:spcPts val="1200"/>
              </a:spcBef>
              <a:spcAft>
                <a:spcPts val="1200"/>
              </a:spcAft>
              <a:buNone/>
            </a:pPr>
            <a:r>
              <a:rPr b="1" lang="en" sz="1200">
                <a:solidFill>
                  <a:srgbClr val="000000"/>
                </a:solidFill>
                <a:latin typeface="Arial"/>
                <a:ea typeface="Arial"/>
                <a:cs typeface="Arial"/>
                <a:sym typeface="Arial"/>
              </a:rPr>
              <a:t>Why Wizard of Oz:</a:t>
            </a:r>
            <a:r>
              <a:rPr lang="en" sz="1200">
                <a:solidFill>
                  <a:srgbClr val="000000"/>
                </a:solidFill>
                <a:latin typeface="Arial"/>
                <a:ea typeface="Arial"/>
                <a:cs typeface="Arial"/>
                <a:sym typeface="Arial"/>
              </a:rPr>
              <a:t> the handout favors it, and a human "LLM" let us adapt questions live to see which kinds of prompts sparked reflection.</a:t>
            </a:r>
            <a:endParaRPr sz="1200">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4" name="Shape 904"/>
        <p:cNvGrpSpPr/>
        <p:nvPr/>
      </p:nvGrpSpPr>
      <p:grpSpPr>
        <a:xfrm>
          <a:off x="0" y="0"/>
          <a:ext cx="0" cy="0"/>
          <a:chOff x="0" y="0"/>
          <a:chExt cx="0" cy="0"/>
        </a:xfrm>
      </p:grpSpPr>
      <p:sp>
        <p:nvSpPr>
          <p:cNvPr id="905" name="Google Shape;905;p104"/>
          <p:cNvSpPr txBox="1"/>
          <p:nvPr>
            <p:ph type="title"/>
          </p:nvPr>
        </p:nvSpPr>
        <p:spPr>
          <a:xfrm>
            <a:off x="503825" y="4140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Participant</a:t>
            </a:r>
            <a:endParaRPr sz="3100">
              <a:latin typeface="Epilogue Black"/>
              <a:ea typeface="Epilogue Black"/>
              <a:cs typeface="Epilogue Black"/>
              <a:sym typeface="Epilogue Black"/>
            </a:endParaRPr>
          </a:p>
        </p:txBody>
      </p:sp>
      <p:sp>
        <p:nvSpPr>
          <p:cNvPr id="906" name="Google Shape;906;p104"/>
          <p:cNvSpPr txBox="1"/>
          <p:nvPr>
            <p:ph idx="1" type="subTitle"/>
          </p:nvPr>
        </p:nvSpPr>
        <p:spPr>
          <a:xfrm>
            <a:off x="503825" y="986775"/>
            <a:ext cx="8046000" cy="3571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solidFill>
                  <a:srgbClr val="000000"/>
                </a:solidFill>
                <a:latin typeface="Arial"/>
                <a:ea typeface="Arial"/>
                <a:cs typeface="Arial"/>
                <a:sym typeface="Arial"/>
              </a:rPr>
              <a:t>Who is Keenan, and why him?</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Who:</a:t>
            </a:r>
            <a:r>
              <a:rPr lang="en" sz="1100">
                <a:solidFill>
                  <a:srgbClr val="000000"/>
                </a:solidFill>
                <a:latin typeface="Arial"/>
                <a:ea typeface="Arial"/>
                <a:cs typeface="Arial"/>
                <a:sym typeface="Arial"/>
              </a:rPr>
              <a:t> Stanford student filmmaker, making films since age 13 (first film in 2018), ~8 years in one craft. Currently directing a funded short film with a week-10 screening deadline.</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Why relevant:</a:t>
            </a:r>
            <a:r>
              <a:rPr lang="en" sz="1100">
                <a:solidFill>
                  <a:srgbClr val="000000"/>
                </a:solidFill>
                <a:latin typeface="Arial"/>
                <a:ea typeface="Arial"/>
                <a:cs typeface="Arial"/>
                <a:sym typeface="Arial"/>
              </a:rPr>
              <a:t> he's in our exact target state, a crafter </a:t>
            </a:r>
            <a:r>
              <a:rPr b="1" lang="en" sz="1100">
                <a:solidFill>
                  <a:srgbClr val="000000"/>
                </a:solidFill>
                <a:latin typeface="Arial"/>
                <a:ea typeface="Arial"/>
                <a:cs typeface="Arial"/>
                <a:sym typeface="Arial"/>
              </a:rPr>
              <a:t>tired of his craft</a:t>
            </a:r>
            <a:r>
              <a:rPr lang="en" sz="1100">
                <a:solidFill>
                  <a:srgbClr val="000000"/>
                </a:solidFill>
                <a:latin typeface="Arial"/>
                <a:ea typeface="Arial"/>
                <a:cs typeface="Arial"/>
                <a:sym typeface="Arial"/>
              </a:rPr>
              <a:t>. Before the session he texted: </a:t>
            </a:r>
            <a:r>
              <a:rPr i="1" lang="en" sz="1100">
                <a:solidFill>
                  <a:srgbClr val="000000"/>
                </a:solidFill>
                <a:latin typeface="Arial"/>
                <a:ea typeface="Arial"/>
                <a:cs typeface="Arial"/>
                <a:sym typeface="Arial"/>
              </a:rPr>
              <a:t>"i don't really want to make this anymore... now i'm just tired."</a:t>
            </a:r>
            <a:endParaRPr i="1"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Why he adds diversity / is an extreme user:</a:t>
            </a:r>
            <a:r>
              <a:rPr lang="en" sz="1100">
                <a:solidFill>
                  <a:srgbClr val="000000"/>
                </a:solidFill>
                <a:latin typeface="Arial"/>
                <a:ea typeface="Arial"/>
                <a:cs typeface="Arial"/>
                <a:sym typeface="Arial"/>
              </a:rPr>
              <a:t> our needfinding participants were hobbyists (retirees who quilt and glassblow, a makerspace manager). Keenan is the opposite end: young, his craft is tied to his </a:t>
            </a:r>
            <a:r>
              <a:rPr b="1" lang="en" sz="1100">
                <a:solidFill>
                  <a:srgbClr val="000000"/>
                </a:solidFill>
                <a:latin typeface="Arial"/>
                <a:ea typeface="Arial"/>
                <a:cs typeface="Arial"/>
                <a:sym typeface="Arial"/>
              </a:rPr>
              <a:t>career and self-worth</a:t>
            </a:r>
            <a:r>
              <a:rPr lang="en" sz="1100">
                <a:solidFill>
                  <a:srgbClr val="000000"/>
                </a:solidFill>
                <a:latin typeface="Arial"/>
                <a:ea typeface="Arial"/>
                <a:cs typeface="Arial"/>
                <a:sym typeface="Arial"/>
              </a:rPr>
              <a:t>, and he has a wide but abandoned creative history (game design, calligraphy, drums, poi, 3D printing). If reflection works for someone this deep in burnout, that's a strong signal.</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How recruited:</a:t>
            </a:r>
            <a:r>
              <a:rPr lang="en" sz="1100">
                <a:solidFill>
                  <a:srgbClr val="000000"/>
                </a:solidFill>
                <a:latin typeface="Arial"/>
                <a:ea typeface="Arial"/>
                <a:cs typeface="Arial"/>
                <a:sym typeface="Arial"/>
              </a:rPr>
              <a:t> a friend who had been texting us about frustration with his film.</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Familiarity caveat:</a:t>
            </a:r>
            <a:r>
              <a:rPr lang="en" sz="1100">
                <a:solidFill>
                  <a:srgbClr val="000000"/>
                </a:solidFill>
                <a:latin typeface="Arial"/>
                <a:ea typeface="Arial"/>
                <a:cs typeface="Arial"/>
                <a:sym typeface="Arial"/>
              </a:rPr>
              <a:t> he knew we were in CS 147 but not our solution or assumption. Because he's a friend, he may have been more open, and his answers may be more generous than a stranger's.</a:t>
            </a:r>
            <a:endParaRPr b="1" sz="1200">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0" name="Shape 910"/>
        <p:cNvGrpSpPr/>
        <p:nvPr/>
      </p:nvGrpSpPr>
      <p:grpSpPr>
        <a:xfrm>
          <a:off x="0" y="0"/>
          <a:ext cx="0" cy="0"/>
          <a:chOff x="0" y="0"/>
          <a:chExt cx="0" cy="0"/>
        </a:xfrm>
      </p:grpSpPr>
      <p:sp>
        <p:nvSpPr>
          <p:cNvPr id="911" name="Google Shape;911;p105"/>
          <p:cNvSpPr txBox="1"/>
          <p:nvPr>
            <p:ph type="title"/>
          </p:nvPr>
        </p:nvSpPr>
        <p:spPr>
          <a:xfrm>
            <a:off x="469625" y="3573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Results</a:t>
            </a:r>
            <a:endParaRPr sz="3100">
              <a:latin typeface="Epilogue Black"/>
              <a:ea typeface="Epilogue Black"/>
              <a:cs typeface="Epilogue Black"/>
              <a:sym typeface="Epilogue Black"/>
            </a:endParaRPr>
          </a:p>
        </p:txBody>
      </p:sp>
      <p:sp>
        <p:nvSpPr>
          <p:cNvPr id="912" name="Google Shape;912;p105"/>
          <p:cNvSpPr txBox="1"/>
          <p:nvPr>
            <p:ph idx="1" type="subTitle"/>
          </p:nvPr>
        </p:nvSpPr>
        <p:spPr>
          <a:xfrm>
            <a:off x="469625" y="930075"/>
            <a:ext cx="8046000" cy="3571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800">
                <a:solidFill>
                  <a:srgbClr val="000000"/>
                </a:solidFill>
                <a:latin typeface="Arial"/>
                <a:ea typeface="Arial"/>
                <a:cs typeface="Arial"/>
                <a:sym typeface="Arial"/>
              </a:rPr>
              <a:t>Worked</a:t>
            </a:r>
            <a:endParaRPr b="1"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Listing his whole history surfaced forgotten crafts: </a:t>
            </a:r>
            <a:r>
              <a:rPr i="1" lang="en" sz="800">
                <a:solidFill>
                  <a:srgbClr val="000000"/>
                </a:solidFill>
                <a:latin typeface="Arial"/>
                <a:ea typeface="Arial"/>
                <a:cs typeface="Arial"/>
                <a:sym typeface="Arial"/>
              </a:rPr>
              <a:t>"Damn, what happened to me? ...I started funneling into film"</a:t>
            </a:r>
            <a:r>
              <a:rPr lang="en" sz="800">
                <a:solidFill>
                  <a:srgbClr val="000000"/>
                </a:solidFill>
                <a:latin typeface="Arial"/>
                <a:ea typeface="Arial"/>
                <a:cs typeface="Arial"/>
                <a:sym typeface="Arial"/>
              </a:rPr>
              <a:t>, </a:t>
            </a:r>
            <a:r>
              <a:rPr i="1" lang="en" sz="800">
                <a:solidFill>
                  <a:srgbClr val="000000"/>
                </a:solidFill>
                <a:latin typeface="Arial"/>
                <a:ea typeface="Arial"/>
                <a:cs typeface="Arial"/>
                <a:sym typeface="Arial"/>
              </a:rPr>
              <a:t>"I forgot I danced... I got multitudes"</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Suggesting a craft ("try origami") was rejected as pressure: </a:t>
            </a:r>
            <a:r>
              <a:rPr i="1" lang="en" sz="800">
                <a:solidFill>
                  <a:srgbClr val="000000"/>
                </a:solidFill>
                <a:latin typeface="Arial"/>
                <a:ea typeface="Arial"/>
                <a:cs typeface="Arial"/>
                <a:sym typeface="Arial"/>
              </a:rPr>
              <a:t>"I'm forcing myself to do a little hobby"</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Comparing film to other crafts exposed the real problem (validation): </a:t>
            </a:r>
            <a:r>
              <a:rPr i="1" lang="en" sz="800">
                <a:solidFill>
                  <a:srgbClr val="000000"/>
                </a:solidFill>
                <a:latin typeface="Arial"/>
                <a:ea typeface="Arial"/>
                <a:cs typeface="Arial"/>
                <a:sym typeface="Arial"/>
              </a:rPr>
              <a:t>"Nothing I do is just for myself anymore"</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Category-by-category listing felt like a survey: </a:t>
            </a:r>
            <a:r>
              <a:rPr i="1" lang="en" sz="800">
                <a:solidFill>
                  <a:srgbClr val="000000"/>
                </a:solidFill>
                <a:latin typeface="Arial"/>
                <a:ea typeface="Arial"/>
                <a:cs typeface="Arial"/>
                <a:sym typeface="Arial"/>
              </a:rPr>
              <a:t>"Are you trying to make this comprehensive or like deep?"</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Reflection led to his own reframe: </a:t>
            </a:r>
            <a:r>
              <a:rPr i="1" lang="en" sz="800">
                <a:solidFill>
                  <a:srgbClr val="000000"/>
                </a:solidFill>
                <a:latin typeface="Arial"/>
                <a:ea typeface="Arial"/>
                <a:cs typeface="Arial"/>
                <a:sym typeface="Arial"/>
              </a:rPr>
              <a:t>"make it like poi... because it's cool for me"</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800">
                <a:solidFill>
                  <a:srgbClr val="000000"/>
                </a:solidFill>
                <a:latin typeface="Arial"/>
                <a:ea typeface="Arial"/>
                <a:cs typeface="Arial"/>
                <a:sym typeface="Arial"/>
              </a:rPr>
              <a:t>Didn't work</a:t>
            </a:r>
            <a:endParaRPr b="1"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Suggesting a craft ("try origami") was rejected as pressure: </a:t>
            </a:r>
            <a:r>
              <a:rPr i="1" lang="en" sz="800">
                <a:solidFill>
                  <a:srgbClr val="000000"/>
                </a:solidFill>
                <a:latin typeface="Arial"/>
                <a:ea typeface="Arial"/>
                <a:cs typeface="Arial"/>
                <a:sym typeface="Arial"/>
              </a:rPr>
              <a:t>"I'm forcing myself to do a little hobby"</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Category-by-category listing felt like a survey: </a:t>
            </a:r>
            <a:r>
              <a:rPr i="1" lang="en" sz="800">
                <a:solidFill>
                  <a:srgbClr val="000000"/>
                </a:solidFill>
                <a:latin typeface="Arial"/>
                <a:ea typeface="Arial"/>
                <a:cs typeface="Arial"/>
                <a:sym typeface="Arial"/>
              </a:rPr>
              <a:t>"Are you trying to make this comprehensive or like deep?"</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800">
                <a:solidFill>
                  <a:srgbClr val="000000"/>
                </a:solidFill>
                <a:latin typeface="Arial"/>
                <a:ea typeface="Arial"/>
                <a:cs typeface="Arial"/>
                <a:sym typeface="Arial"/>
              </a:rPr>
              <a:t>He disagreed with how we drew his map: </a:t>
            </a:r>
            <a:r>
              <a:rPr i="1" lang="en" sz="800">
                <a:solidFill>
                  <a:srgbClr val="000000"/>
                </a:solidFill>
                <a:latin typeface="Arial"/>
                <a:ea typeface="Arial"/>
                <a:cs typeface="Arial"/>
                <a:sym typeface="Arial"/>
              </a:rPr>
              <a:t>"I wouldn't put that there"</a:t>
            </a:r>
            <a:r>
              <a:rPr lang="en" sz="800">
                <a:solidFill>
                  <a:srgbClr val="000000"/>
                </a:solidFill>
                <a:latin typeface="Arial"/>
                <a:ea typeface="Arial"/>
                <a:cs typeface="Arial"/>
                <a:sym typeface="Arial"/>
              </a:rPr>
              <a:t> </a:t>
            </a:r>
            <a:endParaRPr sz="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800">
                <a:solidFill>
                  <a:srgbClr val="000000"/>
                </a:solidFill>
                <a:latin typeface="Arial"/>
                <a:ea typeface="Arial"/>
                <a:cs typeface="Arial"/>
                <a:sym typeface="Arial"/>
              </a:rPr>
              <a:t>Assumption: partly valid.</a:t>
            </a:r>
            <a:endParaRPr b="1" sz="800">
              <a:solidFill>
                <a:srgbClr val="000000"/>
              </a:solidFill>
              <a:latin typeface="Arial"/>
              <a:ea typeface="Arial"/>
              <a:cs typeface="Arial"/>
              <a:sym typeface="Arial"/>
            </a:endParaRPr>
          </a:p>
          <a:p>
            <a:pPr indent="-279400" lvl="0" marL="457200" rtl="0" algn="l">
              <a:lnSpc>
                <a:spcPct val="115000"/>
              </a:lnSpc>
              <a:spcBef>
                <a:spcPts val="1200"/>
              </a:spcBef>
              <a:spcAft>
                <a:spcPts val="0"/>
              </a:spcAft>
              <a:buClr>
                <a:srgbClr val="000000"/>
              </a:buClr>
              <a:buSzPts val="800"/>
              <a:buFont typeface="Arial"/>
              <a:buChar char="●"/>
            </a:pPr>
            <a:r>
              <a:rPr b="1" lang="en" sz="800">
                <a:solidFill>
                  <a:srgbClr val="000000"/>
                </a:solidFill>
                <a:latin typeface="Arial"/>
                <a:ea typeface="Arial"/>
                <a:cs typeface="Arial"/>
                <a:sym typeface="Arial"/>
              </a:rPr>
              <a:t>Valid:</a:t>
            </a:r>
            <a:r>
              <a:rPr lang="en" sz="800">
                <a:solidFill>
                  <a:srgbClr val="000000"/>
                </a:solidFill>
                <a:latin typeface="Arial"/>
                <a:ea typeface="Arial"/>
                <a:cs typeface="Arial"/>
                <a:sym typeface="Arial"/>
              </a:rPr>
              <a:t> reflection </a:t>
            </a:r>
            <a:r>
              <a:rPr i="1" lang="en" sz="800">
                <a:solidFill>
                  <a:srgbClr val="000000"/>
                </a:solidFill>
                <a:latin typeface="Arial"/>
                <a:ea typeface="Arial"/>
                <a:cs typeface="Arial"/>
                <a:sym typeface="Arial"/>
              </a:rPr>
              <a:t>did</a:t>
            </a:r>
            <a:r>
              <a:rPr lang="en" sz="800">
                <a:solidFill>
                  <a:srgbClr val="000000"/>
                </a:solidFill>
                <a:latin typeface="Arial"/>
                <a:ea typeface="Arial"/>
                <a:cs typeface="Arial"/>
                <a:sym typeface="Arial"/>
              </a:rPr>
              <a:t> re-inspire him. He went from "don't want to make this anymore" to "life becomes absolutely liberated" the next day.</a:t>
            </a:r>
            <a:endParaRPr sz="800">
              <a:solidFill>
                <a:srgbClr val="000000"/>
              </a:solidFill>
              <a:latin typeface="Arial"/>
              <a:ea typeface="Arial"/>
              <a:cs typeface="Arial"/>
              <a:sym typeface="Arial"/>
            </a:endParaRPr>
          </a:p>
          <a:p>
            <a:pPr indent="-279400" lvl="0" marL="457200" rtl="0" algn="l">
              <a:lnSpc>
                <a:spcPct val="115000"/>
              </a:lnSpc>
              <a:spcBef>
                <a:spcPts val="0"/>
              </a:spcBef>
              <a:spcAft>
                <a:spcPts val="0"/>
              </a:spcAft>
              <a:buClr>
                <a:srgbClr val="000000"/>
              </a:buClr>
              <a:buSzPts val="800"/>
              <a:buFont typeface="Arial"/>
              <a:buChar char="●"/>
            </a:pPr>
            <a:r>
              <a:rPr b="1" lang="en" sz="800">
                <a:solidFill>
                  <a:srgbClr val="000000"/>
                </a:solidFill>
                <a:latin typeface="Arial"/>
                <a:ea typeface="Arial"/>
                <a:cs typeface="Arial"/>
                <a:sym typeface="Arial"/>
              </a:rPr>
              <a:t>Invalid:</a:t>
            </a:r>
            <a:r>
              <a:rPr lang="en" sz="800">
                <a:solidFill>
                  <a:srgbClr val="000000"/>
                </a:solidFill>
                <a:latin typeface="Arial"/>
                <a:ea typeface="Arial"/>
                <a:cs typeface="Arial"/>
                <a:sym typeface="Arial"/>
              </a:rPr>
              <a:t> it didn't re-inspire him toward a </a:t>
            </a:r>
            <a:r>
              <a:rPr i="1" lang="en" sz="800">
                <a:solidFill>
                  <a:srgbClr val="000000"/>
                </a:solidFill>
                <a:latin typeface="Arial"/>
                <a:ea typeface="Arial"/>
                <a:cs typeface="Arial"/>
                <a:sym typeface="Arial"/>
              </a:rPr>
              <a:t>new or old</a:t>
            </a:r>
            <a:r>
              <a:rPr lang="en" sz="800">
                <a:solidFill>
                  <a:srgbClr val="000000"/>
                </a:solidFill>
                <a:latin typeface="Arial"/>
                <a:ea typeface="Arial"/>
                <a:cs typeface="Arial"/>
                <a:sym typeface="Arial"/>
              </a:rPr>
              <a:t> craft, which is what the solution expects. It re-inspired him toward his </a:t>
            </a:r>
            <a:r>
              <a:rPr b="1" lang="en" sz="800">
                <a:solidFill>
                  <a:srgbClr val="000000"/>
                </a:solidFill>
                <a:latin typeface="Arial"/>
                <a:ea typeface="Arial"/>
                <a:cs typeface="Arial"/>
                <a:sym typeface="Arial"/>
              </a:rPr>
              <a:t>current</a:t>
            </a:r>
            <a:r>
              <a:rPr lang="en" sz="800">
                <a:solidFill>
                  <a:srgbClr val="000000"/>
                </a:solidFill>
                <a:latin typeface="Arial"/>
                <a:ea typeface="Arial"/>
                <a:cs typeface="Arial"/>
                <a:sym typeface="Arial"/>
              </a:rPr>
              <a:t> craft by changing </a:t>
            </a:r>
            <a:r>
              <a:rPr i="1" lang="en" sz="800">
                <a:solidFill>
                  <a:srgbClr val="000000"/>
                </a:solidFill>
                <a:latin typeface="Arial"/>
                <a:ea typeface="Arial"/>
                <a:cs typeface="Arial"/>
                <a:sym typeface="Arial"/>
              </a:rPr>
              <a:t>why</a:t>
            </a:r>
            <a:r>
              <a:rPr lang="en" sz="800">
                <a:solidFill>
                  <a:srgbClr val="000000"/>
                </a:solidFill>
                <a:latin typeface="Arial"/>
                <a:ea typeface="Arial"/>
                <a:cs typeface="Arial"/>
                <a:sym typeface="Arial"/>
              </a:rPr>
              <a:t> he makes it.</a:t>
            </a:r>
            <a:endParaRPr sz="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800">
                <a:solidFill>
                  <a:srgbClr val="000000"/>
                </a:solidFill>
                <a:latin typeface="Arial"/>
                <a:ea typeface="Arial"/>
                <a:cs typeface="Arial"/>
                <a:sym typeface="Arial"/>
              </a:rPr>
              <a:t>Going forward:</a:t>
            </a:r>
            <a:endParaRPr b="1" sz="800">
              <a:solidFill>
                <a:srgbClr val="000000"/>
              </a:solidFill>
              <a:latin typeface="Arial"/>
              <a:ea typeface="Arial"/>
              <a:cs typeface="Arial"/>
              <a:sym typeface="Arial"/>
            </a:endParaRPr>
          </a:p>
          <a:p>
            <a:pPr indent="-279400" lvl="0" marL="457200" rtl="0" algn="l">
              <a:lnSpc>
                <a:spcPct val="115000"/>
              </a:lnSpc>
              <a:spcBef>
                <a:spcPts val="1200"/>
              </a:spcBef>
              <a:spcAft>
                <a:spcPts val="0"/>
              </a:spcAft>
              <a:buClr>
                <a:srgbClr val="000000"/>
              </a:buClr>
              <a:buSzPts val="800"/>
              <a:buFont typeface="Arial"/>
              <a:buAutoNum type="arabicPeriod"/>
            </a:pPr>
            <a:r>
              <a:rPr lang="en" sz="800">
                <a:solidFill>
                  <a:srgbClr val="000000"/>
                </a:solidFill>
                <a:latin typeface="Arial"/>
                <a:ea typeface="Arial"/>
                <a:cs typeface="Arial"/>
                <a:sym typeface="Arial"/>
              </a:rPr>
              <a:t>The LLM's job is to </a:t>
            </a:r>
            <a:r>
              <a:rPr b="1" lang="en" sz="800">
                <a:solidFill>
                  <a:srgbClr val="000000"/>
                </a:solidFill>
                <a:latin typeface="Arial"/>
                <a:ea typeface="Arial"/>
                <a:cs typeface="Arial"/>
                <a:sym typeface="Arial"/>
              </a:rPr>
              <a:t>lead</a:t>
            </a:r>
            <a:r>
              <a:rPr lang="en" sz="800">
                <a:solidFill>
                  <a:srgbClr val="000000"/>
                </a:solidFill>
                <a:latin typeface="Arial"/>
                <a:ea typeface="Arial"/>
                <a:cs typeface="Arial"/>
                <a:sym typeface="Arial"/>
              </a:rPr>
              <a:t> reflection, not hand out suggestions.</a:t>
            </a:r>
            <a:endParaRPr sz="800">
              <a:solidFill>
                <a:srgbClr val="000000"/>
              </a:solidFill>
              <a:latin typeface="Arial"/>
              <a:ea typeface="Arial"/>
              <a:cs typeface="Arial"/>
              <a:sym typeface="Arial"/>
            </a:endParaRPr>
          </a:p>
          <a:p>
            <a:pPr indent="-279400" lvl="0" marL="457200" rtl="0" algn="l">
              <a:lnSpc>
                <a:spcPct val="115000"/>
              </a:lnSpc>
              <a:spcBef>
                <a:spcPts val="0"/>
              </a:spcBef>
              <a:spcAft>
                <a:spcPts val="0"/>
              </a:spcAft>
              <a:buClr>
                <a:srgbClr val="000000"/>
              </a:buClr>
              <a:buSzPts val="800"/>
              <a:buFont typeface="Arial"/>
              <a:buAutoNum type="arabicPeriod"/>
            </a:pPr>
            <a:r>
              <a:rPr lang="en" sz="800">
                <a:solidFill>
                  <a:srgbClr val="000000"/>
                </a:solidFill>
                <a:latin typeface="Arial"/>
                <a:ea typeface="Arial"/>
                <a:cs typeface="Arial"/>
                <a:sym typeface="Arial"/>
              </a:rPr>
              <a:t>Ask fewer, deeper questions about how each craft </a:t>
            </a:r>
            <a:r>
              <a:rPr i="1" lang="en" sz="800">
                <a:solidFill>
                  <a:srgbClr val="000000"/>
                </a:solidFill>
                <a:latin typeface="Arial"/>
                <a:ea typeface="Arial"/>
                <a:cs typeface="Arial"/>
                <a:sym typeface="Arial"/>
              </a:rPr>
              <a:t>felt</a:t>
            </a:r>
            <a:r>
              <a:rPr lang="en" sz="800">
                <a:solidFill>
                  <a:srgbClr val="000000"/>
                </a:solidFill>
                <a:latin typeface="Arial"/>
                <a:ea typeface="Arial"/>
                <a:cs typeface="Arial"/>
                <a:sym typeface="Arial"/>
              </a:rPr>
              <a:t>, not a full inventory.</a:t>
            </a:r>
            <a:endParaRPr sz="800">
              <a:solidFill>
                <a:srgbClr val="000000"/>
              </a:solidFill>
              <a:latin typeface="Arial"/>
              <a:ea typeface="Arial"/>
              <a:cs typeface="Arial"/>
              <a:sym typeface="Arial"/>
            </a:endParaRPr>
          </a:p>
          <a:p>
            <a:pPr indent="-279400" lvl="0" marL="457200" rtl="0" algn="l">
              <a:lnSpc>
                <a:spcPct val="115000"/>
              </a:lnSpc>
              <a:spcBef>
                <a:spcPts val="0"/>
              </a:spcBef>
              <a:spcAft>
                <a:spcPts val="0"/>
              </a:spcAft>
              <a:buClr>
                <a:srgbClr val="000000"/>
              </a:buClr>
              <a:buSzPts val="800"/>
              <a:buFont typeface="Arial"/>
              <a:buAutoNum type="arabicPeriod"/>
            </a:pPr>
            <a:r>
              <a:rPr lang="en" sz="800">
                <a:solidFill>
                  <a:srgbClr val="000000"/>
                </a:solidFill>
                <a:latin typeface="Arial"/>
                <a:ea typeface="Arial"/>
                <a:cs typeface="Arial"/>
                <a:sym typeface="Arial"/>
              </a:rPr>
              <a:t>Let the crafter build or edit their own map.</a:t>
            </a:r>
            <a:endParaRPr sz="800">
              <a:solidFill>
                <a:srgbClr val="000000"/>
              </a:solidFill>
              <a:latin typeface="Arial"/>
              <a:ea typeface="Arial"/>
              <a:cs typeface="Arial"/>
              <a:sym typeface="Arial"/>
            </a:endParaRPr>
          </a:p>
          <a:p>
            <a:pPr indent="-279400" lvl="0" marL="457200" rtl="0" algn="l">
              <a:lnSpc>
                <a:spcPct val="115000"/>
              </a:lnSpc>
              <a:spcBef>
                <a:spcPts val="0"/>
              </a:spcBef>
              <a:spcAft>
                <a:spcPts val="0"/>
              </a:spcAft>
              <a:buClr>
                <a:srgbClr val="000000"/>
              </a:buClr>
              <a:buSzPts val="800"/>
              <a:buFont typeface="Arial"/>
              <a:buAutoNum type="arabicPeriod"/>
            </a:pPr>
            <a:r>
              <a:rPr lang="en" sz="800">
                <a:solidFill>
                  <a:srgbClr val="000000"/>
                </a:solidFill>
                <a:latin typeface="Arial"/>
                <a:ea typeface="Arial"/>
                <a:cs typeface="Arial"/>
                <a:sym typeface="Arial"/>
              </a:rPr>
              <a:t>Test with more participants and a longer follow-up (1–2 weeks) to see if behavior actually changes.</a:t>
            </a:r>
            <a:endParaRPr sz="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8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t/>
            </a:r>
            <a:endParaRPr sz="800">
              <a:solidFill>
                <a:srgbClr val="000000"/>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6" name="Shape 916"/>
        <p:cNvGrpSpPr/>
        <p:nvPr/>
      </p:nvGrpSpPr>
      <p:grpSpPr>
        <a:xfrm>
          <a:off x="0" y="0"/>
          <a:ext cx="0" cy="0"/>
          <a:chOff x="0" y="0"/>
          <a:chExt cx="0" cy="0"/>
        </a:xfrm>
      </p:grpSpPr>
      <p:sp>
        <p:nvSpPr>
          <p:cNvPr id="917" name="Google Shape;917;p106"/>
          <p:cNvSpPr txBox="1"/>
          <p:nvPr>
            <p:ph type="title"/>
          </p:nvPr>
        </p:nvSpPr>
        <p:spPr>
          <a:xfrm>
            <a:off x="469625" y="3573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Could we have guessed this?</a:t>
            </a:r>
            <a:endParaRPr sz="3100">
              <a:latin typeface="Epilogue Black"/>
              <a:ea typeface="Epilogue Black"/>
              <a:cs typeface="Epilogue Black"/>
              <a:sym typeface="Epilogue Black"/>
            </a:endParaRPr>
          </a:p>
        </p:txBody>
      </p:sp>
      <p:sp>
        <p:nvSpPr>
          <p:cNvPr id="918" name="Google Shape;918;p106"/>
          <p:cNvSpPr txBox="1"/>
          <p:nvPr>
            <p:ph idx="1" type="subTitle"/>
          </p:nvPr>
        </p:nvSpPr>
        <p:spPr>
          <a:xfrm>
            <a:off x="469625" y="930075"/>
            <a:ext cx="8046000" cy="3571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solidFill>
                  <a:srgbClr val="000000"/>
                </a:solidFill>
                <a:latin typeface="Arial"/>
                <a:ea typeface="Arial"/>
                <a:cs typeface="Arial"/>
                <a:sym typeface="Arial"/>
              </a:rPr>
              <a:t>Could we have predicted this without the prototype?</a:t>
            </a:r>
            <a:endParaRPr sz="10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000">
                <a:solidFill>
                  <a:srgbClr val="000000"/>
                </a:solidFill>
                <a:latin typeface="Arial"/>
                <a:ea typeface="Arial"/>
                <a:cs typeface="Arial"/>
                <a:sym typeface="Arial"/>
              </a:rPr>
              <a:t>No.</a:t>
            </a:r>
            <a:r>
              <a:rPr lang="en" sz="1000">
                <a:solidFill>
                  <a:srgbClr val="000000"/>
                </a:solidFill>
                <a:latin typeface="Arial"/>
                <a:ea typeface="Arial"/>
                <a:cs typeface="Arial"/>
                <a:sym typeface="Arial"/>
              </a:rPr>
              <a:t> What we expected vs. what happened:</a:t>
            </a:r>
            <a:endParaRPr sz="10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b="1" lang="en" sz="1000">
                <a:solidFill>
                  <a:srgbClr val="000000"/>
                </a:solidFill>
                <a:latin typeface="Arial"/>
                <a:ea typeface="Arial"/>
                <a:cs typeface="Arial"/>
                <a:sym typeface="Arial"/>
              </a:rPr>
              <a:t>We expected</a:t>
            </a:r>
            <a:endParaRPr b="1"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000">
                <a:solidFill>
                  <a:srgbClr val="000000"/>
                </a:solidFill>
                <a:latin typeface="Arial"/>
                <a:ea typeface="Arial"/>
                <a:cs typeface="Arial"/>
                <a:sym typeface="Arial"/>
              </a:rPr>
              <a:t>Reflection reminds him of an old craft, he goes back to it</a:t>
            </a:r>
            <a:endParaRPr b="1"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000">
                <a:solidFill>
                  <a:srgbClr val="000000"/>
                </a:solidFill>
                <a:latin typeface="Arial"/>
                <a:ea typeface="Arial"/>
                <a:cs typeface="Arial"/>
                <a:sym typeface="Arial"/>
              </a:rPr>
              <a:t>He's tired because he's done too much film</a:t>
            </a:r>
            <a:endParaRPr b="1"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Re-inspiration comes from what </a:t>
            </a:r>
            <a:r>
              <a:rPr i="1" lang="en" sz="1000">
                <a:solidFill>
                  <a:srgbClr val="000000"/>
                </a:solidFill>
                <a:latin typeface="Arial"/>
                <a:ea typeface="Arial"/>
                <a:cs typeface="Arial"/>
                <a:sym typeface="Arial"/>
              </a:rPr>
              <a:t>we</a:t>
            </a:r>
            <a:r>
              <a:rPr lang="en" sz="1000">
                <a:solidFill>
                  <a:srgbClr val="000000"/>
                </a:solidFill>
                <a:latin typeface="Arial"/>
                <a:ea typeface="Arial"/>
                <a:cs typeface="Arial"/>
                <a:sym typeface="Arial"/>
              </a:rPr>
              <a:t> suggest</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Effects fade after the session</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b="1" lang="en" sz="1000">
                <a:solidFill>
                  <a:srgbClr val="000000"/>
                </a:solidFill>
                <a:latin typeface="Arial"/>
                <a:ea typeface="Arial"/>
                <a:cs typeface="Arial"/>
                <a:sym typeface="Arial"/>
              </a:rPr>
              <a:t>What actually happened</a:t>
            </a:r>
            <a:endParaRPr b="1"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He rejected every craft suggestion; he went back to </a:t>
            </a:r>
            <a:r>
              <a:rPr b="1" lang="en" sz="1000">
                <a:solidFill>
                  <a:srgbClr val="000000"/>
                </a:solidFill>
                <a:latin typeface="Arial"/>
                <a:ea typeface="Arial"/>
                <a:cs typeface="Arial"/>
                <a:sym typeface="Arial"/>
              </a:rPr>
              <a:t>film</a:t>
            </a:r>
            <a:r>
              <a:rPr lang="en" sz="1000">
                <a:solidFill>
                  <a:srgbClr val="000000"/>
                </a:solidFill>
                <a:latin typeface="Arial"/>
                <a:ea typeface="Arial"/>
                <a:cs typeface="Arial"/>
                <a:sym typeface="Arial"/>
              </a:rPr>
              <a:t> with a new motive</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The root cause was </a:t>
            </a:r>
            <a:r>
              <a:rPr b="1" lang="en" sz="1000">
                <a:solidFill>
                  <a:srgbClr val="000000"/>
                </a:solidFill>
                <a:latin typeface="Arial"/>
                <a:ea typeface="Arial"/>
                <a:cs typeface="Arial"/>
                <a:sym typeface="Arial"/>
              </a:rPr>
              <a:t>validation</a:t>
            </a:r>
            <a:r>
              <a:rPr lang="en" sz="1000">
                <a:solidFill>
                  <a:srgbClr val="000000"/>
                </a:solidFill>
                <a:latin typeface="Arial"/>
                <a:ea typeface="Arial"/>
                <a:cs typeface="Arial"/>
                <a:sym typeface="Arial"/>
              </a:rPr>
              <a:t>, not tiredness (</a:t>
            </a:r>
            <a:r>
              <a:rPr i="1" lang="en" sz="1000">
                <a:solidFill>
                  <a:srgbClr val="000000"/>
                </a:solidFill>
                <a:latin typeface="Arial"/>
                <a:ea typeface="Arial"/>
                <a:cs typeface="Arial"/>
                <a:sym typeface="Arial"/>
              </a:rPr>
              <a:t>"every single one of these projects... I want someone else to see this and think that I'm good,"</a:t>
            </a:r>
            <a:r>
              <a:rPr lang="en" sz="1000">
                <a:solidFill>
                  <a:srgbClr val="000000"/>
                </a:solidFill>
                <a:latin typeface="Arial"/>
                <a:ea typeface="Arial"/>
                <a:cs typeface="Arial"/>
                <a:sym typeface="Arial"/>
              </a:rPr>
              <a:t>)</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It came from what </a:t>
            </a:r>
            <a:r>
              <a:rPr i="1" lang="en" sz="1000">
                <a:solidFill>
                  <a:srgbClr val="000000"/>
                </a:solidFill>
                <a:latin typeface="Arial"/>
                <a:ea typeface="Arial"/>
                <a:cs typeface="Arial"/>
                <a:sym typeface="Arial"/>
              </a:rPr>
              <a:t>he</a:t>
            </a:r>
            <a:r>
              <a:rPr lang="en" sz="1000">
                <a:solidFill>
                  <a:srgbClr val="000000"/>
                </a:solidFill>
                <a:latin typeface="Arial"/>
                <a:ea typeface="Arial"/>
                <a:cs typeface="Arial"/>
                <a:sym typeface="Arial"/>
              </a:rPr>
              <a:t> remembered on his own (poi)</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1000">
                <a:solidFill>
                  <a:srgbClr val="000000"/>
                </a:solidFill>
                <a:latin typeface="Arial"/>
                <a:ea typeface="Arial"/>
                <a:cs typeface="Arial"/>
                <a:sym typeface="Arial"/>
              </a:rPr>
              <a:t>The next day he texted, unprompted, that the realization was "absolutely liberating"</a:t>
            </a:r>
            <a:endParaRPr sz="10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 sz="1000">
                <a:solidFill>
                  <a:srgbClr val="000000"/>
                </a:solidFill>
                <a:latin typeface="Arial"/>
                <a:ea typeface="Arial"/>
                <a:cs typeface="Arial"/>
                <a:sym typeface="Arial"/>
              </a:rPr>
              <a:t>The surprise: </a:t>
            </a:r>
            <a:r>
              <a:rPr b="1" lang="en" sz="1000">
                <a:solidFill>
                  <a:srgbClr val="000000"/>
                </a:solidFill>
                <a:latin typeface="Arial"/>
                <a:ea typeface="Arial"/>
                <a:cs typeface="Arial"/>
                <a:sym typeface="Arial"/>
              </a:rPr>
              <a:t>re-inspiration can mean returning to the same craft for a different reason.</a:t>
            </a:r>
            <a:r>
              <a:rPr lang="en" sz="1000">
                <a:solidFill>
                  <a:srgbClr val="000000"/>
                </a:solidFill>
                <a:latin typeface="Arial"/>
                <a:ea typeface="Arial"/>
                <a:cs typeface="Arial"/>
                <a:sym typeface="Arial"/>
              </a:rPr>
              <a:t> Interviews alone wouldn't have shown that a </a:t>
            </a:r>
            <a:r>
              <a:rPr i="1" lang="en" sz="1000">
                <a:solidFill>
                  <a:srgbClr val="000000"/>
                </a:solidFill>
                <a:latin typeface="Arial"/>
                <a:ea typeface="Arial"/>
                <a:cs typeface="Arial"/>
                <a:sym typeface="Arial"/>
              </a:rPr>
              <a:t>suggestion</a:t>
            </a:r>
            <a:r>
              <a:rPr lang="en" sz="1000">
                <a:solidFill>
                  <a:srgbClr val="000000"/>
                </a:solidFill>
                <a:latin typeface="Arial"/>
                <a:ea typeface="Arial"/>
                <a:cs typeface="Arial"/>
                <a:sym typeface="Arial"/>
              </a:rPr>
              <a:t> backfires while a </a:t>
            </a:r>
            <a:r>
              <a:rPr i="1" lang="en" sz="1000">
                <a:solidFill>
                  <a:srgbClr val="000000"/>
                </a:solidFill>
                <a:latin typeface="Arial"/>
                <a:ea typeface="Arial"/>
                <a:cs typeface="Arial"/>
                <a:sym typeface="Arial"/>
              </a:rPr>
              <a:t>memory</a:t>
            </a:r>
            <a:r>
              <a:rPr lang="en" sz="1000">
                <a:solidFill>
                  <a:srgbClr val="000000"/>
                </a:solidFill>
                <a:latin typeface="Arial"/>
                <a:ea typeface="Arial"/>
                <a:cs typeface="Arial"/>
                <a:sym typeface="Arial"/>
              </a:rPr>
              <a:t> works.</a:t>
            </a:r>
            <a:endParaRPr sz="1000">
              <a:solidFill>
                <a:srgbClr val="000000"/>
              </a:solidFill>
              <a:latin typeface="Arial"/>
              <a:ea typeface="Arial"/>
              <a:cs typeface="Arial"/>
              <a:sym typeface="Arial"/>
            </a:endParaRPr>
          </a:p>
          <a:p>
            <a:pPr indent="0" lvl="0" marL="0" rtl="0" algn="l">
              <a:lnSpc>
                <a:spcPct val="115000"/>
              </a:lnSpc>
              <a:spcBef>
                <a:spcPts val="1200"/>
              </a:spcBef>
              <a:spcAft>
                <a:spcPts val="1200"/>
              </a:spcAft>
              <a:buNone/>
            </a:pPr>
            <a:r>
              <a:rPr b="1" lang="en" sz="1000">
                <a:solidFill>
                  <a:srgbClr val="000000"/>
                </a:solidFill>
                <a:latin typeface="Arial"/>
                <a:ea typeface="Arial"/>
                <a:cs typeface="Arial"/>
                <a:sym typeface="Arial"/>
              </a:rPr>
              <a:t>Limits:</a:t>
            </a:r>
            <a:r>
              <a:rPr lang="en" sz="1000">
                <a:solidFill>
                  <a:srgbClr val="000000"/>
                </a:solidFill>
                <a:latin typeface="Arial"/>
                <a:ea typeface="Arial"/>
                <a:cs typeface="Arial"/>
                <a:sym typeface="Arial"/>
              </a:rPr>
              <a:t> one participant; he'd also been talking this through with friends and a book that week, so the prototype wasn't the only influence.</a:t>
            </a:r>
            <a:endParaRPr sz="1000">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2" name="Shape 922"/>
        <p:cNvGrpSpPr/>
        <p:nvPr/>
      </p:nvGrpSpPr>
      <p:grpSpPr>
        <a:xfrm>
          <a:off x="0" y="0"/>
          <a:ext cx="0" cy="0"/>
          <a:chOff x="0" y="0"/>
          <a:chExt cx="0" cy="0"/>
        </a:xfrm>
      </p:grpSpPr>
      <p:sp>
        <p:nvSpPr>
          <p:cNvPr id="923" name="Google Shape;923;p107"/>
          <p:cNvSpPr txBox="1"/>
          <p:nvPr/>
        </p:nvSpPr>
        <p:spPr>
          <a:xfrm>
            <a:off x="7416200" y="4189200"/>
            <a:ext cx="1590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Epilogue"/>
                <a:ea typeface="Epilogue"/>
                <a:cs typeface="Epilogue"/>
                <a:sym typeface="Epilogue"/>
              </a:rPr>
              <a:t>Analysis Framework from </a:t>
            </a:r>
            <a:r>
              <a:rPr lang="en" sz="1000" u="sng">
                <a:solidFill>
                  <a:schemeClr val="hlink"/>
                </a:solidFill>
                <a:latin typeface="Epilogue"/>
                <a:ea typeface="Epilogue"/>
                <a:cs typeface="Epilogue"/>
                <a:sym typeface="Epilogue"/>
                <a:hlinkClick r:id="rId3"/>
              </a:rPr>
              <a:t>Ethical Design: What is it and why is it important for innovators</a:t>
            </a:r>
            <a:r>
              <a:rPr lang="en" sz="1000">
                <a:solidFill>
                  <a:schemeClr val="dk1"/>
                </a:solidFill>
                <a:latin typeface="Epilogue"/>
                <a:ea typeface="Epilogue"/>
                <a:cs typeface="Epilogue"/>
                <a:sym typeface="Epilogue"/>
              </a:rPr>
              <a:t>?</a:t>
            </a:r>
            <a:endParaRPr sz="1000">
              <a:solidFill>
                <a:schemeClr val="dk1"/>
              </a:solidFill>
              <a:latin typeface="Epilogue"/>
              <a:ea typeface="Epilogue"/>
              <a:cs typeface="Epilogue"/>
              <a:sym typeface="Epilogue"/>
            </a:endParaRPr>
          </a:p>
        </p:txBody>
      </p:sp>
      <p:cxnSp>
        <p:nvCxnSpPr>
          <p:cNvPr id="924" name="Google Shape;924;p107"/>
          <p:cNvCxnSpPr/>
          <p:nvPr/>
        </p:nvCxnSpPr>
        <p:spPr>
          <a:xfrm>
            <a:off x="3428975" y="1504070"/>
            <a:ext cx="937200" cy="1088100"/>
          </a:xfrm>
          <a:prstGeom prst="straightConnector1">
            <a:avLst/>
          </a:prstGeom>
          <a:noFill/>
          <a:ln cap="flat" cmpd="sng" w="9525">
            <a:solidFill>
              <a:srgbClr val="222222"/>
            </a:solidFill>
            <a:prstDash val="solid"/>
            <a:round/>
            <a:headEnd len="sm" w="sm" type="none"/>
            <a:tailEnd len="sm" w="sm" type="none"/>
          </a:ln>
        </p:spPr>
      </p:cxnSp>
      <p:cxnSp>
        <p:nvCxnSpPr>
          <p:cNvPr id="925" name="Google Shape;925;p107"/>
          <p:cNvCxnSpPr/>
          <p:nvPr/>
        </p:nvCxnSpPr>
        <p:spPr>
          <a:xfrm flipH="1">
            <a:off x="4366249" y="1458350"/>
            <a:ext cx="900" cy="1134000"/>
          </a:xfrm>
          <a:prstGeom prst="straightConnector1">
            <a:avLst/>
          </a:prstGeom>
          <a:noFill/>
          <a:ln cap="flat" cmpd="sng" w="9525">
            <a:solidFill>
              <a:srgbClr val="222222"/>
            </a:solidFill>
            <a:prstDash val="solid"/>
            <a:round/>
            <a:headEnd len="sm" w="sm" type="none"/>
            <a:tailEnd len="sm" w="sm" type="none"/>
          </a:ln>
        </p:spPr>
      </p:cxnSp>
      <p:cxnSp>
        <p:nvCxnSpPr>
          <p:cNvPr id="926" name="Google Shape;926;p107"/>
          <p:cNvCxnSpPr/>
          <p:nvPr/>
        </p:nvCxnSpPr>
        <p:spPr>
          <a:xfrm flipH="1">
            <a:off x="4366235" y="1504070"/>
            <a:ext cx="1257300" cy="1088100"/>
          </a:xfrm>
          <a:prstGeom prst="straightConnector1">
            <a:avLst/>
          </a:prstGeom>
          <a:noFill/>
          <a:ln cap="flat" cmpd="sng" w="9525">
            <a:solidFill>
              <a:srgbClr val="222222"/>
            </a:solidFill>
            <a:prstDash val="solid"/>
            <a:round/>
            <a:headEnd len="sm" w="sm" type="none"/>
            <a:tailEnd len="sm" w="sm" type="none"/>
          </a:ln>
        </p:spPr>
      </p:cxnSp>
      <p:cxnSp>
        <p:nvCxnSpPr>
          <p:cNvPr id="927" name="Google Shape;927;p107"/>
          <p:cNvCxnSpPr/>
          <p:nvPr/>
        </p:nvCxnSpPr>
        <p:spPr>
          <a:xfrm>
            <a:off x="4366235" y="2592206"/>
            <a:ext cx="1714500" cy="900"/>
          </a:xfrm>
          <a:prstGeom prst="straightConnector1">
            <a:avLst/>
          </a:prstGeom>
          <a:noFill/>
          <a:ln cap="flat" cmpd="sng" w="9525">
            <a:solidFill>
              <a:srgbClr val="222222"/>
            </a:solidFill>
            <a:prstDash val="solid"/>
            <a:round/>
            <a:headEnd len="sm" w="sm" type="none"/>
            <a:tailEnd len="sm" w="sm" type="none"/>
          </a:ln>
        </p:spPr>
      </p:cxnSp>
      <p:cxnSp>
        <p:nvCxnSpPr>
          <p:cNvPr id="928" name="Google Shape;928;p107"/>
          <p:cNvCxnSpPr/>
          <p:nvPr/>
        </p:nvCxnSpPr>
        <p:spPr>
          <a:xfrm>
            <a:off x="4366235" y="2592206"/>
            <a:ext cx="1211700" cy="1106400"/>
          </a:xfrm>
          <a:prstGeom prst="straightConnector1">
            <a:avLst/>
          </a:prstGeom>
          <a:noFill/>
          <a:ln cap="flat" cmpd="sng" w="9525">
            <a:solidFill>
              <a:srgbClr val="222222"/>
            </a:solidFill>
            <a:prstDash val="solid"/>
            <a:round/>
            <a:headEnd len="sm" w="sm" type="none"/>
            <a:tailEnd len="sm" w="sm" type="none"/>
          </a:ln>
        </p:spPr>
      </p:cxnSp>
      <p:cxnSp>
        <p:nvCxnSpPr>
          <p:cNvPr id="929" name="Google Shape;929;p107"/>
          <p:cNvCxnSpPr/>
          <p:nvPr/>
        </p:nvCxnSpPr>
        <p:spPr>
          <a:xfrm>
            <a:off x="4366235" y="2592206"/>
            <a:ext cx="900" cy="1197900"/>
          </a:xfrm>
          <a:prstGeom prst="straightConnector1">
            <a:avLst/>
          </a:prstGeom>
          <a:noFill/>
          <a:ln cap="flat" cmpd="sng" w="9525">
            <a:solidFill>
              <a:srgbClr val="222222"/>
            </a:solidFill>
            <a:prstDash val="solid"/>
            <a:round/>
            <a:headEnd len="sm" w="sm" type="none"/>
            <a:tailEnd len="sm" w="sm" type="none"/>
          </a:ln>
        </p:spPr>
      </p:cxnSp>
      <p:cxnSp>
        <p:nvCxnSpPr>
          <p:cNvPr id="930" name="Google Shape;930;p107"/>
          <p:cNvCxnSpPr/>
          <p:nvPr/>
        </p:nvCxnSpPr>
        <p:spPr>
          <a:xfrm flipH="1">
            <a:off x="3246035" y="2592206"/>
            <a:ext cx="1120200" cy="1060800"/>
          </a:xfrm>
          <a:prstGeom prst="straightConnector1">
            <a:avLst/>
          </a:prstGeom>
          <a:noFill/>
          <a:ln cap="flat" cmpd="sng" w="9525">
            <a:solidFill>
              <a:srgbClr val="222222"/>
            </a:solidFill>
            <a:prstDash val="solid"/>
            <a:round/>
            <a:headEnd len="sm" w="sm" type="none"/>
            <a:tailEnd len="sm" w="sm" type="none"/>
          </a:ln>
        </p:spPr>
      </p:cxnSp>
      <p:cxnSp>
        <p:nvCxnSpPr>
          <p:cNvPr id="931" name="Google Shape;931;p107"/>
          <p:cNvCxnSpPr/>
          <p:nvPr/>
        </p:nvCxnSpPr>
        <p:spPr>
          <a:xfrm flipH="1">
            <a:off x="2606135" y="2592206"/>
            <a:ext cx="1760100" cy="900"/>
          </a:xfrm>
          <a:prstGeom prst="straightConnector1">
            <a:avLst/>
          </a:prstGeom>
          <a:noFill/>
          <a:ln cap="flat" cmpd="sng" w="9525">
            <a:solidFill>
              <a:srgbClr val="222222"/>
            </a:solidFill>
            <a:prstDash val="solid"/>
            <a:round/>
            <a:headEnd len="sm" w="sm" type="none"/>
            <a:tailEnd len="sm" w="sm" type="none"/>
          </a:ln>
        </p:spPr>
      </p:cxnSp>
      <p:sp>
        <p:nvSpPr>
          <p:cNvPr id="932" name="Google Shape;932;p107"/>
          <p:cNvSpPr/>
          <p:nvPr/>
        </p:nvSpPr>
        <p:spPr>
          <a:xfrm>
            <a:off x="3520415" y="2263022"/>
            <a:ext cx="1691700" cy="658500"/>
          </a:xfrm>
          <a:prstGeom prst="rect">
            <a:avLst/>
          </a:prstGeom>
          <a:solidFill>
            <a:srgbClr val="FFFFFF"/>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07"/>
          <p:cNvSpPr txBox="1"/>
          <p:nvPr/>
        </p:nvSpPr>
        <p:spPr>
          <a:xfrm>
            <a:off x="3520415" y="2263022"/>
            <a:ext cx="1691700" cy="6585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Ethical Implications</a:t>
            </a:r>
            <a:endParaRPr b="0" i="0" sz="120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Patrick Hand"/>
              <a:buNone/>
            </a:pPr>
            <a:r>
              <a:rPr b="0" i="0" lang="en" sz="900" u="none" cap="none" strike="noStrike">
                <a:solidFill>
                  <a:srgbClr val="222222"/>
                </a:solidFill>
                <a:latin typeface="Patrick Hand"/>
                <a:ea typeface="Patrick Hand"/>
                <a:cs typeface="Patrick Hand"/>
                <a:sym typeface="Patrick Hand"/>
              </a:rPr>
              <a:t>An LLM that interviews crafters &amp; builds a mind map of all their creative ventures</a:t>
            </a:r>
            <a:endParaRPr b="0" i="0" sz="1200" u="none" cap="none" strike="noStrike">
              <a:solidFill>
                <a:srgbClr val="000000"/>
              </a:solidFill>
              <a:latin typeface="Calibri"/>
              <a:ea typeface="Calibri"/>
              <a:cs typeface="Calibri"/>
              <a:sym typeface="Calibri"/>
            </a:endParaRPr>
          </a:p>
        </p:txBody>
      </p:sp>
      <p:sp>
        <p:nvSpPr>
          <p:cNvPr id="934" name="Google Shape;934;p107"/>
          <p:cNvSpPr txBox="1"/>
          <p:nvPr/>
        </p:nvSpPr>
        <p:spPr>
          <a:xfrm>
            <a:off x="2971775" y="1229750"/>
            <a:ext cx="822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Society</a:t>
            </a:r>
            <a:endParaRPr b="0" i="0" sz="1200" u="none" cap="none" strike="noStrike">
              <a:solidFill>
                <a:srgbClr val="000000"/>
              </a:solidFill>
              <a:latin typeface="Calibri"/>
              <a:ea typeface="Calibri"/>
              <a:cs typeface="Calibri"/>
              <a:sym typeface="Calibri"/>
            </a:endParaRPr>
          </a:p>
        </p:txBody>
      </p:sp>
      <p:sp>
        <p:nvSpPr>
          <p:cNvPr id="935" name="Google Shape;935;p107"/>
          <p:cNvSpPr txBox="1"/>
          <p:nvPr/>
        </p:nvSpPr>
        <p:spPr>
          <a:xfrm>
            <a:off x="3886175" y="1165742"/>
            <a:ext cx="1005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Sustainability</a:t>
            </a:r>
            <a:endParaRPr b="0" i="0" sz="1200" u="none" cap="none" strike="noStrike">
              <a:solidFill>
                <a:srgbClr val="000000"/>
              </a:solidFill>
              <a:latin typeface="Calibri"/>
              <a:ea typeface="Calibri"/>
              <a:cs typeface="Calibri"/>
              <a:sym typeface="Calibri"/>
            </a:endParaRPr>
          </a:p>
        </p:txBody>
      </p:sp>
      <p:sp>
        <p:nvSpPr>
          <p:cNvPr id="936" name="Google Shape;936;p107"/>
          <p:cNvSpPr txBox="1"/>
          <p:nvPr/>
        </p:nvSpPr>
        <p:spPr>
          <a:xfrm>
            <a:off x="5532095" y="1229750"/>
            <a:ext cx="8688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Persuasion</a:t>
            </a:r>
            <a:endParaRPr b="0" i="0" sz="1200" u="none" cap="none" strike="noStrike">
              <a:solidFill>
                <a:srgbClr val="000000"/>
              </a:solidFill>
              <a:latin typeface="Calibri"/>
              <a:ea typeface="Calibri"/>
              <a:cs typeface="Calibri"/>
              <a:sym typeface="Calibri"/>
            </a:endParaRPr>
          </a:p>
        </p:txBody>
      </p:sp>
      <p:sp>
        <p:nvSpPr>
          <p:cNvPr id="937" name="Google Shape;937;p107"/>
          <p:cNvSpPr txBox="1"/>
          <p:nvPr/>
        </p:nvSpPr>
        <p:spPr>
          <a:xfrm>
            <a:off x="6108167" y="2409326"/>
            <a:ext cx="777300" cy="3291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User</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Involvement</a:t>
            </a:r>
            <a:endParaRPr b="0" i="0" sz="1200" u="none" cap="none" strike="noStrike">
              <a:solidFill>
                <a:srgbClr val="000000"/>
              </a:solidFill>
              <a:latin typeface="Calibri"/>
              <a:ea typeface="Calibri"/>
              <a:cs typeface="Calibri"/>
              <a:sym typeface="Calibri"/>
            </a:endParaRPr>
          </a:p>
        </p:txBody>
      </p:sp>
      <p:sp>
        <p:nvSpPr>
          <p:cNvPr id="938" name="Google Shape;938;p107"/>
          <p:cNvSpPr txBox="1"/>
          <p:nvPr/>
        </p:nvSpPr>
        <p:spPr>
          <a:xfrm>
            <a:off x="5532095" y="3698630"/>
            <a:ext cx="6402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Focus</a:t>
            </a:r>
            <a:endParaRPr b="0" i="0" sz="1200" u="none" cap="none" strike="noStrike">
              <a:solidFill>
                <a:srgbClr val="000000"/>
              </a:solidFill>
              <a:latin typeface="Calibri"/>
              <a:ea typeface="Calibri"/>
              <a:cs typeface="Calibri"/>
              <a:sym typeface="Calibri"/>
            </a:endParaRPr>
          </a:p>
        </p:txBody>
      </p:sp>
      <p:sp>
        <p:nvSpPr>
          <p:cNvPr id="939" name="Google Shape;939;p107"/>
          <p:cNvSpPr txBox="1"/>
          <p:nvPr/>
        </p:nvSpPr>
        <p:spPr>
          <a:xfrm>
            <a:off x="4069055" y="3790070"/>
            <a:ext cx="5943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Privacy</a:t>
            </a:r>
            <a:endParaRPr b="0" i="0" sz="1200" u="none" cap="none" strike="noStrike">
              <a:solidFill>
                <a:srgbClr val="000000"/>
              </a:solidFill>
              <a:latin typeface="Calibri"/>
              <a:ea typeface="Calibri"/>
              <a:cs typeface="Calibri"/>
              <a:sym typeface="Calibri"/>
            </a:endParaRPr>
          </a:p>
        </p:txBody>
      </p:sp>
      <p:sp>
        <p:nvSpPr>
          <p:cNvPr id="940" name="Google Shape;940;p107"/>
          <p:cNvSpPr txBox="1"/>
          <p:nvPr/>
        </p:nvSpPr>
        <p:spPr>
          <a:xfrm>
            <a:off x="2880335" y="3652910"/>
            <a:ext cx="7314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Usability</a:t>
            </a:r>
            <a:endParaRPr b="0" i="0" sz="1200" u="none" cap="none" strike="noStrike">
              <a:solidFill>
                <a:srgbClr val="000000"/>
              </a:solidFill>
              <a:latin typeface="Calibri"/>
              <a:ea typeface="Calibri"/>
              <a:cs typeface="Calibri"/>
              <a:sym typeface="Calibri"/>
            </a:endParaRPr>
          </a:p>
        </p:txBody>
      </p:sp>
      <p:sp>
        <p:nvSpPr>
          <p:cNvPr id="941" name="Google Shape;941;p107"/>
          <p:cNvSpPr txBox="1"/>
          <p:nvPr/>
        </p:nvSpPr>
        <p:spPr>
          <a:xfrm>
            <a:off x="1645895" y="2473334"/>
            <a:ext cx="9600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Accessibility</a:t>
            </a:r>
            <a:endParaRPr b="0" i="0" sz="1200" u="none" cap="none" strike="noStrike">
              <a:solidFill>
                <a:srgbClr val="000000"/>
              </a:solidFill>
              <a:latin typeface="Calibri"/>
              <a:ea typeface="Calibri"/>
              <a:cs typeface="Calibri"/>
              <a:sym typeface="Calibri"/>
            </a:endParaRPr>
          </a:p>
        </p:txBody>
      </p:sp>
      <p:sp>
        <p:nvSpPr>
          <p:cNvPr id="942" name="Google Shape;942;p107"/>
          <p:cNvSpPr txBox="1"/>
          <p:nvPr/>
        </p:nvSpPr>
        <p:spPr>
          <a:xfrm>
            <a:off x="960095" y="1138310"/>
            <a:ext cx="1965900" cy="11886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reflection got heavy fast. keenan tied his films to his self-worth &amp; brought up his therapist</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the LLM shouldn't act like a therapist. it should notice when someone is struggling &amp; point them to real support</a:t>
            </a:r>
            <a:endParaRPr b="0" i="0" sz="850" u="none" cap="none" strike="noStrike">
              <a:solidFill>
                <a:srgbClr val="000000"/>
              </a:solidFill>
              <a:latin typeface="Calibri"/>
              <a:ea typeface="Calibri"/>
              <a:cs typeface="Calibri"/>
              <a:sym typeface="Calibri"/>
            </a:endParaRPr>
          </a:p>
        </p:txBody>
      </p:sp>
      <p:sp>
        <p:nvSpPr>
          <p:cNvPr id="943" name="Google Shape;943;p107"/>
          <p:cNvSpPr txBox="1"/>
          <p:nvPr/>
        </p:nvSpPr>
        <p:spPr>
          <a:xfrm>
            <a:off x="6355055" y="863990"/>
            <a:ext cx="1920300" cy="14172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when we suggested origami, he shut it down. an LLM that pushes crafts (or craft products) turns reflection into pressure</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should lead crafters to their own ideas instead of handing them one</a:t>
            </a:r>
            <a:endParaRPr b="0" i="0" sz="850" u="none" cap="none" strike="noStrike">
              <a:solidFill>
                <a:srgbClr val="000000"/>
              </a:solidFill>
              <a:latin typeface="Calibri"/>
              <a:ea typeface="Calibri"/>
              <a:cs typeface="Calibri"/>
              <a:sym typeface="Calibri"/>
            </a:endParaRPr>
          </a:p>
        </p:txBody>
      </p:sp>
      <p:sp>
        <p:nvSpPr>
          <p:cNvPr id="944" name="Google Shape;944;p107"/>
          <p:cNvSpPr txBox="1"/>
          <p:nvPr/>
        </p:nvSpPr>
        <p:spPr>
          <a:xfrm>
            <a:off x="6857975" y="2327030"/>
            <a:ext cx="1463100" cy="16002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keenan disagreed w/ how we drew his map ("I wouldn't put that there"). if the LLM decides what someone's history means, its putting words in their mouth</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let crafters build or edit their own map</a:t>
            </a:r>
            <a:endParaRPr b="0" i="0" sz="850" u="none" cap="none" strike="noStrike">
              <a:solidFill>
                <a:srgbClr val="000000"/>
              </a:solidFill>
              <a:latin typeface="Calibri"/>
              <a:ea typeface="Calibri"/>
              <a:cs typeface="Calibri"/>
              <a:sym typeface="Calibri"/>
            </a:endParaRPr>
          </a:p>
        </p:txBody>
      </p:sp>
      <p:sp>
        <p:nvSpPr>
          <p:cNvPr id="945" name="Google Shape;945;p107"/>
          <p:cNvSpPr txBox="1"/>
          <p:nvPr/>
        </p:nvSpPr>
        <p:spPr>
          <a:xfrm>
            <a:off x="3291815" y="4046102"/>
            <a:ext cx="2030100" cy="10974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the map is a detailed profile of someone's creative life &amp; insecurities. "nothing I do is just for myself anymore" is really personal</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users should own their map &amp; be able to delete it whenever. it shouldn't train models or go to craft brands for ads</a:t>
            </a:r>
            <a:endParaRPr b="0" i="0" sz="850" u="none" cap="none" strike="noStrike">
              <a:solidFill>
                <a:srgbClr val="000000"/>
              </a:solidFill>
              <a:latin typeface="Calibri"/>
              <a:ea typeface="Calibri"/>
              <a:cs typeface="Calibri"/>
              <a:sym typeface="Calibri"/>
            </a:endParaRPr>
          </a:p>
        </p:txBody>
      </p:sp>
      <p:sp>
        <p:nvSpPr>
          <p:cNvPr id="946" name="Google Shape;946;p107"/>
          <p:cNvSpPr txBox="1"/>
          <p:nvPr/>
        </p:nvSpPr>
        <p:spPr>
          <a:xfrm>
            <a:off x="822935" y="2784230"/>
            <a:ext cx="1993500" cy="14631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assumes people reflect best by talking. beginners also don't have much history to reflect on</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perhaps users could upload photos of old work or sketch instead of only answering questions?</a:t>
            </a:r>
            <a:endParaRPr b="0" i="0" sz="850" u="none" cap="none" strike="noStrike">
              <a:solidFill>
                <a:srgbClr val="000000"/>
              </a:solidFill>
              <a:latin typeface="Calibri"/>
              <a:ea typeface="Calibri"/>
              <a:cs typeface="Calibri"/>
              <a:sym typeface="Calibri"/>
            </a:endParaRPr>
          </a:p>
        </p:txBody>
      </p:sp>
      <p:sp>
        <p:nvSpPr>
          <p:cNvPr id="947" name="Google Shape;947;p107"/>
          <p:cNvSpPr txBox="1"/>
          <p:nvPr>
            <p:ph type="title"/>
          </p:nvPr>
        </p:nvSpPr>
        <p:spPr>
          <a:xfrm>
            <a:off x="469625" y="3573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Ethics for Solution 3</a:t>
            </a:r>
            <a:endParaRPr sz="3100">
              <a:latin typeface="Epilogue Black"/>
              <a:ea typeface="Epilogue Black"/>
              <a:cs typeface="Epilogue Black"/>
              <a:sym typeface="Epilogue Black"/>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1" name="Shape 951"/>
        <p:cNvGrpSpPr/>
        <p:nvPr/>
      </p:nvGrpSpPr>
      <p:grpSpPr>
        <a:xfrm>
          <a:off x="0" y="0"/>
          <a:ext cx="0" cy="0"/>
          <a:chOff x="0" y="0"/>
          <a:chExt cx="0" cy="0"/>
        </a:xfrm>
      </p:grpSpPr>
      <p:sp>
        <p:nvSpPr>
          <p:cNvPr id="952" name="Google Shape;952;p108"/>
          <p:cNvSpPr txBox="1"/>
          <p:nvPr>
            <p:ph type="title"/>
          </p:nvPr>
        </p:nvSpPr>
        <p:spPr>
          <a:xfrm>
            <a:off x="469625" y="357375"/>
            <a:ext cx="77040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800">
                <a:solidFill>
                  <a:srgbClr val="000000"/>
                </a:solidFill>
                <a:latin typeface="Epilogue"/>
                <a:ea typeface="Epilogue"/>
                <a:cs typeface="Epilogue"/>
                <a:sym typeface="Epilogue"/>
              </a:rPr>
              <a:t>Ethics for Solution 3</a:t>
            </a:r>
            <a:endParaRPr sz="3100">
              <a:latin typeface="Epilogue Black"/>
              <a:ea typeface="Epilogue Black"/>
              <a:cs typeface="Epilogue Black"/>
              <a:sym typeface="Epilogue Black"/>
            </a:endParaRPr>
          </a:p>
        </p:txBody>
      </p:sp>
      <p:sp>
        <p:nvSpPr>
          <p:cNvPr id="953" name="Google Shape;953;p108"/>
          <p:cNvSpPr txBox="1"/>
          <p:nvPr>
            <p:ph idx="1" type="subTitle"/>
          </p:nvPr>
        </p:nvSpPr>
        <p:spPr>
          <a:xfrm>
            <a:off x="2136042" y="1319342"/>
            <a:ext cx="868500" cy="4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u="sng">
                <a:solidFill>
                  <a:srgbClr val="000000"/>
                </a:solidFill>
              </a:rPr>
              <a:t>Serves</a:t>
            </a:r>
            <a:endParaRPr sz="1500" u="sng"/>
          </a:p>
        </p:txBody>
      </p:sp>
      <p:sp>
        <p:nvSpPr>
          <p:cNvPr id="954" name="Google Shape;954;p108"/>
          <p:cNvSpPr/>
          <p:nvPr/>
        </p:nvSpPr>
        <p:spPr>
          <a:xfrm>
            <a:off x="1028900" y="1730900"/>
            <a:ext cx="3082800" cy="29190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955" name="Google Shape;955;p108"/>
          <p:cNvSpPr txBox="1"/>
          <p:nvPr>
            <p:ph idx="1" type="subTitle"/>
          </p:nvPr>
        </p:nvSpPr>
        <p:spPr>
          <a:xfrm>
            <a:off x="5982150" y="1319350"/>
            <a:ext cx="1295700" cy="4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u="sng">
                <a:solidFill>
                  <a:srgbClr val="000000"/>
                </a:solidFill>
              </a:rPr>
              <a:t>Leaves Out</a:t>
            </a:r>
            <a:endParaRPr sz="1500" u="sng"/>
          </a:p>
        </p:txBody>
      </p:sp>
      <p:sp>
        <p:nvSpPr>
          <p:cNvPr id="956" name="Google Shape;956;p108"/>
          <p:cNvSpPr/>
          <p:nvPr/>
        </p:nvSpPr>
        <p:spPr>
          <a:xfrm>
            <a:off x="5032275" y="1730900"/>
            <a:ext cx="3082800" cy="29190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957" name="Google Shape;957;p108"/>
          <p:cNvSpPr txBox="1"/>
          <p:nvPr>
            <p:ph idx="1" type="subTitle"/>
          </p:nvPr>
        </p:nvSpPr>
        <p:spPr>
          <a:xfrm>
            <a:off x="1264400" y="2236450"/>
            <a:ext cx="2611800" cy="2215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Crafters with a long creative history who've lost motivation, especially people whose craft is tied to identity or career</a:t>
            </a:r>
            <a:endParaRPr sz="1500"/>
          </a:p>
        </p:txBody>
      </p:sp>
      <p:sp>
        <p:nvSpPr>
          <p:cNvPr id="958" name="Google Shape;958;p108"/>
          <p:cNvSpPr txBox="1"/>
          <p:nvPr>
            <p:ph idx="1" type="subTitle"/>
          </p:nvPr>
        </p:nvSpPr>
        <p:spPr>
          <a:xfrm>
            <a:off x="5209775" y="1931425"/>
            <a:ext cx="2726100" cy="2718600"/>
          </a:xfrm>
          <a:prstGeom prst="rect">
            <a:avLst/>
          </a:prstGeom>
        </p:spPr>
        <p:txBody>
          <a:bodyPr anchorCtr="0" anchor="t" bIns="91425" lIns="91425" spcFirstLastPara="1" rIns="91425" wrap="square" tIns="91425">
            <a:noAutofit/>
          </a:bodyPr>
          <a:lstStyle/>
          <a:p>
            <a:pPr indent="-304800" lvl="0" marL="457200" rtl="0" algn="l">
              <a:lnSpc>
                <a:spcPct val="100000"/>
              </a:lnSpc>
              <a:spcBef>
                <a:spcPts val="0"/>
              </a:spcBef>
              <a:spcAft>
                <a:spcPts val="0"/>
              </a:spcAft>
              <a:buSzPts val="1200"/>
              <a:buChar char="-"/>
            </a:pPr>
            <a:r>
              <a:rPr lang="en" sz="1200"/>
              <a:t>People uncomfortable sharing personal history with AI</a:t>
            </a:r>
            <a:endParaRPr sz="1200"/>
          </a:p>
          <a:p>
            <a:pPr indent="-304800" lvl="0" marL="457200" rtl="0" algn="l">
              <a:lnSpc>
                <a:spcPct val="100000"/>
              </a:lnSpc>
              <a:spcBef>
                <a:spcPts val="1000"/>
              </a:spcBef>
              <a:spcAft>
                <a:spcPts val="0"/>
              </a:spcAft>
              <a:buSzPts val="1200"/>
              <a:buChar char="-"/>
            </a:pPr>
            <a:r>
              <a:rPr lang="en" sz="1200"/>
              <a:t>Crafters without much past variety to reflect on (beginners)</a:t>
            </a:r>
            <a:endParaRPr sz="1200"/>
          </a:p>
          <a:p>
            <a:pPr indent="-304800" lvl="0" marL="457200" rtl="0" algn="l">
              <a:lnSpc>
                <a:spcPct val="100000"/>
              </a:lnSpc>
              <a:spcBef>
                <a:spcPts val="1000"/>
              </a:spcBef>
              <a:spcAft>
                <a:spcPts val="0"/>
              </a:spcAft>
              <a:buSzPts val="1200"/>
              <a:buChar char="-"/>
            </a:pPr>
            <a:r>
              <a:rPr lang="en" sz="1200"/>
              <a:t>People who reflect better nonverbally or by making than by talking</a:t>
            </a:r>
            <a:endParaRPr sz="1200"/>
          </a:p>
          <a:p>
            <a:pPr indent="-304800" lvl="0" marL="457200" rtl="0" algn="l">
              <a:lnSpc>
                <a:spcPct val="100000"/>
              </a:lnSpc>
              <a:spcBef>
                <a:spcPts val="1000"/>
              </a:spcBef>
              <a:spcAft>
                <a:spcPts val="1000"/>
              </a:spcAft>
              <a:buSzPts val="1200"/>
              <a:buChar char="-"/>
            </a:pPr>
            <a:r>
              <a:rPr lang="en" sz="1200"/>
              <a:t>Anyone without access to the tool</a:t>
            </a:r>
            <a:endParaRPr sz="12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pic>
        <p:nvPicPr>
          <p:cNvPr id="963" name="Google Shape;963;p109"/>
          <p:cNvPicPr preferRelativeResize="0"/>
          <p:nvPr/>
        </p:nvPicPr>
        <p:blipFill>
          <a:blip r:embed="rId3">
            <a:alphaModFix/>
          </a:blip>
          <a:stretch>
            <a:fillRect/>
          </a:stretch>
        </p:blipFill>
        <p:spPr>
          <a:xfrm>
            <a:off x="1541963" y="887775"/>
            <a:ext cx="6060064" cy="36138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10"/>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COMBINED TAKEAWAYS</a:t>
            </a:r>
            <a:endParaRPr/>
          </a:p>
        </p:txBody>
      </p:sp>
      <p:sp>
        <p:nvSpPr>
          <p:cNvPr id="969" name="Google Shape;969;p110"/>
          <p:cNvSpPr txBox="1"/>
          <p:nvPr>
            <p:ph idx="1" type="subTitle"/>
          </p:nvPr>
        </p:nvSpPr>
        <p:spPr>
          <a:xfrm>
            <a:off x="503825" y="1350225"/>
            <a:ext cx="8044800" cy="4063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sz="1800">
                <a:solidFill>
                  <a:srgbClr val="000000"/>
                </a:solidFill>
              </a:rPr>
              <a:t>Creating outdoors eases perfectionism</a:t>
            </a:r>
            <a:endParaRPr sz="1800">
              <a:solidFill>
                <a:srgbClr val="000000"/>
              </a:solidFill>
            </a:endParaRPr>
          </a:p>
          <a:p>
            <a:pPr indent="0" lvl="0" marL="457200" rtl="0" algn="l">
              <a:spcBef>
                <a:spcPts val="0"/>
              </a:spcBef>
              <a:spcAft>
                <a:spcPts val="0"/>
              </a:spcAft>
              <a:buNone/>
            </a:pPr>
            <a:r>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Being with or seeing other create gives permission to pause</a:t>
            </a:r>
            <a:endParaRPr sz="1800">
              <a:solidFill>
                <a:srgbClr val="000000"/>
              </a:solidFill>
            </a:endParaRPr>
          </a:p>
          <a:p>
            <a:pPr indent="0" lvl="0" marL="457200" rtl="0" algn="l">
              <a:spcBef>
                <a:spcPts val="0"/>
              </a:spcBef>
              <a:spcAft>
                <a:spcPts val="0"/>
              </a:spcAft>
              <a:buNone/>
            </a:pPr>
            <a:r>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Nearby supplies make spontaneous starts easier</a:t>
            </a:r>
            <a:endParaRPr sz="1800">
              <a:solidFill>
                <a:srgbClr val="000000"/>
              </a:solidFill>
            </a:endParaRPr>
          </a:p>
          <a:p>
            <a:pPr indent="0" lvl="0" marL="457200" rtl="0" algn="l">
              <a:spcBef>
                <a:spcPts val="0"/>
              </a:spcBef>
              <a:spcAft>
                <a:spcPts val="0"/>
              </a:spcAft>
              <a:buNone/>
            </a:pPr>
            <a:r>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Prompts offer direction; personal experiences offer meaning</a:t>
            </a:r>
            <a:endParaRPr sz="1800">
              <a:solidFill>
                <a:srgbClr val="000000"/>
              </a:solidFill>
            </a:endParaRPr>
          </a:p>
          <a:p>
            <a:pPr indent="0" lvl="0" marL="457200" rtl="0" algn="l">
              <a:spcBef>
                <a:spcPts val="0"/>
              </a:spcBef>
              <a:spcAft>
                <a:spcPts val="0"/>
              </a:spcAft>
              <a:buNone/>
            </a:pPr>
            <a:r>
              <a:t/>
            </a:r>
            <a:endParaRPr sz="1800">
              <a:solidFill>
                <a:srgbClr val="000000"/>
              </a:solidFill>
            </a:endParaRPr>
          </a:p>
          <a:p>
            <a:pPr indent="-342900" lvl="0" marL="457200" rtl="0" algn="l">
              <a:spcBef>
                <a:spcPts val="0"/>
              </a:spcBef>
              <a:spcAft>
                <a:spcPts val="0"/>
              </a:spcAft>
              <a:buClr>
                <a:srgbClr val="000000"/>
              </a:buClr>
              <a:buSzPts val="1800"/>
              <a:buChar char="●"/>
            </a:pPr>
            <a:r>
              <a:rPr lang="en" sz="1800">
                <a:solidFill>
                  <a:srgbClr val="000000"/>
                </a:solidFill>
              </a:rPr>
              <a:t>Being </a:t>
            </a:r>
            <a:r>
              <a:rPr lang="en" sz="1800">
                <a:solidFill>
                  <a:srgbClr val="000000"/>
                </a:solidFill>
              </a:rPr>
              <a:t>initial</a:t>
            </a:r>
            <a:r>
              <a:rPr lang="en" sz="1800">
                <a:solidFill>
                  <a:srgbClr val="000000"/>
                </a:solidFill>
              </a:rPr>
              <a:t> about making for yourself rekindles joy beyond external validation</a:t>
            </a:r>
            <a:endParaRPr sz="1800">
              <a:solidFill>
                <a:srgbClr val="00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3" name="Shape 973"/>
        <p:cNvGrpSpPr/>
        <p:nvPr/>
      </p:nvGrpSpPr>
      <p:grpSpPr>
        <a:xfrm>
          <a:off x="0" y="0"/>
          <a:ext cx="0" cy="0"/>
          <a:chOff x="0" y="0"/>
          <a:chExt cx="0" cy="0"/>
        </a:xfrm>
      </p:grpSpPr>
      <p:sp>
        <p:nvSpPr>
          <p:cNvPr id="974" name="Google Shape;974;p111"/>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COMBINED TAKEAWAYS </a:t>
            </a:r>
            <a:r>
              <a:rPr lang="en"/>
              <a:t>(LONG)</a:t>
            </a:r>
            <a:endParaRPr/>
          </a:p>
        </p:txBody>
      </p:sp>
      <p:sp>
        <p:nvSpPr>
          <p:cNvPr id="975" name="Google Shape;975;p111"/>
          <p:cNvSpPr txBox="1"/>
          <p:nvPr>
            <p:ph idx="1" type="subTitle"/>
          </p:nvPr>
        </p:nvSpPr>
        <p:spPr>
          <a:xfrm>
            <a:off x="503825" y="1162250"/>
            <a:ext cx="7926900" cy="4063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lang="en" sz="1600">
                <a:solidFill>
                  <a:srgbClr val="000000"/>
                </a:solidFill>
              </a:rPr>
              <a:t>Creating while outdoors can ease the pressure to make something perfect</a:t>
            </a:r>
            <a:endParaRPr sz="1600">
              <a:solidFill>
                <a:srgbClr val="000000"/>
              </a:solidFill>
            </a:endParaRPr>
          </a:p>
          <a:p>
            <a:pPr indent="0" lvl="0" marL="457200" rtl="0" algn="l">
              <a:spcBef>
                <a:spcPts val="0"/>
              </a:spcBef>
              <a:spcAft>
                <a:spcPts val="0"/>
              </a:spcAft>
              <a:buNone/>
            </a:pPr>
            <a:r>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Seeing others create art can give permission to take a break</a:t>
            </a:r>
            <a:endParaRPr sz="1600">
              <a:solidFill>
                <a:srgbClr val="000000"/>
              </a:solidFill>
            </a:endParaRPr>
          </a:p>
          <a:p>
            <a:pPr indent="0" lvl="0" marL="0" rtl="0" algn="l">
              <a:spcBef>
                <a:spcPts val="0"/>
              </a:spcBef>
              <a:spcAft>
                <a:spcPts val="0"/>
              </a:spcAft>
              <a:buNone/>
            </a:pPr>
            <a:r>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Having supplies close at hand lowers the effort of starting especially in moments of spontaneity and exploration </a:t>
            </a:r>
            <a:endParaRPr sz="1600">
              <a:solidFill>
                <a:srgbClr val="000000"/>
              </a:solidFill>
            </a:endParaRPr>
          </a:p>
          <a:p>
            <a:pPr indent="0" lvl="0" marL="457200" rtl="0" algn="l">
              <a:spcBef>
                <a:spcPts val="0"/>
              </a:spcBef>
              <a:spcAft>
                <a:spcPts val="0"/>
              </a:spcAft>
              <a:buNone/>
            </a:pPr>
            <a:r>
              <a:rPr lang="en" sz="1600">
                <a:solidFill>
                  <a:srgbClr val="000000"/>
                </a:solidFill>
              </a:rPr>
              <a:t>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Artists benefit from both prompts that help them start and freedom to draw on personal experiences</a:t>
            </a:r>
            <a:endParaRPr sz="1600">
              <a:solidFill>
                <a:srgbClr val="000000"/>
              </a:solidFill>
            </a:endParaRPr>
          </a:p>
          <a:p>
            <a:pPr indent="0" lvl="0" marL="457200" rtl="0" algn="l">
              <a:spcBef>
                <a:spcPts val="0"/>
              </a:spcBef>
              <a:spcAft>
                <a:spcPts val="0"/>
              </a:spcAft>
              <a:buNone/>
            </a:pPr>
            <a:r>
              <a:t/>
            </a:r>
            <a:endParaRPr sz="16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Crafters need opportunities to reconnect with the joy of making for themselves, without seeking external validation</a:t>
            </a:r>
            <a:endParaRPr sz="1600">
              <a:solidFill>
                <a:srgbClr val="00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12"/>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a:t>
            </a:r>
            <a:endParaRPr/>
          </a:p>
        </p:txBody>
      </p:sp>
      <p:sp>
        <p:nvSpPr>
          <p:cNvPr id="981" name="Google Shape;981;p112"/>
          <p:cNvSpPr txBox="1"/>
          <p:nvPr>
            <p:ph idx="1" type="subTitle"/>
          </p:nvPr>
        </p:nvSpPr>
        <p:spPr>
          <a:xfrm>
            <a:off x="503825" y="1384514"/>
            <a:ext cx="7631100" cy="28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0000"/>
                </a:solidFill>
              </a:rPr>
              <a:t>A phone case with built-in paints and a brush, paired with a companion app make it easy to take creative breaks outdoors. Discover places where others have made art, follow a prompt or create freely, and share anonymously.</a:t>
            </a:r>
            <a:endParaRPr sz="2000">
              <a:solidFill>
                <a:srgbClr val="000000"/>
              </a:solidFill>
            </a:endParaRPr>
          </a:p>
          <a:p>
            <a:pPr indent="0" lvl="0" marL="0" rtl="0" algn="l">
              <a:spcBef>
                <a:spcPts val="0"/>
              </a:spcBef>
              <a:spcAft>
                <a:spcPts val="0"/>
              </a:spcAft>
              <a:buNone/>
            </a:pPr>
            <a:r>
              <a:t/>
            </a:r>
            <a:endParaRPr sz="2000">
              <a:solidFill>
                <a:srgbClr val="000000"/>
              </a:solidFill>
            </a:endParaRPr>
          </a:p>
          <a:p>
            <a:pPr indent="0" lvl="0" marL="0" rtl="0" algn="l">
              <a:spcBef>
                <a:spcPts val="0"/>
              </a:spcBef>
              <a:spcAft>
                <a:spcPts val="0"/>
              </a:spcAft>
              <a:buNone/>
            </a:pPr>
            <a:r>
              <a:rPr lang="en" sz="2000">
                <a:solidFill>
                  <a:srgbClr val="000000"/>
                </a:solidFill>
              </a:rPr>
              <a:t>Create ephemeral art on seed paper, plant your work, and build a personal map of the places that inspire you, reconnecting with the joy of making for yourself without the pressure of a “good” artistic outcome</a:t>
            </a:r>
            <a:endParaRPr sz="2000">
              <a:solidFill>
                <a:srgbClr val="000000"/>
              </a:solidFill>
            </a:endParaRPr>
          </a:p>
        </p:txBody>
      </p:sp>
      <p:pic>
        <p:nvPicPr>
          <p:cNvPr id="982" name="Google Shape;982;p112"/>
          <p:cNvPicPr preferRelativeResize="0"/>
          <p:nvPr/>
        </p:nvPicPr>
        <p:blipFill>
          <a:blip r:embed="rId3">
            <a:alphaModFix/>
          </a:blip>
          <a:stretch>
            <a:fillRect/>
          </a:stretch>
        </p:blipFill>
        <p:spPr>
          <a:xfrm>
            <a:off x="7664950" y="3072350"/>
            <a:ext cx="1531650" cy="153165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6" name="Shape 986"/>
        <p:cNvGrpSpPr/>
        <p:nvPr/>
      </p:nvGrpSpPr>
      <p:grpSpPr>
        <a:xfrm>
          <a:off x="0" y="0"/>
          <a:ext cx="0" cy="0"/>
          <a:chOff x="0" y="0"/>
          <a:chExt cx="0" cy="0"/>
        </a:xfrm>
      </p:grpSpPr>
      <p:sp>
        <p:nvSpPr>
          <p:cNvPr id="987" name="Google Shape;987;p113"/>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(Narrative)</a:t>
            </a:r>
            <a:endParaRPr/>
          </a:p>
        </p:txBody>
      </p:sp>
      <p:sp>
        <p:nvSpPr>
          <p:cNvPr id="988" name="Google Shape;988;p113"/>
          <p:cNvSpPr txBox="1"/>
          <p:nvPr>
            <p:ph idx="1" type="subTitle"/>
          </p:nvPr>
        </p:nvSpPr>
        <p:spPr>
          <a:xfrm>
            <a:off x="503825" y="1452550"/>
            <a:ext cx="7405200" cy="27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On a walk, you’re notified when you pass a place where others have made art. Their anonymous creations inspire you to pause.</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rPr>
              <a:t>Pull paints and a brush from your phone case. Use a prompt or draw from your surroundings and memories, an easy break to try something new, without pressure to make it perfect.</a:t>
            </a:r>
            <a:endParaRPr sz="1500">
              <a:solidFill>
                <a:srgbClr val="000000"/>
              </a:solidFill>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rPr>
              <a:t>Share anonymously, plant your seed paper, and save the location. Over time, your personal map shows how different places inspire your art and reminds you of the joy of creating for yourself.</a:t>
            </a:r>
            <a:endParaRPr sz="1500">
              <a:solidFill>
                <a:srgbClr val="00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2" name="Shape 992"/>
        <p:cNvGrpSpPr/>
        <p:nvPr/>
      </p:nvGrpSpPr>
      <p:grpSpPr>
        <a:xfrm>
          <a:off x="0" y="0"/>
          <a:ext cx="0" cy="0"/>
          <a:chOff x="0" y="0"/>
          <a:chExt cx="0" cy="0"/>
        </a:xfrm>
      </p:grpSpPr>
      <p:sp>
        <p:nvSpPr>
          <p:cNvPr id="993" name="Google Shape;993;p114"/>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(Long version)</a:t>
            </a:r>
            <a:endParaRPr/>
          </a:p>
        </p:txBody>
      </p:sp>
      <p:sp>
        <p:nvSpPr>
          <p:cNvPr id="994" name="Google Shape;994;p114"/>
          <p:cNvSpPr txBox="1"/>
          <p:nvPr>
            <p:ph idx="1" type="subTitle"/>
          </p:nvPr>
        </p:nvSpPr>
        <p:spPr>
          <a:xfrm>
            <a:off x="503825" y="1293800"/>
            <a:ext cx="7926900" cy="33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000000"/>
                </a:solidFill>
              </a:rPr>
              <a:t>You’re out for a walk and get a notification as you pass a place where others have created lots of art. You explore their anonymous artworks on a heat map. Seeing others take a moment to create encourages you to pause, too.</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rPr lang="en" sz="1200">
                <a:solidFill>
                  <a:srgbClr val="000000"/>
                </a:solidFill>
              </a:rPr>
              <a:t>With paints and a brush tucked into your phone case, starting takes little effort—even if crafting isn’t part of your routine. You take out a piece of seed paper.</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rPr lang="en" sz="1200">
                <a:solidFill>
                  <a:srgbClr val="000000"/>
                </a:solidFill>
              </a:rPr>
              <a:t>Ask for a prompt if you want help getting started, or draw from your surroundings and personal memories. Outside your usual workspace, you have room to play without needing to make something perfect. Even if painting isn’t your main craft, it offers a break to try something new and engage a different part of your creativity.</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rPr lang="en" sz="1200">
                <a:solidFill>
                  <a:srgbClr val="000000"/>
                </a:solidFill>
              </a:rPr>
              <a:t>When you’re done, you can share a photo anonymously, then plant the paper and save its location. Your personal map lets you revisit the places you’ve planted your work and see how different environments inspire you.</a:t>
            </a:r>
            <a:endParaRPr sz="1200">
              <a:solidFill>
                <a:srgbClr val="000000"/>
              </a:solidFill>
            </a:endParaRPr>
          </a:p>
          <a:p>
            <a:pPr indent="0" lvl="0" marL="0" rtl="0" algn="l">
              <a:spcBef>
                <a:spcPts val="0"/>
              </a:spcBef>
              <a:spcAft>
                <a:spcPts val="0"/>
              </a:spcAft>
              <a:buNone/>
            </a:pPr>
            <a:r>
              <a:t/>
            </a:r>
            <a:endParaRPr sz="1200">
              <a:solidFill>
                <a:srgbClr val="000000"/>
              </a:solidFill>
            </a:endParaRPr>
          </a:p>
          <a:p>
            <a:pPr indent="0" lvl="0" marL="0" rtl="0" algn="l">
              <a:spcBef>
                <a:spcPts val="0"/>
              </a:spcBef>
              <a:spcAft>
                <a:spcPts val="0"/>
              </a:spcAft>
              <a:buNone/>
            </a:pPr>
            <a:r>
              <a:rPr lang="en" sz="1200">
                <a:solidFill>
                  <a:srgbClr val="000000"/>
                </a:solidFill>
              </a:rPr>
              <a:t>Each piece becomes a connection between you and a place a reminder of the pleasure of making for yourself.</a:t>
            </a:r>
            <a:endParaRPr sz="1200">
              <a:solidFill>
                <a:srgbClr val="00000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98" name="Shape 998"/>
        <p:cNvGrpSpPr/>
        <p:nvPr/>
      </p:nvGrpSpPr>
      <p:grpSpPr>
        <a:xfrm>
          <a:off x="0" y="0"/>
          <a:ext cx="0" cy="0"/>
          <a:chOff x="0" y="0"/>
          <a:chExt cx="0" cy="0"/>
        </a:xfrm>
      </p:grpSpPr>
      <p:sp>
        <p:nvSpPr>
          <p:cNvPr id="999" name="Google Shape;999;p115"/>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a:t>
            </a:r>
            <a:endParaRPr/>
          </a:p>
        </p:txBody>
      </p:sp>
      <p:sp>
        <p:nvSpPr>
          <p:cNvPr id="1000" name="Google Shape;1000;p115"/>
          <p:cNvSpPr txBox="1"/>
          <p:nvPr>
            <p:ph idx="1" type="subTitle"/>
          </p:nvPr>
        </p:nvSpPr>
        <p:spPr>
          <a:xfrm>
            <a:off x="503825" y="1224900"/>
            <a:ext cx="4335000" cy="377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highlight>
                  <a:srgbClr val="FFE09E"/>
                </a:highlight>
              </a:rPr>
              <a:t>You’re out for a walk and get notified when you pass a place where others have created a lot of art in this area.</a:t>
            </a:r>
            <a:endParaRPr sz="1500">
              <a:solidFill>
                <a:srgbClr val="000000"/>
              </a:solidFill>
              <a:highlight>
                <a:srgbClr val="FFE09E"/>
              </a:highlight>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highlight>
                  <a:srgbClr val="B1E2FF"/>
                </a:highlight>
              </a:rPr>
              <a:t>You pull paints and a brush from your phone case and take out a piece of </a:t>
            </a:r>
            <a:r>
              <a:rPr lang="en" sz="1500">
                <a:solidFill>
                  <a:srgbClr val="000000"/>
                </a:solidFill>
                <a:highlight>
                  <a:srgbClr val="B1E2FF"/>
                </a:highlight>
              </a:rPr>
              <a:t>paper </a:t>
            </a:r>
            <a:r>
              <a:rPr lang="en" sz="1500">
                <a:solidFill>
                  <a:srgbClr val="000000"/>
                </a:solidFill>
                <a:highlight>
                  <a:srgbClr val="B1E2FF"/>
                </a:highlight>
              </a:rPr>
              <a:t>that has flower seeds </a:t>
            </a:r>
            <a:r>
              <a:rPr lang="en" sz="1500">
                <a:solidFill>
                  <a:srgbClr val="000000"/>
                </a:solidFill>
                <a:highlight>
                  <a:srgbClr val="B1E2FF"/>
                </a:highlight>
              </a:rPr>
              <a:t>embedded</a:t>
            </a:r>
            <a:r>
              <a:rPr lang="en" sz="1500">
                <a:solidFill>
                  <a:srgbClr val="000000"/>
                </a:solidFill>
                <a:highlight>
                  <a:srgbClr val="B1E2FF"/>
                </a:highlight>
              </a:rPr>
              <a:t> into it.</a:t>
            </a:r>
            <a:r>
              <a:rPr lang="en" sz="1500">
                <a:solidFill>
                  <a:srgbClr val="000000"/>
                </a:solidFill>
              </a:rPr>
              <a:t> </a:t>
            </a:r>
            <a:endParaRPr sz="1500">
              <a:solidFill>
                <a:srgbClr val="000000"/>
              </a:solidFill>
            </a:endParaRPr>
          </a:p>
          <a:p>
            <a:pPr indent="0" lvl="0" marL="0" rtl="0" algn="l">
              <a:spcBef>
                <a:spcPts val="0"/>
              </a:spcBef>
              <a:spcAft>
                <a:spcPts val="0"/>
              </a:spcAft>
              <a:buNone/>
            </a:pPr>
            <a:r>
              <a:t/>
            </a:r>
            <a:endParaRPr sz="1500">
              <a:solidFill>
                <a:srgbClr val="000000"/>
              </a:solidFill>
              <a:highlight>
                <a:srgbClr val="D2FF8B"/>
              </a:highlight>
            </a:endParaRPr>
          </a:p>
          <a:p>
            <a:pPr indent="0" lvl="0" marL="0" rtl="0" algn="l">
              <a:spcBef>
                <a:spcPts val="0"/>
              </a:spcBef>
              <a:spcAft>
                <a:spcPts val="0"/>
              </a:spcAft>
              <a:buNone/>
            </a:pPr>
            <a:r>
              <a:rPr lang="en" sz="1500">
                <a:solidFill>
                  <a:srgbClr val="000000"/>
                </a:solidFill>
                <a:highlight>
                  <a:srgbClr val="D2FF8B"/>
                </a:highlight>
              </a:rPr>
              <a:t>Ask for a prompt if you need a starting point, or paint whatever catches your attention.</a:t>
            </a:r>
            <a:endParaRPr sz="1500">
              <a:solidFill>
                <a:srgbClr val="000000"/>
              </a:solidFill>
              <a:highlight>
                <a:srgbClr val="D2FF8B"/>
              </a:highlight>
            </a:endParaRPr>
          </a:p>
          <a:p>
            <a:pPr indent="0" lvl="0" marL="0" rtl="0" algn="l">
              <a:spcBef>
                <a:spcPts val="0"/>
              </a:spcBef>
              <a:spcAft>
                <a:spcPts val="0"/>
              </a:spcAft>
              <a:buNone/>
            </a:pPr>
            <a:r>
              <a:t/>
            </a:r>
            <a:endParaRPr sz="1500">
              <a:solidFill>
                <a:srgbClr val="000000"/>
              </a:solidFill>
            </a:endParaRPr>
          </a:p>
          <a:p>
            <a:pPr indent="0" lvl="0" marL="0" rtl="0" algn="l">
              <a:spcBef>
                <a:spcPts val="0"/>
              </a:spcBef>
              <a:spcAft>
                <a:spcPts val="0"/>
              </a:spcAft>
              <a:buNone/>
            </a:pPr>
            <a:r>
              <a:rPr lang="en" sz="1500">
                <a:solidFill>
                  <a:srgbClr val="000000"/>
                </a:solidFill>
                <a:highlight>
                  <a:srgbClr val="BEFFEF"/>
                </a:highlight>
              </a:rPr>
              <a:t>When you’re done, you can add a photo of your artwork anonymously to the map. Then plant the paper and let what you made grow so you don’t </a:t>
            </a:r>
            <a:r>
              <a:rPr lang="en" sz="1500">
                <a:solidFill>
                  <a:srgbClr val="000000"/>
                </a:solidFill>
                <a:highlight>
                  <a:srgbClr val="BEFFEF"/>
                </a:highlight>
              </a:rPr>
              <a:t>overly</a:t>
            </a:r>
            <a:r>
              <a:rPr lang="en" sz="1500">
                <a:solidFill>
                  <a:srgbClr val="000000"/>
                </a:solidFill>
                <a:highlight>
                  <a:srgbClr val="BEFFEF"/>
                </a:highlight>
              </a:rPr>
              <a:t> focus on the end result .</a:t>
            </a:r>
            <a:endParaRPr sz="1500">
              <a:solidFill>
                <a:srgbClr val="000000"/>
              </a:solidFill>
              <a:highlight>
                <a:srgbClr val="BEFFEF"/>
              </a:highlight>
            </a:endParaRPr>
          </a:p>
        </p:txBody>
      </p:sp>
      <p:sp>
        <p:nvSpPr>
          <p:cNvPr id="1001" name="Google Shape;1001;p115"/>
          <p:cNvSpPr/>
          <p:nvPr/>
        </p:nvSpPr>
        <p:spPr>
          <a:xfrm>
            <a:off x="5074025" y="652200"/>
            <a:ext cx="3580200" cy="1010100"/>
          </a:xfrm>
          <a:prstGeom prst="wedgeRectCallout">
            <a:avLst>
              <a:gd fmla="val -60068" name="adj1"/>
              <a:gd fmla="val 27789" name="adj2"/>
            </a:avLst>
          </a:prstGeom>
          <a:solidFill>
            <a:srgbClr val="FFE0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91919"/>
                </a:solidFill>
                <a:latin typeface="Epilogue"/>
                <a:ea typeface="Epilogue"/>
                <a:cs typeface="Epilogue"/>
                <a:sym typeface="Epilogue"/>
              </a:rPr>
              <a:t>Creating while outdoors can ease the pressure to make something perfect and seeing others create art can give </a:t>
            </a:r>
            <a:r>
              <a:rPr lang="en" sz="1100">
                <a:solidFill>
                  <a:srgbClr val="191919"/>
                </a:solidFill>
                <a:latin typeface="Epilogue"/>
                <a:ea typeface="Epilogue"/>
                <a:cs typeface="Epilogue"/>
                <a:sym typeface="Epilogue"/>
              </a:rPr>
              <a:t>permission</a:t>
            </a:r>
            <a:r>
              <a:rPr lang="en" sz="1100">
                <a:solidFill>
                  <a:srgbClr val="191919"/>
                </a:solidFill>
                <a:latin typeface="Epilogue"/>
                <a:ea typeface="Epilogue"/>
                <a:cs typeface="Epilogue"/>
                <a:sym typeface="Epilogue"/>
              </a:rPr>
              <a:t> to take a break </a:t>
            </a:r>
            <a:endParaRPr sz="1100">
              <a:solidFill>
                <a:srgbClr val="191919"/>
              </a:solidFill>
              <a:latin typeface="Epilogue"/>
              <a:ea typeface="Epilogue"/>
              <a:cs typeface="Epilogue"/>
              <a:sym typeface="Epilogue"/>
            </a:endParaRPr>
          </a:p>
        </p:txBody>
      </p:sp>
      <p:sp>
        <p:nvSpPr>
          <p:cNvPr id="1002" name="Google Shape;1002;p115"/>
          <p:cNvSpPr/>
          <p:nvPr/>
        </p:nvSpPr>
        <p:spPr>
          <a:xfrm>
            <a:off x="5074025" y="2874883"/>
            <a:ext cx="3580200" cy="1010100"/>
          </a:xfrm>
          <a:prstGeom prst="wedgeRectCallout">
            <a:avLst>
              <a:gd fmla="val -64269" name="adj1"/>
              <a:gd fmla="val 1301" name="adj2"/>
            </a:avLst>
          </a:prstGeom>
          <a:solidFill>
            <a:srgbClr val="D2FF8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91919"/>
                </a:solidFill>
                <a:latin typeface="Epilogue"/>
                <a:ea typeface="Epilogue"/>
                <a:cs typeface="Epilogue"/>
                <a:sym typeface="Epilogue"/>
              </a:rPr>
              <a:t>Artists benefit from both prompts that help them start and freedom to draw on personal experiences</a:t>
            </a:r>
            <a:endParaRPr sz="1100">
              <a:solidFill>
                <a:srgbClr val="191919"/>
              </a:solidFill>
              <a:latin typeface="Epilogue"/>
              <a:ea typeface="Epilogue"/>
              <a:cs typeface="Epilogue"/>
              <a:sym typeface="Epilogue"/>
            </a:endParaRPr>
          </a:p>
        </p:txBody>
      </p:sp>
      <p:sp>
        <p:nvSpPr>
          <p:cNvPr id="1003" name="Google Shape;1003;p115"/>
          <p:cNvSpPr/>
          <p:nvPr/>
        </p:nvSpPr>
        <p:spPr>
          <a:xfrm>
            <a:off x="5138225" y="3992994"/>
            <a:ext cx="3580200" cy="1010100"/>
          </a:xfrm>
          <a:prstGeom prst="wedgeRectCallout">
            <a:avLst>
              <a:gd fmla="val -60811" name="adj1"/>
              <a:gd fmla="val 23001" name="adj2"/>
            </a:avLst>
          </a:prstGeom>
          <a:solidFill>
            <a:srgbClr val="BEF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91919"/>
                </a:solidFill>
                <a:latin typeface="Epilogue"/>
                <a:ea typeface="Epilogue"/>
                <a:cs typeface="Epilogue"/>
                <a:sym typeface="Epilogue"/>
              </a:rPr>
              <a:t>Crafters need opportunities to reconnect with the joy of making for themselves, without seeking external validation</a:t>
            </a:r>
            <a:endParaRPr sz="1100">
              <a:solidFill>
                <a:srgbClr val="191919"/>
              </a:solidFill>
              <a:latin typeface="Epilogue"/>
              <a:ea typeface="Epilogue"/>
              <a:cs typeface="Epilogue"/>
              <a:sym typeface="Epilogue"/>
            </a:endParaRPr>
          </a:p>
        </p:txBody>
      </p:sp>
      <p:sp>
        <p:nvSpPr>
          <p:cNvPr id="1004" name="Google Shape;1004;p115"/>
          <p:cNvSpPr/>
          <p:nvPr/>
        </p:nvSpPr>
        <p:spPr>
          <a:xfrm>
            <a:off x="5074025" y="1756746"/>
            <a:ext cx="3580200" cy="1010100"/>
          </a:xfrm>
          <a:prstGeom prst="wedgeRectCallout">
            <a:avLst>
              <a:gd fmla="val -58668" name="adj1"/>
              <a:gd fmla="val 4052" name="adj2"/>
            </a:avLst>
          </a:prstGeom>
          <a:solidFill>
            <a:srgbClr val="B1E2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91919"/>
                </a:solidFill>
                <a:latin typeface="Epilogue"/>
                <a:ea typeface="Epilogue"/>
                <a:cs typeface="Epilogue"/>
                <a:sym typeface="Epilogue"/>
              </a:rPr>
              <a:t>Having supplies close at hand lowers the effort of starting especially in moments of spontaneity and exploration </a:t>
            </a:r>
            <a:endParaRPr sz="1100">
              <a:solidFill>
                <a:srgbClr val="191919"/>
              </a:solidFill>
              <a:latin typeface="Epilogue"/>
              <a:ea typeface="Epilogue"/>
              <a:cs typeface="Epilogue"/>
              <a:sym typeface="Epilogue"/>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8" name="Shape 1008"/>
        <p:cNvGrpSpPr/>
        <p:nvPr/>
      </p:nvGrpSpPr>
      <p:grpSpPr>
        <a:xfrm>
          <a:off x="0" y="0"/>
          <a:ext cx="0" cy="0"/>
          <a:chOff x="0" y="0"/>
          <a:chExt cx="0" cy="0"/>
        </a:xfrm>
      </p:grpSpPr>
      <p:sp>
        <p:nvSpPr>
          <p:cNvPr id="1009" name="Google Shape;1009;p116"/>
          <p:cNvSpPr txBox="1"/>
          <p:nvPr>
            <p:ph type="title"/>
          </p:nvPr>
        </p:nvSpPr>
        <p:spPr>
          <a:xfrm>
            <a:off x="0" y="0"/>
            <a:ext cx="391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ETHICAL IMPLICATIONS</a:t>
            </a:r>
            <a:endParaRPr/>
          </a:p>
        </p:txBody>
      </p:sp>
      <p:sp>
        <p:nvSpPr>
          <p:cNvPr id="1010" name="Google Shape;1010;p116"/>
          <p:cNvSpPr txBox="1"/>
          <p:nvPr/>
        </p:nvSpPr>
        <p:spPr>
          <a:xfrm>
            <a:off x="7416200" y="4189200"/>
            <a:ext cx="15903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Epilogue"/>
                <a:ea typeface="Epilogue"/>
                <a:cs typeface="Epilogue"/>
                <a:sym typeface="Epilogue"/>
              </a:rPr>
              <a:t>Analysis Framework from </a:t>
            </a:r>
            <a:r>
              <a:rPr lang="en" sz="1000" u="sng">
                <a:solidFill>
                  <a:schemeClr val="hlink"/>
                </a:solidFill>
                <a:latin typeface="Epilogue"/>
                <a:ea typeface="Epilogue"/>
                <a:cs typeface="Epilogue"/>
                <a:sym typeface="Epilogue"/>
                <a:hlinkClick r:id="rId3"/>
              </a:rPr>
              <a:t>Ethical Design: What is it and why is it important for innovators</a:t>
            </a:r>
            <a:r>
              <a:rPr lang="en" sz="1000">
                <a:solidFill>
                  <a:schemeClr val="dk1"/>
                </a:solidFill>
                <a:latin typeface="Epilogue"/>
                <a:ea typeface="Epilogue"/>
                <a:cs typeface="Epilogue"/>
                <a:sym typeface="Epilogue"/>
              </a:rPr>
              <a:t>?</a:t>
            </a:r>
            <a:endParaRPr sz="1000">
              <a:solidFill>
                <a:schemeClr val="dk1"/>
              </a:solidFill>
              <a:latin typeface="Epilogue"/>
              <a:ea typeface="Epilogue"/>
              <a:cs typeface="Epilogue"/>
              <a:sym typeface="Epilogue"/>
            </a:endParaRPr>
          </a:p>
        </p:txBody>
      </p:sp>
      <p:cxnSp>
        <p:nvCxnSpPr>
          <p:cNvPr id="1011" name="Google Shape;1011;p116"/>
          <p:cNvCxnSpPr/>
          <p:nvPr/>
        </p:nvCxnSpPr>
        <p:spPr>
          <a:xfrm>
            <a:off x="3886200" y="1417320"/>
            <a:ext cx="937200" cy="1088100"/>
          </a:xfrm>
          <a:prstGeom prst="straightConnector1">
            <a:avLst/>
          </a:prstGeom>
          <a:noFill/>
          <a:ln cap="flat" cmpd="sng" w="9525">
            <a:solidFill>
              <a:srgbClr val="222222"/>
            </a:solidFill>
            <a:prstDash val="solid"/>
            <a:round/>
            <a:headEnd len="sm" w="sm" type="none"/>
            <a:tailEnd len="sm" w="sm" type="none"/>
          </a:ln>
        </p:spPr>
      </p:cxnSp>
      <p:cxnSp>
        <p:nvCxnSpPr>
          <p:cNvPr id="1012" name="Google Shape;1012;p116"/>
          <p:cNvCxnSpPr/>
          <p:nvPr/>
        </p:nvCxnSpPr>
        <p:spPr>
          <a:xfrm flipH="1">
            <a:off x="4823474" y="1371600"/>
            <a:ext cx="900" cy="1134000"/>
          </a:xfrm>
          <a:prstGeom prst="straightConnector1">
            <a:avLst/>
          </a:prstGeom>
          <a:noFill/>
          <a:ln cap="flat" cmpd="sng" w="9525">
            <a:solidFill>
              <a:srgbClr val="222222"/>
            </a:solidFill>
            <a:prstDash val="solid"/>
            <a:round/>
            <a:headEnd len="sm" w="sm" type="none"/>
            <a:tailEnd len="sm" w="sm" type="none"/>
          </a:ln>
        </p:spPr>
      </p:cxnSp>
      <p:cxnSp>
        <p:nvCxnSpPr>
          <p:cNvPr id="1013" name="Google Shape;1013;p116"/>
          <p:cNvCxnSpPr/>
          <p:nvPr/>
        </p:nvCxnSpPr>
        <p:spPr>
          <a:xfrm flipH="1">
            <a:off x="4823460" y="1417320"/>
            <a:ext cx="1257300" cy="1088100"/>
          </a:xfrm>
          <a:prstGeom prst="straightConnector1">
            <a:avLst/>
          </a:prstGeom>
          <a:noFill/>
          <a:ln cap="flat" cmpd="sng" w="9525">
            <a:solidFill>
              <a:srgbClr val="222222"/>
            </a:solidFill>
            <a:prstDash val="solid"/>
            <a:round/>
            <a:headEnd len="sm" w="sm" type="none"/>
            <a:tailEnd len="sm" w="sm" type="none"/>
          </a:ln>
        </p:spPr>
      </p:cxnSp>
      <p:cxnSp>
        <p:nvCxnSpPr>
          <p:cNvPr id="1014" name="Google Shape;1014;p116"/>
          <p:cNvCxnSpPr/>
          <p:nvPr/>
        </p:nvCxnSpPr>
        <p:spPr>
          <a:xfrm>
            <a:off x="4823460" y="2505456"/>
            <a:ext cx="1714500" cy="900"/>
          </a:xfrm>
          <a:prstGeom prst="straightConnector1">
            <a:avLst/>
          </a:prstGeom>
          <a:noFill/>
          <a:ln cap="flat" cmpd="sng" w="9525">
            <a:solidFill>
              <a:srgbClr val="222222"/>
            </a:solidFill>
            <a:prstDash val="solid"/>
            <a:round/>
            <a:headEnd len="sm" w="sm" type="none"/>
            <a:tailEnd len="sm" w="sm" type="none"/>
          </a:ln>
        </p:spPr>
      </p:cxnSp>
      <p:cxnSp>
        <p:nvCxnSpPr>
          <p:cNvPr id="1015" name="Google Shape;1015;p116"/>
          <p:cNvCxnSpPr/>
          <p:nvPr/>
        </p:nvCxnSpPr>
        <p:spPr>
          <a:xfrm>
            <a:off x="4823460" y="2505456"/>
            <a:ext cx="1211700" cy="1106400"/>
          </a:xfrm>
          <a:prstGeom prst="straightConnector1">
            <a:avLst/>
          </a:prstGeom>
          <a:noFill/>
          <a:ln cap="flat" cmpd="sng" w="9525">
            <a:solidFill>
              <a:srgbClr val="222222"/>
            </a:solidFill>
            <a:prstDash val="solid"/>
            <a:round/>
            <a:headEnd len="sm" w="sm" type="none"/>
            <a:tailEnd len="sm" w="sm" type="none"/>
          </a:ln>
        </p:spPr>
      </p:cxnSp>
      <p:cxnSp>
        <p:nvCxnSpPr>
          <p:cNvPr id="1016" name="Google Shape;1016;p116"/>
          <p:cNvCxnSpPr/>
          <p:nvPr/>
        </p:nvCxnSpPr>
        <p:spPr>
          <a:xfrm>
            <a:off x="4823460" y="2505456"/>
            <a:ext cx="900" cy="1197900"/>
          </a:xfrm>
          <a:prstGeom prst="straightConnector1">
            <a:avLst/>
          </a:prstGeom>
          <a:noFill/>
          <a:ln cap="flat" cmpd="sng" w="9525">
            <a:solidFill>
              <a:srgbClr val="222222"/>
            </a:solidFill>
            <a:prstDash val="solid"/>
            <a:round/>
            <a:headEnd len="sm" w="sm" type="none"/>
            <a:tailEnd len="sm" w="sm" type="none"/>
          </a:ln>
        </p:spPr>
      </p:cxnSp>
      <p:cxnSp>
        <p:nvCxnSpPr>
          <p:cNvPr id="1017" name="Google Shape;1017;p116"/>
          <p:cNvCxnSpPr/>
          <p:nvPr/>
        </p:nvCxnSpPr>
        <p:spPr>
          <a:xfrm flipH="1">
            <a:off x="3703260" y="2505456"/>
            <a:ext cx="1120200" cy="1060800"/>
          </a:xfrm>
          <a:prstGeom prst="straightConnector1">
            <a:avLst/>
          </a:prstGeom>
          <a:noFill/>
          <a:ln cap="flat" cmpd="sng" w="9525">
            <a:solidFill>
              <a:srgbClr val="222222"/>
            </a:solidFill>
            <a:prstDash val="solid"/>
            <a:round/>
            <a:headEnd len="sm" w="sm" type="none"/>
            <a:tailEnd len="sm" w="sm" type="none"/>
          </a:ln>
        </p:spPr>
      </p:cxnSp>
      <p:cxnSp>
        <p:nvCxnSpPr>
          <p:cNvPr id="1018" name="Google Shape;1018;p116"/>
          <p:cNvCxnSpPr/>
          <p:nvPr/>
        </p:nvCxnSpPr>
        <p:spPr>
          <a:xfrm flipH="1">
            <a:off x="3063360" y="2505456"/>
            <a:ext cx="1760100" cy="900"/>
          </a:xfrm>
          <a:prstGeom prst="straightConnector1">
            <a:avLst/>
          </a:prstGeom>
          <a:noFill/>
          <a:ln cap="flat" cmpd="sng" w="9525">
            <a:solidFill>
              <a:srgbClr val="222222"/>
            </a:solidFill>
            <a:prstDash val="solid"/>
            <a:round/>
            <a:headEnd len="sm" w="sm" type="none"/>
            <a:tailEnd len="sm" w="sm" type="none"/>
          </a:ln>
        </p:spPr>
      </p:cxnSp>
      <p:sp>
        <p:nvSpPr>
          <p:cNvPr id="1019" name="Google Shape;1019;p116"/>
          <p:cNvSpPr/>
          <p:nvPr/>
        </p:nvSpPr>
        <p:spPr>
          <a:xfrm>
            <a:off x="3977640" y="2176272"/>
            <a:ext cx="1691700" cy="658500"/>
          </a:xfrm>
          <a:prstGeom prst="rect">
            <a:avLst/>
          </a:prstGeom>
          <a:solidFill>
            <a:srgbClr val="FFFFFF"/>
          </a:solidFill>
          <a:ln cap="flat" cmpd="sng" w="9525">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16"/>
          <p:cNvSpPr txBox="1"/>
          <p:nvPr/>
        </p:nvSpPr>
        <p:spPr>
          <a:xfrm>
            <a:off x="3977640" y="2176272"/>
            <a:ext cx="1691700" cy="6585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Ethical Implications</a:t>
            </a:r>
            <a:endParaRPr b="0" i="0" sz="1200" u="none" cap="none" strike="noStrike">
              <a:solidFill>
                <a:srgbClr val="000000"/>
              </a:solidFill>
              <a:latin typeface="Calibri"/>
              <a:ea typeface="Calibri"/>
              <a:cs typeface="Calibri"/>
              <a:sym typeface="Calibri"/>
            </a:endParaRPr>
          </a:p>
          <a:p>
            <a:pPr indent="0" lvl="0" marL="0" marR="0" rtl="0" algn="ctr">
              <a:spcBef>
                <a:spcPts val="0"/>
              </a:spcBef>
              <a:spcAft>
                <a:spcPts val="0"/>
              </a:spcAft>
              <a:buClr>
                <a:srgbClr val="222222"/>
              </a:buClr>
              <a:buSzPts val="900"/>
              <a:buFont typeface="Patrick Hand"/>
              <a:buNone/>
            </a:pPr>
            <a:r>
              <a:rPr b="0" i="0" lang="en" sz="900" u="none" cap="none" strike="noStrike">
                <a:solidFill>
                  <a:srgbClr val="222222"/>
                </a:solidFill>
                <a:latin typeface="Patrick Hand"/>
                <a:ea typeface="Patrick Hand"/>
                <a:cs typeface="Patrick Hand"/>
                <a:sym typeface="Patrick Hand"/>
              </a:rPr>
              <a:t>A phone case w/ built-in paints + an app to make &amp; plant seed paper art outdoors</a:t>
            </a:r>
            <a:endParaRPr b="0" i="0" sz="1200" u="none" cap="none" strike="noStrike">
              <a:solidFill>
                <a:srgbClr val="000000"/>
              </a:solidFill>
              <a:latin typeface="Calibri"/>
              <a:ea typeface="Calibri"/>
              <a:cs typeface="Calibri"/>
              <a:sym typeface="Calibri"/>
            </a:endParaRPr>
          </a:p>
        </p:txBody>
      </p:sp>
      <p:sp>
        <p:nvSpPr>
          <p:cNvPr id="1021" name="Google Shape;1021;p116"/>
          <p:cNvSpPr txBox="1"/>
          <p:nvPr/>
        </p:nvSpPr>
        <p:spPr>
          <a:xfrm>
            <a:off x="3429000" y="1143000"/>
            <a:ext cx="822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Society</a:t>
            </a:r>
            <a:endParaRPr b="0" i="0" sz="1200" u="none" cap="none" strike="noStrike">
              <a:solidFill>
                <a:srgbClr val="000000"/>
              </a:solidFill>
              <a:latin typeface="Calibri"/>
              <a:ea typeface="Calibri"/>
              <a:cs typeface="Calibri"/>
              <a:sym typeface="Calibri"/>
            </a:endParaRPr>
          </a:p>
        </p:txBody>
      </p:sp>
      <p:sp>
        <p:nvSpPr>
          <p:cNvPr id="1022" name="Google Shape;1022;p116"/>
          <p:cNvSpPr txBox="1"/>
          <p:nvPr/>
        </p:nvSpPr>
        <p:spPr>
          <a:xfrm>
            <a:off x="4343400" y="1078992"/>
            <a:ext cx="10059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Sustainability</a:t>
            </a:r>
            <a:endParaRPr b="0" i="0" sz="1200" u="none" cap="none" strike="noStrike">
              <a:solidFill>
                <a:srgbClr val="000000"/>
              </a:solidFill>
              <a:latin typeface="Calibri"/>
              <a:ea typeface="Calibri"/>
              <a:cs typeface="Calibri"/>
              <a:sym typeface="Calibri"/>
            </a:endParaRPr>
          </a:p>
        </p:txBody>
      </p:sp>
      <p:sp>
        <p:nvSpPr>
          <p:cNvPr id="1023" name="Google Shape;1023;p116"/>
          <p:cNvSpPr txBox="1"/>
          <p:nvPr/>
        </p:nvSpPr>
        <p:spPr>
          <a:xfrm>
            <a:off x="5989320" y="1143000"/>
            <a:ext cx="8688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Persuasion</a:t>
            </a:r>
            <a:endParaRPr b="0" i="0" sz="1200" u="none" cap="none" strike="noStrike">
              <a:solidFill>
                <a:srgbClr val="000000"/>
              </a:solidFill>
              <a:latin typeface="Calibri"/>
              <a:ea typeface="Calibri"/>
              <a:cs typeface="Calibri"/>
              <a:sym typeface="Calibri"/>
            </a:endParaRPr>
          </a:p>
        </p:txBody>
      </p:sp>
      <p:sp>
        <p:nvSpPr>
          <p:cNvPr id="1024" name="Google Shape;1024;p116"/>
          <p:cNvSpPr txBox="1"/>
          <p:nvPr/>
        </p:nvSpPr>
        <p:spPr>
          <a:xfrm>
            <a:off x="6565392" y="2322576"/>
            <a:ext cx="777300" cy="3291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User</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Involvement</a:t>
            </a:r>
            <a:endParaRPr b="0" i="0" sz="1200" u="none" cap="none" strike="noStrike">
              <a:solidFill>
                <a:srgbClr val="000000"/>
              </a:solidFill>
              <a:latin typeface="Calibri"/>
              <a:ea typeface="Calibri"/>
              <a:cs typeface="Calibri"/>
              <a:sym typeface="Calibri"/>
            </a:endParaRPr>
          </a:p>
        </p:txBody>
      </p:sp>
      <p:sp>
        <p:nvSpPr>
          <p:cNvPr id="1025" name="Google Shape;1025;p116"/>
          <p:cNvSpPr txBox="1"/>
          <p:nvPr/>
        </p:nvSpPr>
        <p:spPr>
          <a:xfrm>
            <a:off x="5989320" y="3611880"/>
            <a:ext cx="6402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Focus</a:t>
            </a:r>
            <a:endParaRPr b="0" i="0" sz="1200" u="none" cap="none" strike="noStrike">
              <a:solidFill>
                <a:srgbClr val="000000"/>
              </a:solidFill>
              <a:latin typeface="Calibri"/>
              <a:ea typeface="Calibri"/>
              <a:cs typeface="Calibri"/>
              <a:sym typeface="Calibri"/>
            </a:endParaRPr>
          </a:p>
        </p:txBody>
      </p:sp>
      <p:sp>
        <p:nvSpPr>
          <p:cNvPr id="1026" name="Google Shape;1026;p116"/>
          <p:cNvSpPr txBox="1"/>
          <p:nvPr/>
        </p:nvSpPr>
        <p:spPr>
          <a:xfrm>
            <a:off x="4526280" y="3703320"/>
            <a:ext cx="5943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ct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Privacy</a:t>
            </a:r>
            <a:endParaRPr b="0" i="0" sz="1200" u="none" cap="none" strike="noStrike">
              <a:solidFill>
                <a:srgbClr val="000000"/>
              </a:solidFill>
              <a:latin typeface="Calibri"/>
              <a:ea typeface="Calibri"/>
              <a:cs typeface="Calibri"/>
              <a:sym typeface="Calibri"/>
            </a:endParaRPr>
          </a:p>
        </p:txBody>
      </p:sp>
      <p:sp>
        <p:nvSpPr>
          <p:cNvPr id="1027" name="Google Shape;1027;p116"/>
          <p:cNvSpPr txBox="1"/>
          <p:nvPr/>
        </p:nvSpPr>
        <p:spPr>
          <a:xfrm>
            <a:off x="3337560" y="3566160"/>
            <a:ext cx="7314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l">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Usability</a:t>
            </a:r>
            <a:endParaRPr b="0" i="0" sz="1200" u="none" cap="none" strike="noStrike">
              <a:solidFill>
                <a:srgbClr val="000000"/>
              </a:solidFill>
              <a:latin typeface="Calibri"/>
              <a:ea typeface="Calibri"/>
              <a:cs typeface="Calibri"/>
              <a:sym typeface="Calibri"/>
            </a:endParaRPr>
          </a:p>
        </p:txBody>
      </p:sp>
      <p:sp>
        <p:nvSpPr>
          <p:cNvPr id="1028" name="Google Shape;1028;p116"/>
          <p:cNvSpPr txBox="1"/>
          <p:nvPr/>
        </p:nvSpPr>
        <p:spPr>
          <a:xfrm>
            <a:off x="2103120" y="2386584"/>
            <a:ext cx="960000" cy="237600"/>
          </a:xfrm>
          <a:prstGeom prst="rect">
            <a:avLst/>
          </a:prstGeom>
          <a:solidFill>
            <a:srgbClr val="FFFFFF"/>
          </a:solidFill>
          <a:ln>
            <a:noFill/>
          </a:ln>
        </p:spPr>
        <p:txBody>
          <a:bodyPr anchorCtr="0" anchor="ctr" bIns="12700" lIns="12700" spcFirstLastPara="1" rIns="12700" wrap="square" tIns="12700">
            <a:noAutofit/>
          </a:bodyPr>
          <a:lstStyle/>
          <a:p>
            <a:pPr indent="0" lvl="0" marL="0" marR="0" rtl="0" algn="r">
              <a:spcBef>
                <a:spcPts val="0"/>
              </a:spcBef>
              <a:spcAft>
                <a:spcPts val="0"/>
              </a:spcAft>
              <a:buClr>
                <a:srgbClr val="222222"/>
              </a:buClr>
              <a:buSzPts val="1200"/>
              <a:buFont typeface="Patrick Hand"/>
              <a:buNone/>
            </a:pPr>
            <a:r>
              <a:rPr b="0" i="0" lang="en" sz="1200" u="none" cap="none" strike="noStrike">
                <a:solidFill>
                  <a:srgbClr val="222222"/>
                </a:solidFill>
                <a:latin typeface="Patrick Hand"/>
                <a:ea typeface="Patrick Hand"/>
                <a:cs typeface="Patrick Hand"/>
                <a:sym typeface="Patrick Hand"/>
              </a:rPr>
              <a:t>Accessibility</a:t>
            </a:r>
            <a:endParaRPr b="0" i="0" sz="1200" u="none" cap="none" strike="noStrike">
              <a:solidFill>
                <a:srgbClr val="000000"/>
              </a:solidFill>
              <a:latin typeface="Calibri"/>
              <a:ea typeface="Calibri"/>
              <a:cs typeface="Calibri"/>
              <a:sym typeface="Calibri"/>
            </a:endParaRPr>
          </a:p>
        </p:txBody>
      </p:sp>
      <p:sp>
        <p:nvSpPr>
          <p:cNvPr id="1029" name="Google Shape;1029;p116"/>
          <p:cNvSpPr txBox="1"/>
          <p:nvPr/>
        </p:nvSpPr>
        <p:spPr>
          <a:xfrm>
            <a:off x="3611880" y="274320"/>
            <a:ext cx="2286000" cy="7773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seed paper planted anywhere could spread non-native plants, &amp; paint can wash into the soil</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could use native seeds &amp; non-toxic paint, &amp; flag spots where planting isn't allowed</a:t>
            </a:r>
            <a:endParaRPr b="0" i="0" sz="850" u="none" cap="none" strike="noStrike">
              <a:solidFill>
                <a:srgbClr val="000000"/>
              </a:solidFill>
              <a:latin typeface="Calibri"/>
              <a:ea typeface="Calibri"/>
              <a:cs typeface="Calibri"/>
              <a:sym typeface="Calibri"/>
            </a:endParaRPr>
          </a:p>
        </p:txBody>
      </p:sp>
      <p:sp>
        <p:nvSpPr>
          <p:cNvPr id="1030" name="Google Shape;1030;p116"/>
          <p:cNvSpPr txBox="1"/>
          <p:nvPr/>
        </p:nvSpPr>
        <p:spPr>
          <a:xfrm>
            <a:off x="1417320" y="1051560"/>
            <a:ext cx="1965900" cy="11886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the heat map pulls people to the same popular spots → crowding small parks or someone's front yard</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our solution should keep pins off private property &amp; spread suggestions out</a:t>
            </a:r>
            <a:endParaRPr b="0" i="0" sz="850" u="none" cap="none" strike="noStrike">
              <a:solidFill>
                <a:srgbClr val="000000"/>
              </a:solidFill>
              <a:latin typeface="Calibri"/>
              <a:ea typeface="Calibri"/>
              <a:cs typeface="Calibri"/>
              <a:sym typeface="Calibri"/>
            </a:endParaRPr>
          </a:p>
        </p:txBody>
      </p:sp>
      <p:sp>
        <p:nvSpPr>
          <p:cNvPr id="1031" name="Google Shape;1031;p116"/>
          <p:cNvSpPr txBox="1"/>
          <p:nvPr/>
        </p:nvSpPr>
        <p:spPr>
          <a:xfrm>
            <a:off x="1280160" y="2697480"/>
            <a:ext cx="1993500" cy="14631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assumes users go on walks &amp; have outdoor space nearby</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the case still works on a balcony or by a window. the map shouldn't be the only way in</a:t>
            </a:r>
            <a:endParaRPr b="0" i="0" sz="850" u="none" cap="none" strike="noStrike">
              <a:solidFill>
                <a:srgbClr val="000000"/>
              </a:solidFill>
              <a:latin typeface="Calibri"/>
              <a:ea typeface="Calibri"/>
              <a:cs typeface="Calibri"/>
              <a:sym typeface="Calibri"/>
            </a:endParaRPr>
          </a:p>
        </p:txBody>
      </p:sp>
      <p:sp>
        <p:nvSpPr>
          <p:cNvPr id="1032" name="Google Shape;1032;p116"/>
          <p:cNvSpPr txBox="1"/>
          <p:nvPr/>
        </p:nvSpPr>
        <p:spPr>
          <a:xfrm>
            <a:off x="3749040" y="3959352"/>
            <a:ext cx="2030100" cy="10974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the heat map &amp; personal map show where people make art. even anonymous posts can be traced back by place &amp; time</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blur pins to a general area &amp; delay when posts show up so no one can tell who was just there</a:t>
            </a:r>
            <a:endParaRPr b="0" i="0" sz="850" u="none" cap="none" strike="noStrike">
              <a:solidFill>
                <a:srgbClr val="000000"/>
              </a:solidFill>
              <a:latin typeface="Calibri"/>
              <a:ea typeface="Calibri"/>
              <a:cs typeface="Calibri"/>
              <a:sym typeface="Calibri"/>
            </a:endParaRPr>
          </a:p>
        </p:txBody>
      </p:sp>
      <p:sp>
        <p:nvSpPr>
          <p:cNvPr id="1033" name="Google Shape;1033;p116"/>
          <p:cNvSpPr txBox="1"/>
          <p:nvPr/>
        </p:nvSpPr>
        <p:spPr>
          <a:xfrm>
            <a:off x="5852160" y="3858768"/>
            <a:ext cx="1326000" cy="1188600"/>
          </a:xfrm>
          <a:prstGeom prst="rect">
            <a:avLst/>
          </a:prstGeom>
          <a:noFill/>
          <a:ln>
            <a:noFill/>
          </a:ln>
        </p:spPr>
        <p:txBody>
          <a:bodyPr anchorCtr="0" anchor="t" bIns="12700" lIns="12700" spcFirstLastPara="1" rIns="12700" wrap="square" tIns="12700">
            <a:noAutofit/>
          </a:bodyPr>
          <a:lstStyle/>
          <a:p>
            <a:pPr indent="-101600" lvl="0" marL="101600" marR="0" rtl="0" algn="l">
              <a:lnSpc>
                <a:spcPct val="95000"/>
              </a:lnSpc>
              <a:spcBef>
                <a:spcPts val="0"/>
              </a:spcBef>
              <a:spcAft>
                <a:spcPts val="0"/>
              </a:spcAft>
              <a:buClr>
                <a:srgbClr val="222222"/>
              </a:buClr>
              <a:buSzPts val="850"/>
              <a:buFont typeface="Patrick Hand"/>
              <a:buChar char="•"/>
            </a:pPr>
            <a:r>
              <a:rPr b="0" i="0" lang="en" sz="850" u="none" cap="none" strike="noStrike">
                <a:solidFill>
                  <a:srgbClr val="222222"/>
                </a:solidFill>
                <a:latin typeface="Patrick Hand"/>
                <a:ea typeface="Patrick Hand"/>
                <a:cs typeface="Patrick Hand"/>
                <a:sym typeface="Patrick Hand"/>
              </a:rPr>
              <a:t>the concept is about unplugging, but a phone notification interrupts the walk</a:t>
            </a:r>
            <a:endParaRPr b="0" i="0" sz="850" u="none" cap="none" strike="noStrike">
              <a:solidFill>
                <a:srgbClr val="000000"/>
              </a:solidFill>
              <a:latin typeface="Calibri"/>
              <a:ea typeface="Calibri"/>
              <a:cs typeface="Calibri"/>
              <a:sym typeface="Calibri"/>
            </a:endParaRPr>
          </a:p>
          <a:p>
            <a:pPr indent="0" lvl="0" marL="0" marR="0" rtl="0" algn="l">
              <a:lnSpc>
                <a:spcPct val="95000"/>
              </a:lnSpc>
              <a:spcBef>
                <a:spcPts val="300"/>
              </a:spcBef>
              <a:spcAft>
                <a:spcPts val="0"/>
              </a:spcAft>
              <a:buClr>
                <a:srgbClr val="3F9E3A"/>
              </a:buClr>
              <a:buSzPts val="850"/>
              <a:buFont typeface="Patrick Hand"/>
              <a:buNone/>
            </a:pPr>
            <a:r>
              <a:rPr b="0" i="0" lang="en" sz="850" u="none" cap="none" strike="noStrike">
                <a:solidFill>
                  <a:srgbClr val="3F9E3A"/>
                </a:solidFill>
                <a:latin typeface="Patrick Hand"/>
                <a:ea typeface="Patrick Hand"/>
                <a:cs typeface="Patrick Hand"/>
                <a:sym typeface="Patrick Hand"/>
              </a:rPr>
              <a:t>notifications should be opt-in, or users just check the map when they want to</a:t>
            </a:r>
            <a:endParaRPr b="0" i="0" sz="850" u="none" cap="none" strike="noStrike">
              <a:solidFill>
                <a:srgbClr val="000000"/>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117"/>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ETHICAL IMPLICATIONS</a:t>
            </a:r>
            <a:endParaRPr>
              <a:latin typeface="Lexend Mega"/>
              <a:ea typeface="Lexend Mega"/>
              <a:cs typeface="Lexend Mega"/>
              <a:sym typeface="Lexend Mega"/>
            </a:endParaRPr>
          </a:p>
        </p:txBody>
      </p:sp>
      <p:sp>
        <p:nvSpPr>
          <p:cNvPr id="1039" name="Google Shape;1039;p117"/>
          <p:cNvSpPr txBox="1"/>
          <p:nvPr>
            <p:ph idx="1" type="subTitle"/>
          </p:nvPr>
        </p:nvSpPr>
        <p:spPr>
          <a:xfrm>
            <a:off x="503825" y="1452550"/>
            <a:ext cx="7040100" cy="2565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000000"/>
              </a:buClr>
              <a:buSzPts val="1600"/>
              <a:buChar char="●"/>
            </a:pPr>
            <a:r>
              <a:rPr b="1" lang="en" sz="1500">
                <a:solidFill>
                  <a:srgbClr val="000000"/>
                </a:solidFill>
              </a:rPr>
              <a:t>Location Privacy</a:t>
            </a:r>
            <a:r>
              <a:rPr lang="en" sz="1500">
                <a:solidFill>
                  <a:srgbClr val="000000"/>
                </a:solidFill>
              </a:rPr>
              <a:t> — the app maps where people make art, and a map of meaningful places is sensitive data. Anonymous posts can still be traced back by place and time.</a:t>
            </a:r>
            <a:endParaRPr sz="1500">
              <a:solidFill>
                <a:srgbClr val="000000"/>
              </a:solidFill>
            </a:endParaRPr>
          </a:p>
          <a:p>
            <a:pPr indent="-330200" lvl="0" marL="457200" rtl="0" algn="l">
              <a:spcBef>
                <a:spcPts val="1000"/>
              </a:spcBef>
              <a:spcAft>
                <a:spcPts val="1000"/>
              </a:spcAft>
              <a:buClr>
                <a:srgbClr val="000000"/>
              </a:buClr>
              <a:buSzPts val="1600"/>
              <a:buChar char="●"/>
            </a:pPr>
            <a:r>
              <a:rPr b="1" lang="en" sz="1500">
                <a:solidFill>
                  <a:srgbClr val="000000"/>
                </a:solidFill>
              </a:rPr>
              <a:t>Focus</a:t>
            </a:r>
            <a:r>
              <a:rPr lang="en" sz="1500">
                <a:solidFill>
                  <a:srgbClr val="000000"/>
                </a:solidFill>
              </a:rPr>
              <a:t> — the concept is about unplugging, yet one of the mechanics is a phone notification interrupting an unplugged moment (</a:t>
            </a:r>
            <a:r>
              <a:rPr lang="en" sz="1500">
                <a:solidFill>
                  <a:srgbClr val="000000"/>
                </a:solidFill>
              </a:rPr>
              <a:t>e.g. </a:t>
            </a:r>
            <a:r>
              <a:rPr lang="en" sz="1500">
                <a:solidFill>
                  <a:srgbClr val="000000"/>
                </a:solidFill>
              </a:rPr>
              <a:t>a </a:t>
            </a:r>
            <a:r>
              <a:rPr lang="en" sz="1500">
                <a:solidFill>
                  <a:srgbClr val="000000"/>
                </a:solidFill>
              </a:rPr>
              <a:t>walk)</a:t>
            </a:r>
            <a:r>
              <a:rPr lang="en" sz="1500">
                <a:solidFill>
                  <a:srgbClr val="000000"/>
                </a:solidFill>
              </a:rPr>
              <a:t>.</a:t>
            </a:r>
            <a:endParaRPr sz="1500">
              <a:solidFill>
                <a:srgbClr val="00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18"/>
          <p:cNvSpPr txBox="1"/>
          <p:nvPr>
            <p:ph type="title"/>
          </p:nvPr>
        </p:nvSpPr>
        <p:spPr>
          <a:xfrm>
            <a:off x="503825" y="6522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COMMUNITY CONSIDERATIONS</a:t>
            </a:r>
            <a:endParaRPr>
              <a:latin typeface="Lexend Mega"/>
              <a:ea typeface="Lexend Mega"/>
              <a:cs typeface="Lexend Mega"/>
              <a:sym typeface="Lexend Mega"/>
            </a:endParaRPr>
          </a:p>
        </p:txBody>
      </p:sp>
      <p:sp>
        <p:nvSpPr>
          <p:cNvPr id="1045" name="Google Shape;1045;p118"/>
          <p:cNvSpPr txBox="1"/>
          <p:nvPr>
            <p:ph idx="1" type="subTitle"/>
          </p:nvPr>
        </p:nvSpPr>
        <p:spPr>
          <a:xfrm>
            <a:off x="2136042" y="1319342"/>
            <a:ext cx="868500" cy="4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u="sng">
                <a:solidFill>
                  <a:srgbClr val="000000"/>
                </a:solidFill>
              </a:rPr>
              <a:t>Serves</a:t>
            </a:r>
            <a:endParaRPr sz="1500" u="sng"/>
          </a:p>
        </p:txBody>
      </p:sp>
      <p:sp>
        <p:nvSpPr>
          <p:cNvPr id="1046" name="Google Shape;1046;p118"/>
          <p:cNvSpPr/>
          <p:nvPr/>
        </p:nvSpPr>
        <p:spPr>
          <a:xfrm>
            <a:off x="1028900" y="1730900"/>
            <a:ext cx="3082800" cy="29190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047" name="Google Shape;1047;p118"/>
          <p:cNvSpPr txBox="1"/>
          <p:nvPr>
            <p:ph idx="1" type="subTitle"/>
          </p:nvPr>
        </p:nvSpPr>
        <p:spPr>
          <a:xfrm>
            <a:off x="5982150" y="1319350"/>
            <a:ext cx="1295700" cy="42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u="sng">
                <a:solidFill>
                  <a:srgbClr val="000000"/>
                </a:solidFill>
              </a:rPr>
              <a:t>Leaves Out</a:t>
            </a:r>
            <a:endParaRPr sz="1500" u="sng"/>
          </a:p>
        </p:txBody>
      </p:sp>
      <p:sp>
        <p:nvSpPr>
          <p:cNvPr id="1048" name="Google Shape;1048;p118"/>
          <p:cNvSpPr/>
          <p:nvPr/>
        </p:nvSpPr>
        <p:spPr>
          <a:xfrm>
            <a:off x="5032275" y="1730900"/>
            <a:ext cx="3082800" cy="29190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Epilogue"/>
              <a:ea typeface="Epilogue"/>
              <a:cs typeface="Epilogue"/>
              <a:sym typeface="Epilogue"/>
            </a:endParaRPr>
          </a:p>
        </p:txBody>
      </p:sp>
      <p:sp>
        <p:nvSpPr>
          <p:cNvPr id="1049" name="Google Shape;1049;p118"/>
          <p:cNvSpPr txBox="1"/>
          <p:nvPr>
            <p:ph idx="1" type="subTitle"/>
          </p:nvPr>
        </p:nvSpPr>
        <p:spPr>
          <a:xfrm>
            <a:off x="1264400" y="2236450"/>
            <a:ext cx="2611800" cy="2215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Busy creatives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Returning crafters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Outdoor makers</a:t>
            </a:r>
            <a:endParaRPr sz="1500"/>
          </a:p>
        </p:txBody>
      </p:sp>
      <p:sp>
        <p:nvSpPr>
          <p:cNvPr id="1050" name="Google Shape;1050;p118"/>
          <p:cNvSpPr txBox="1"/>
          <p:nvPr>
            <p:ph idx="1" type="subTitle"/>
          </p:nvPr>
        </p:nvSpPr>
        <p:spPr>
          <a:xfrm>
            <a:off x="5324100" y="2038150"/>
            <a:ext cx="2611800" cy="2611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Limited outdoor access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Privacy-conscious users</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lang="en" sz="1500"/>
              <a:t>Tool-heavy crafts</a:t>
            </a:r>
            <a:endParaRPr sz="15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19"/>
          <p:cNvSpPr txBox="1"/>
          <p:nvPr>
            <p:ph type="ctrTitle"/>
          </p:nvPr>
        </p:nvSpPr>
        <p:spPr>
          <a:xfrm>
            <a:off x="713225" y="1042416"/>
            <a:ext cx="7086600" cy="1766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exend Mega Black"/>
                <a:ea typeface="Lexend Mega Black"/>
                <a:cs typeface="Lexend Mega Black"/>
                <a:sym typeface="Lexend Mega Black"/>
              </a:rPr>
              <a:t>APPENDIX</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59" name="Shape 1059"/>
        <p:cNvGrpSpPr/>
        <p:nvPr/>
      </p:nvGrpSpPr>
      <p:grpSpPr>
        <a:xfrm>
          <a:off x="0" y="0"/>
          <a:ext cx="0" cy="0"/>
          <a:chOff x="0" y="0"/>
          <a:chExt cx="0" cy="0"/>
        </a:xfrm>
      </p:grpSpPr>
      <p:pic>
        <p:nvPicPr>
          <p:cNvPr id="1060" name="Google Shape;1060;p120"/>
          <p:cNvPicPr preferRelativeResize="0"/>
          <p:nvPr/>
        </p:nvPicPr>
        <p:blipFill>
          <a:blip r:embed="rId3">
            <a:alphaModFix/>
          </a:blip>
          <a:stretch>
            <a:fillRect/>
          </a:stretch>
        </p:blipFill>
        <p:spPr>
          <a:xfrm>
            <a:off x="121976" y="791950"/>
            <a:ext cx="3021775" cy="3028200"/>
          </a:xfrm>
          <a:prstGeom prst="rect">
            <a:avLst/>
          </a:prstGeom>
          <a:noFill/>
          <a:ln>
            <a:noFill/>
          </a:ln>
        </p:spPr>
      </p:pic>
      <p:pic>
        <p:nvPicPr>
          <p:cNvPr id="1061" name="Google Shape;1061;p120"/>
          <p:cNvPicPr preferRelativeResize="0"/>
          <p:nvPr/>
        </p:nvPicPr>
        <p:blipFill>
          <a:blip r:embed="rId4">
            <a:alphaModFix/>
          </a:blip>
          <a:stretch>
            <a:fillRect/>
          </a:stretch>
        </p:blipFill>
        <p:spPr>
          <a:xfrm>
            <a:off x="3468025" y="269500"/>
            <a:ext cx="3027281" cy="2437375"/>
          </a:xfrm>
          <a:prstGeom prst="rect">
            <a:avLst/>
          </a:prstGeom>
          <a:noFill/>
          <a:ln>
            <a:noFill/>
          </a:ln>
        </p:spPr>
      </p:pic>
      <p:pic>
        <p:nvPicPr>
          <p:cNvPr id="1062" name="Google Shape;1062;p120"/>
          <p:cNvPicPr preferRelativeResize="0"/>
          <p:nvPr/>
        </p:nvPicPr>
        <p:blipFill>
          <a:blip r:embed="rId5">
            <a:alphaModFix/>
          </a:blip>
          <a:stretch>
            <a:fillRect/>
          </a:stretch>
        </p:blipFill>
        <p:spPr>
          <a:xfrm>
            <a:off x="5454771" y="2796690"/>
            <a:ext cx="3306675" cy="2230859"/>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6" name="Shape 1066"/>
        <p:cNvGrpSpPr/>
        <p:nvPr/>
      </p:nvGrpSpPr>
      <p:grpSpPr>
        <a:xfrm>
          <a:off x="0" y="0"/>
          <a:ext cx="0" cy="0"/>
          <a:chOff x="0" y="0"/>
          <a:chExt cx="0" cy="0"/>
        </a:xfrm>
      </p:grpSpPr>
      <p:pic>
        <p:nvPicPr>
          <p:cNvPr id="1067" name="Google Shape;1067;p121"/>
          <p:cNvPicPr preferRelativeResize="0"/>
          <p:nvPr/>
        </p:nvPicPr>
        <p:blipFill>
          <a:blip r:embed="rId3">
            <a:alphaModFix/>
          </a:blip>
          <a:stretch>
            <a:fillRect/>
          </a:stretch>
        </p:blipFill>
        <p:spPr>
          <a:xfrm>
            <a:off x="340725" y="179425"/>
            <a:ext cx="4008751" cy="3216551"/>
          </a:xfrm>
          <a:prstGeom prst="rect">
            <a:avLst/>
          </a:prstGeom>
          <a:noFill/>
          <a:ln>
            <a:noFill/>
          </a:ln>
        </p:spPr>
      </p:pic>
      <p:pic>
        <p:nvPicPr>
          <p:cNvPr id="1068" name="Google Shape;1068;p121" title="Screenshot 2026-10-09 at 11.07.38 AM.png"/>
          <p:cNvPicPr preferRelativeResize="0"/>
          <p:nvPr/>
        </p:nvPicPr>
        <p:blipFill>
          <a:blip r:embed="rId4">
            <a:alphaModFix/>
          </a:blip>
          <a:stretch>
            <a:fillRect/>
          </a:stretch>
        </p:blipFill>
        <p:spPr>
          <a:xfrm>
            <a:off x="4691775" y="1731150"/>
            <a:ext cx="3918326" cy="287285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2" name="Shape 1072"/>
        <p:cNvGrpSpPr/>
        <p:nvPr/>
      </p:nvGrpSpPr>
      <p:grpSpPr>
        <a:xfrm>
          <a:off x="0" y="0"/>
          <a:ext cx="0" cy="0"/>
          <a:chOff x="0" y="0"/>
          <a:chExt cx="0" cy="0"/>
        </a:xfrm>
      </p:grpSpPr>
      <p:pic>
        <p:nvPicPr>
          <p:cNvPr id="1073" name="Google Shape;1073;p122" title="Screenshot 2026-10-09 at 11.07.47 AM.png"/>
          <p:cNvPicPr preferRelativeResize="0"/>
          <p:nvPr/>
        </p:nvPicPr>
        <p:blipFill>
          <a:blip r:embed="rId3">
            <a:alphaModFix/>
          </a:blip>
          <a:stretch>
            <a:fillRect/>
          </a:stretch>
        </p:blipFill>
        <p:spPr>
          <a:xfrm>
            <a:off x="242371" y="278497"/>
            <a:ext cx="4378650" cy="3225075"/>
          </a:xfrm>
          <a:prstGeom prst="rect">
            <a:avLst/>
          </a:prstGeom>
          <a:noFill/>
          <a:ln>
            <a:noFill/>
          </a:ln>
        </p:spPr>
      </p:pic>
      <p:pic>
        <p:nvPicPr>
          <p:cNvPr id="1074" name="Google Shape;1074;p122" title="Screenshot 2026-10-09 at 11.08.44 AM.png"/>
          <p:cNvPicPr preferRelativeResize="0"/>
          <p:nvPr/>
        </p:nvPicPr>
        <p:blipFill>
          <a:blip r:embed="rId4">
            <a:alphaModFix/>
          </a:blip>
          <a:stretch>
            <a:fillRect/>
          </a:stretch>
        </p:blipFill>
        <p:spPr>
          <a:xfrm>
            <a:off x="4702200" y="2283500"/>
            <a:ext cx="4329699" cy="2670825"/>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78" name="Shape 1078"/>
        <p:cNvGrpSpPr/>
        <p:nvPr/>
      </p:nvGrpSpPr>
      <p:grpSpPr>
        <a:xfrm>
          <a:off x="0" y="0"/>
          <a:ext cx="0" cy="0"/>
          <a:chOff x="0" y="0"/>
          <a:chExt cx="0" cy="0"/>
        </a:xfrm>
      </p:grpSpPr>
      <p:pic>
        <p:nvPicPr>
          <p:cNvPr id="1079" name="Google Shape;1079;p123"/>
          <p:cNvPicPr preferRelativeResize="0"/>
          <p:nvPr/>
        </p:nvPicPr>
        <p:blipFill>
          <a:blip r:embed="rId3">
            <a:alphaModFix/>
          </a:blip>
          <a:stretch>
            <a:fillRect/>
          </a:stretch>
        </p:blipFill>
        <p:spPr>
          <a:xfrm>
            <a:off x="0" y="64675"/>
            <a:ext cx="4168125" cy="2700724"/>
          </a:xfrm>
          <a:prstGeom prst="rect">
            <a:avLst/>
          </a:prstGeom>
          <a:noFill/>
          <a:ln>
            <a:noFill/>
          </a:ln>
        </p:spPr>
      </p:pic>
      <p:pic>
        <p:nvPicPr>
          <p:cNvPr id="1080" name="Google Shape;1080;p123"/>
          <p:cNvPicPr preferRelativeResize="0"/>
          <p:nvPr/>
        </p:nvPicPr>
        <p:blipFill>
          <a:blip r:embed="rId4">
            <a:alphaModFix/>
          </a:blip>
          <a:stretch>
            <a:fillRect/>
          </a:stretch>
        </p:blipFill>
        <p:spPr>
          <a:xfrm>
            <a:off x="4346795" y="431399"/>
            <a:ext cx="3904302" cy="2518351"/>
          </a:xfrm>
          <a:prstGeom prst="rect">
            <a:avLst/>
          </a:prstGeom>
          <a:noFill/>
          <a:ln>
            <a:noFill/>
          </a:ln>
        </p:spPr>
      </p:pic>
      <p:pic>
        <p:nvPicPr>
          <p:cNvPr id="1081" name="Google Shape;1081;p123"/>
          <p:cNvPicPr preferRelativeResize="0"/>
          <p:nvPr/>
        </p:nvPicPr>
        <p:blipFill>
          <a:blip r:embed="rId5">
            <a:alphaModFix/>
          </a:blip>
          <a:stretch>
            <a:fillRect/>
          </a:stretch>
        </p:blipFill>
        <p:spPr>
          <a:xfrm>
            <a:off x="3806325" y="2949750"/>
            <a:ext cx="3304151" cy="2181249"/>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5" name="Shape 1085"/>
        <p:cNvGrpSpPr/>
        <p:nvPr/>
      </p:nvGrpSpPr>
      <p:grpSpPr>
        <a:xfrm>
          <a:off x="0" y="0"/>
          <a:ext cx="0" cy="0"/>
          <a:chOff x="0" y="0"/>
          <a:chExt cx="0" cy="0"/>
        </a:xfrm>
      </p:grpSpPr>
      <p:pic>
        <p:nvPicPr>
          <p:cNvPr id="1086" name="Google Shape;1086;p124" title="Screenshot 2026-10-09 at 11.07.59 AM.png"/>
          <p:cNvPicPr preferRelativeResize="0"/>
          <p:nvPr/>
        </p:nvPicPr>
        <p:blipFill>
          <a:blip r:embed="rId3">
            <a:alphaModFix/>
          </a:blip>
          <a:stretch>
            <a:fillRect/>
          </a:stretch>
        </p:blipFill>
        <p:spPr>
          <a:xfrm>
            <a:off x="124675" y="1305463"/>
            <a:ext cx="2931501" cy="2775151"/>
          </a:xfrm>
          <a:prstGeom prst="rect">
            <a:avLst/>
          </a:prstGeom>
          <a:noFill/>
          <a:ln>
            <a:noFill/>
          </a:ln>
        </p:spPr>
      </p:pic>
      <p:pic>
        <p:nvPicPr>
          <p:cNvPr id="1087" name="Google Shape;1087;p124" title="Screenshot 2026-10-09 at 11.08.19 AM.png"/>
          <p:cNvPicPr preferRelativeResize="0"/>
          <p:nvPr/>
        </p:nvPicPr>
        <p:blipFill>
          <a:blip r:embed="rId4">
            <a:alphaModFix/>
          </a:blip>
          <a:stretch>
            <a:fillRect/>
          </a:stretch>
        </p:blipFill>
        <p:spPr>
          <a:xfrm>
            <a:off x="3112381" y="1489737"/>
            <a:ext cx="2931500" cy="2406625"/>
          </a:xfrm>
          <a:prstGeom prst="rect">
            <a:avLst/>
          </a:prstGeom>
          <a:noFill/>
          <a:ln>
            <a:noFill/>
          </a:ln>
        </p:spPr>
      </p:pic>
      <p:pic>
        <p:nvPicPr>
          <p:cNvPr id="1088" name="Google Shape;1088;p124" title="Screenshot 2026-10-09 at 11.08.29 AM.png"/>
          <p:cNvPicPr preferRelativeResize="0"/>
          <p:nvPr/>
        </p:nvPicPr>
        <p:blipFill>
          <a:blip r:embed="rId5">
            <a:alphaModFix/>
          </a:blip>
          <a:stretch>
            <a:fillRect/>
          </a:stretch>
        </p:blipFill>
        <p:spPr>
          <a:xfrm>
            <a:off x="6100101" y="1451153"/>
            <a:ext cx="2931501" cy="2483785"/>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2" name="Shape 1092"/>
        <p:cNvGrpSpPr/>
        <p:nvPr/>
      </p:nvGrpSpPr>
      <p:grpSpPr>
        <a:xfrm>
          <a:off x="0" y="0"/>
          <a:ext cx="0" cy="0"/>
          <a:chOff x="0" y="0"/>
          <a:chExt cx="0" cy="0"/>
        </a:xfrm>
      </p:grpSpPr>
      <p:pic>
        <p:nvPicPr>
          <p:cNvPr id="1093" name="Google Shape;1093;p125"/>
          <p:cNvPicPr preferRelativeResize="0"/>
          <p:nvPr/>
        </p:nvPicPr>
        <p:blipFill>
          <a:blip r:embed="rId3">
            <a:alphaModFix/>
          </a:blip>
          <a:stretch>
            <a:fillRect/>
          </a:stretch>
        </p:blipFill>
        <p:spPr>
          <a:xfrm>
            <a:off x="415975" y="237850"/>
            <a:ext cx="3251251" cy="2455525"/>
          </a:xfrm>
          <a:prstGeom prst="rect">
            <a:avLst/>
          </a:prstGeom>
          <a:noFill/>
          <a:ln>
            <a:noFill/>
          </a:ln>
        </p:spPr>
      </p:pic>
      <p:pic>
        <p:nvPicPr>
          <p:cNvPr id="1094" name="Google Shape;1094;p125"/>
          <p:cNvPicPr preferRelativeResize="0"/>
          <p:nvPr/>
        </p:nvPicPr>
        <p:blipFill>
          <a:blip r:embed="rId4">
            <a:alphaModFix/>
          </a:blip>
          <a:stretch>
            <a:fillRect/>
          </a:stretch>
        </p:blipFill>
        <p:spPr>
          <a:xfrm>
            <a:off x="197450" y="2809725"/>
            <a:ext cx="8839204" cy="18558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MART Goals Meeting by Slidesgo">
  <a:themeElements>
    <a:clrScheme name="Simple Light">
      <a:dk1>
        <a:srgbClr val="232323"/>
      </a:dk1>
      <a:lt1>
        <a:srgbClr val="FBFBFB"/>
      </a:lt1>
      <a:dk2>
        <a:srgbClr val="3280AE"/>
      </a:dk2>
      <a:lt2>
        <a:srgbClr val="E45A35"/>
      </a:lt2>
      <a:accent1>
        <a:srgbClr val="E9B545"/>
      </a:accent1>
      <a:accent2>
        <a:srgbClr val="61B6A1"/>
      </a:accent2>
      <a:accent3>
        <a:srgbClr val="8CB847"/>
      </a:accent3>
      <a:accent4>
        <a:srgbClr val="F1F1F1"/>
      </a:accent4>
      <a:accent5>
        <a:srgbClr val="E0E0E0"/>
      </a:accent5>
      <a:accent6>
        <a:srgbClr val="838383"/>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